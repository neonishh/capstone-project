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5"/>
    <p:sldMasterId id="214748366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y="5143500" cx="9144000"/>
  <p:notesSz cx="6858000" cy="9144000"/>
  <p:embeddedFontLst>
    <p:embeddedFont>
      <p:font typeface="Roboto"/>
      <p:regular r:id="rId41"/>
      <p:bold r:id="rId42"/>
      <p:italic r:id="rId43"/>
      <p:boldItalic r:id="rId44"/>
    </p:embeddedFont>
    <p:embeddedFont>
      <p:font typeface="Oswald"/>
      <p:regular r:id="rId45"/>
      <p:bold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E3B60E-16DC-4F97-A95D-470E5E277794}">
  <a:tblStyle styleId="{D6E3B60E-16DC-4F97-A95D-470E5E27779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font" Target="fonts/Roboto-bold.fntdata"/><Relationship Id="rId41" Type="http://schemas.openxmlformats.org/officeDocument/2006/relationships/font" Target="fonts/Roboto-regular.fntdata"/><Relationship Id="rId22" Type="http://schemas.openxmlformats.org/officeDocument/2006/relationships/slide" Target="slides/slide15.xml"/><Relationship Id="rId44" Type="http://schemas.openxmlformats.org/officeDocument/2006/relationships/font" Target="fonts/Roboto-boldItalic.fntdata"/><Relationship Id="rId21" Type="http://schemas.openxmlformats.org/officeDocument/2006/relationships/slide" Target="slides/slide14.xml"/><Relationship Id="rId43" Type="http://schemas.openxmlformats.org/officeDocument/2006/relationships/font" Target="fonts/Roboto-italic.fntdata"/><Relationship Id="rId24" Type="http://schemas.openxmlformats.org/officeDocument/2006/relationships/slide" Target="slides/slide17.xml"/><Relationship Id="rId46" Type="http://schemas.openxmlformats.org/officeDocument/2006/relationships/font" Target="fonts/Oswald-bold.fntdata"/><Relationship Id="rId23" Type="http://schemas.openxmlformats.org/officeDocument/2006/relationships/slide" Target="slides/slide16.xml"/><Relationship Id="rId45" Type="http://schemas.openxmlformats.org/officeDocument/2006/relationships/font" Target="fonts/Oswa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esthouse.net/blogs/10-ways-to-reduce-test-automation-script-failure-rates/" TargetMode="External"/><Relationship Id="rId3" Type="http://schemas.openxmlformats.org/officeDocument/2006/relationships/hyperlink" Target="https://kms-solutions.asia/blogs/reasons-why-your-test-automation-project-fails" TargetMode="External"/><Relationship Id="rId4" Type="http://schemas.openxmlformats.org/officeDocument/2006/relationships/hyperlink" Target="https://www.deque.com/automated-accessibility-testing-coverage/"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7e5614842d08ba8f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7e5614842d08ba8f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c04946888_2_64:notes"/>
          <p:cNvSpPr txBox="1"/>
          <p:nvPr>
            <p:ph idx="1" type="body"/>
          </p:nvPr>
        </p:nvSpPr>
        <p:spPr>
          <a:xfrm>
            <a:off x="686590" y="4344026"/>
            <a:ext cx="5486400" cy="4114488"/>
          </a:xfrm>
          <a:prstGeom prst="rect">
            <a:avLst/>
          </a:prstGeom>
        </p:spPr>
        <p:txBody>
          <a:bodyPr anchorCtr="0" anchor="t" bIns="89600" lIns="89600" spcFirstLastPara="1" rIns="89600" wrap="square" tIns="89600">
            <a:noAutofit/>
          </a:bodyPr>
          <a:lstStyle/>
          <a:p>
            <a:pPr indent="0" lvl="0" marL="0" rtl="0" algn="l">
              <a:spcBef>
                <a:spcPts val="0"/>
              </a:spcBef>
              <a:spcAft>
                <a:spcPts val="0"/>
              </a:spcAft>
              <a:buNone/>
            </a:pPr>
            <a:r>
              <a:t/>
            </a:r>
            <a:endParaRPr/>
          </a:p>
        </p:txBody>
      </p:sp>
      <p:sp>
        <p:nvSpPr>
          <p:cNvPr id="121" name="Google Shape;121;g37c04946888_2_64:notes"/>
          <p:cNvSpPr/>
          <p:nvPr>
            <p:ph idx="2" type="sldImg"/>
          </p:nvPr>
        </p:nvSpPr>
        <p:spPr>
          <a:xfrm>
            <a:off x="399119" y="685488"/>
            <a:ext cx="6061316"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c04946888_2_70:notes"/>
          <p:cNvSpPr/>
          <p:nvPr>
            <p:ph idx="2" type="sldImg"/>
          </p:nvPr>
        </p:nvSpPr>
        <p:spPr>
          <a:xfrm>
            <a:off x="399119" y="685488"/>
            <a:ext cx="6061316"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7c04946888_2_70:notes"/>
          <p:cNvSpPr txBox="1"/>
          <p:nvPr>
            <p:ph idx="1" type="body"/>
          </p:nvPr>
        </p:nvSpPr>
        <p:spPr>
          <a:xfrm>
            <a:off x="686590" y="4344026"/>
            <a:ext cx="5486400" cy="4114488"/>
          </a:xfrm>
          <a:prstGeom prst="rect">
            <a:avLst/>
          </a:prstGeom>
          <a:noFill/>
          <a:ln>
            <a:noFill/>
          </a:ln>
        </p:spPr>
        <p:txBody>
          <a:bodyPr anchorCtr="0" anchor="t" bIns="44800" lIns="89600" spcFirstLastPara="1" rIns="89600" wrap="square" tIns="44800">
            <a:noAutofit/>
          </a:bodyPr>
          <a:lstStyle/>
          <a:p>
            <a:pPr indent="0" lvl="0" marL="0" rtl="0" algn="l">
              <a:spcBef>
                <a:spcPts val="0"/>
              </a:spcBef>
              <a:spcAft>
                <a:spcPts val="0"/>
              </a:spcAft>
              <a:buNone/>
            </a:pPr>
            <a:r>
              <a:t/>
            </a:r>
            <a:endParaRPr sz="1400"/>
          </a:p>
        </p:txBody>
      </p:sp>
      <p:sp>
        <p:nvSpPr>
          <p:cNvPr id="128" name="Google Shape;128;g37c04946888_2_70:notes"/>
          <p:cNvSpPr txBox="1"/>
          <p:nvPr>
            <p:ph idx="12" type="sldNum"/>
          </p:nvPr>
        </p:nvSpPr>
        <p:spPr>
          <a:xfrm>
            <a:off x="3883828" y="8684926"/>
            <a:ext cx="2972590" cy="457513"/>
          </a:xfrm>
          <a:prstGeom prst="rect">
            <a:avLst/>
          </a:prstGeom>
          <a:noFill/>
          <a:ln>
            <a:noFill/>
          </a:ln>
        </p:spPr>
        <p:txBody>
          <a:bodyPr anchorCtr="0" anchor="b" bIns="44800" lIns="89600" spcFirstLastPara="1" rIns="89600" wrap="square" tIns="44800">
            <a:noAutofit/>
          </a:bodyPr>
          <a:lstStyle/>
          <a:p>
            <a:pPr indent="0" lvl="0" marL="0" rtl="0" algn="r">
              <a:spcBef>
                <a:spcPts val="0"/>
              </a:spcBef>
              <a:spcAft>
                <a:spcPts val="0"/>
              </a:spcAft>
              <a:buNone/>
            </a:pPr>
            <a:fld id="{00000000-1234-1234-1234-123412341234}" type="slidenum">
              <a:rPr lang="en-GB" sz="1400"/>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c04946888_2_77:notes"/>
          <p:cNvSpPr/>
          <p:nvPr>
            <p:ph idx="2" type="sldImg"/>
          </p:nvPr>
        </p:nvSpPr>
        <p:spPr>
          <a:xfrm>
            <a:off x="399119" y="685488"/>
            <a:ext cx="6061316"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7c04946888_2_77:notes"/>
          <p:cNvSpPr txBox="1"/>
          <p:nvPr>
            <p:ph idx="1" type="body"/>
          </p:nvPr>
        </p:nvSpPr>
        <p:spPr>
          <a:xfrm>
            <a:off x="686590" y="4344026"/>
            <a:ext cx="5486400" cy="4114488"/>
          </a:xfrm>
          <a:prstGeom prst="rect">
            <a:avLst/>
          </a:prstGeom>
          <a:noFill/>
          <a:ln>
            <a:noFill/>
          </a:ln>
        </p:spPr>
        <p:txBody>
          <a:bodyPr anchorCtr="0" anchor="t" bIns="44800" lIns="89600" spcFirstLastPara="1" rIns="89600" wrap="square" tIns="44800">
            <a:noAutofit/>
          </a:bodyPr>
          <a:lstStyle/>
          <a:p>
            <a:pPr indent="0" lvl="0" marL="0" rtl="0" algn="l">
              <a:spcBef>
                <a:spcPts val="0"/>
              </a:spcBef>
              <a:spcAft>
                <a:spcPts val="0"/>
              </a:spcAft>
              <a:buNone/>
            </a:pPr>
            <a:r>
              <a:rPr lang="en-GB" sz="1400"/>
              <a:t>Modern applications today are very complex. They don’t just use clicks and typing anymore — they include touch, gestures, voice commands, and accessibility features. But our testing tools have not kept up with this complexity. Even though AI has been advancement has taken place  in recent years, most tools are still not capable of handling modern multimodal apps.</a:t>
            </a:r>
            <a:endParaRPr sz="1400"/>
          </a:p>
        </p:txBody>
      </p:sp>
      <p:sp>
        <p:nvSpPr>
          <p:cNvPr id="136" name="Google Shape;136;g37c04946888_2_77:notes"/>
          <p:cNvSpPr txBox="1"/>
          <p:nvPr>
            <p:ph idx="12" type="sldNum"/>
          </p:nvPr>
        </p:nvSpPr>
        <p:spPr>
          <a:xfrm>
            <a:off x="3883828" y="8684926"/>
            <a:ext cx="2972590" cy="457513"/>
          </a:xfrm>
          <a:prstGeom prst="rect">
            <a:avLst/>
          </a:prstGeom>
          <a:noFill/>
          <a:ln>
            <a:noFill/>
          </a:ln>
        </p:spPr>
        <p:txBody>
          <a:bodyPr anchorCtr="0" anchor="b" bIns="44800" lIns="89600" spcFirstLastPara="1" rIns="89600" wrap="square" tIns="44800">
            <a:noAutofit/>
          </a:bodyPr>
          <a:lstStyle/>
          <a:p>
            <a:pPr indent="0" lvl="0" marL="0" rtl="0" algn="r">
              <a:spcBef>
                <a:spcPts val="0"/>
              </a:spcBef>
              <a:spcAft>
                <a:spcPts val="0"/>
              </a:spcAft>
              <a:buNone/>
            </a:pPr>
            <a:fld id="{00000000-1234-1234-1234-123412341234}" type="slidenum">
              <a:rPr lang="en-GB" sz="1400"/>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4599bd54741e4e9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4599bd54741e4e9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en-GB"/>
              <a:t>Gap 1: Incomplete multimodal coverage.</a:t>
            </a:r>
            <a:endParaRPr/>
          </a:p>
          <a:p>
            <a:pPr indent="0" lvl="0" marL="0" rtl="0" algn="l">
              <a:lnSpc>
                <a:spcPct val="100000"/>
              </a:lnSpc>
              <a:spcBef>
                <a:spcPts val="1200"/>
              </a:spcBef>
              <a:spcAft>
                <a:spcPts val="0"/>
              </a:spcAft>
              <a:buNone/>
            </a:pPr>
            <a:r>
              <a:rPr lang="en-GB"/>
              <a:t>Current tools mainly test clicks and typing. They struggle with voice, gestures, or combined inputs like voice plus touch. And accessibility testing is also very limited. Most tools only check for basics, like whether an image has alt text or a button has a label. But real accessibility goes much deeper. </a:t>
            </a:r>
            <a:endParaRPr/>
          </a:p>
          <a:p>
            <a:pPr indent="0" lvl="0" marL="0" rtl="0" algn="l">
              <a:lnSpc>
                <a:spcPct val="100000"/>
              </a:lnSpc>
              <a:spcBef>
                <a:spcPts val="1200"/>
              </a:spcBef>
              <a:spcAft>
                <a:spcPts val="0"/>
              </a:spcAft>
              <a:buNone/>
            </a:pPr>
            <a:r>
              <a:rPr lang="en-GB"/>
              <a:t>Gap 2: Functional vs. experiential testing.</a:t>
            </a:r>
            <a:endParaRPr/>
          </a:p>
          <a:p>
            <a:pPr indent="0" lvl="0" marL="0" rtl="0" algn="l">
              <a:lnSpc>
                <a:spcPct val="100000"/>
              </a:lnSpc>
              <a:spcBef>
                <a:spcPts val="1200"/>
              </a:spcBef>
              <a:spcAft>
                <a:spcPts val="0"/>
              </a:spcAft>
              <a:buNone/>
            </a:pPr>
            <a:r>
              <a:rPr lang="en-GB"/>
              <a:t>Today’s tools check if a feature works — for example, if a search button clicks — but they don’t check if users can find the button easily or whether</a:t>
            </a:r>
            <a:r>
              <a:rPr lang="en-GB"/>
              <a:t> </a:t>
            </a:r>
            <a:r>
              <a:rPr lang="en-GB"/>
              <a:t>navigation feels smooth. They can’t measure task efficiency, cognitive load, or user satisfaction.</a:t>
            </a:r>
            <a:endParaRPr/>
          </a:p>
          <a:p>
            <a:pPr indent="0" lvl="0" marL="0" rtl="0" algn="l">
              <a:lnSpc>
                <a:spcPct val="100000"/>
              </a:lnSpc>
              <a:spcBef>
                <a:spcPts val="1200"/>
              </a:spcBef>
              <a:spcAft>
                <a:spcPts val="0"/>
              </a:spcAft>
              <a:buNone/>
            </a:pPr>
            <a:r>
              <a:t/>
            </a:r>
            <a:endParaRPr/>
          </a:p>
          <a:p>
            <a:pPr indent="0" lvl="0" marL="0" rtl="0" algn="l">
              <a:lnSpc>
                <a:spcPct val="100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4599bd54741e4e9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4599bd54741e4e9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t>Gap 3:</a:t>
            </a:r>
            <a:r>
              <a:rPr lang="en-GB"/>
              <a:t> Lack of true autonomy.</a:t>
            </a:r>
            <a:endParaRPr/>
          </a:p>
          <a:p>
            <a:pPr indent="0" lvl="0" marL="0" rtl="0" algn="l">
              <a:spcBef>
                <a:spcPts val="0"/>
              </a:spcBef>
              <a:spcAft>
                <a:spcPts val="0"/>
              </a:spcAft>
              <a:buClr>
                <a:schemeClr val="dk1"/>
              </a:buClr>
              <a:buSzPts val="1100"/>
              <a:buFont typeface="Arial"/>
              <a:buNone/>
            </a:pPr>
            <a:r>
              <a:rPr lang="en-GB"/>
              <a:t>Current tools still need manual test scripts, human oversight, and reconfiguration every time the app changes. They cannot explore new workflows or find unexpected problems by themselves. Eg: testRigor</a:t>
            </a:r>
            <a:endParaRPr/>
          </a:p>
          <a:p>
            <a:pPr indent="0" lvl="0" marL="0" rtl="0" algn="l">
              <a:spcBef>
                <a:spcPts val="0"/>
              </a:spcBef>
              <a:spcAft>
                <a:spcPts val="0"/>
              </a:spcAft>
              <a:buClr>
                <a:schemeClr val="dk1"/>
              </a:buClr>
              <a:buSzPts val="1100"/>
              <a:buFont typeface="Arial"/>
              <a:buNone/>
            </a:pPr>
            <a:r>
              <a:rPr b="1" lang="en-GB"/>
              <a:t>Gap 4:</a:t>
            </a:r>
            <a:r>
              <a:rPr lang="en-GB"/>
              <a:t> Static vs. dynamic understanding.</a:t>
            </a:r>
            <a:endParaRPr/>
          </a:p>
          <a:p>
            <a:pPr indent="0" lvl="0" marL="0" rtl="0" algn="l">
              <a:spcBef>
                <a:spcPts val="0"/>
              </a:spcBef>
              <a:spcAft>
                <a:spcPts val="0"/>
              </a:spcAft>
              <a:buClr>
                <a:schemeClr val="dk1"/>
              </a:buClr>
              <a:buSzPts val="1100"/>
              <a:buFont typeface="Arial"/>
              <a:buNone/>
            </a:pPr>
            <a:r>
              <a:rPr lang="en-GB"/>
              <a:t>Modern apps are personalized and dynamic, but current testing cannot understand context, user intent, or realistic user behavior. Eg HeadSpin</a:t>
            </a:r>
            <a:endParaRPr/>
          </a:p>
          <a:p>
            <a:pPr indent="0" lvl="0" marL="0" rtl="0" algn="l">
              <a:spcBef>
                <a:spcPts val="0"/>
              </a:spcBef>
              <a:spcAft>
                <a:spcPts val="0"/>
              </a:spcAft>
              <a:buClr>
                <a:schemeClr val="dk1"/>
              </a:buClr>
              <a:buSzPts val="1100"/>
              <a:buFont typeface="Arial"/>
              <a:buNone/>
            </a:pPr>
            <a:r>
              <a:rPr b="1" lang="en-GB"/>
              <a:t>Gap 5</a:t>
            </a:r>
            <a:r>
              <a:rPr lang="en-GB"/>
              <a:t>: Scale and intelligence mismatch.</a:t>
            </a:r>
            <a:endParaRPr/>
          </a:p>
          <a:p>
            <a:pPr indent="0" lvl="0" marL="0" rtl="0" algn="l">
              <a:spcBef>
                <a:spcPts val="0"/>
              </a:spcBef>
              <a:spcAft>
                <a:spcPts val="0"/>
              </a:spcAft>
              <a:buClr>
                <a:schemeClr val="dk1"/>
              </a:buClr>
              <a:buSzPts val="1100"/>
              <a:buFont typeface="Arial"/>
              <a:buNone/>
            </a:pPr>
            <a:r>
              <a:rPr lang="en-GB"/>
              <a:t>Applications now have millions of possible UI states. Testing must run across multiple devices and platforms. While automation can reduce costs by up to 85%, today’s tools are still very limited in scope.</a:t>
            </a:r>
            <a:endParaRPr/>
          </a:p>
          <a:p>
            <a:pPr indent="0" lvl="0" marL="0" rtl="0" algn="l">
              <a:spcBef>
                <a:spcPts val="0"/>
              </a:spcBef>
              <a:spcAft>
                <a:spcPts val="0"/>
              </a:spcAft>
              <a:buNone/>
            </a:pPr>
            <a:r>
              <a:rPr lang="en-GB"/>
              <a:t>Eg: Playwright, Selenium</a:t>
            </a:r>
            <a:br>
              <a:rPr lang="en-GB"/>
            </a:b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4599bd54741e4e9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4599bd54741e4e9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Rule-based automation (Selenium, Appium)</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it is: Scripts that follow explicit steps you write (open page → find element → click → type → assert).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it works: Uses selectors (id, xpath, css) to find UI elements and run the exact actions you scripted.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for: Repeating regression tests, smoke tests, cross-browser checks.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Limitations: Fragile (breaks when UI changes), needs constant maintenance, can’t reason about user intent, and cannot test voice/gesture multimodal inputs.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Visual regression (Applitools, simple screenshot diffs)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it is: Compare screenshots (current vs baseline) to find layout or styling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it works: Pixel diff or smarter visual AI that flags visible differences.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for: Catching layout shifts, CSS regressions, wrong fonts/colors, visual bugs across devices.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Limitations: False positives from small rendering differences; only shows what changed visually, not why or whether it hurts usability.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Manual testing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it is: Humans explore the app, follow test cases, or do exploratory testing.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it works: A tester performs tasks, judges usability, accessibility, feel, language, edge cases.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for: Usability, accessibility (screen reader flows), first-time exploratory sessions where human judgment matters.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Limitations: Slow, expensive, inconsistent across testers, hard to 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AI-assisted test generation (Testim, Mabl,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it is: Tools that generate tests automatically or help stabilize tests using ML (smart locators, self-healing).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it works: They record flows, learn element patterns, suggest locators, and can generate more tests from examples.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for: Faster test authoring, lower maintenance than pure scripts, catching common regressions.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Limitations: Still needs human review, limited support for multimodal (voice/gesture), and can’t fully understand context or intent like a human.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Voice &amp; conversational testing (Voiceflow, Bespoken)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it is: Tools focused on voice assistants, IVR, and chat flows.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it works: Simulate speech input, test ASR/NLU and response flows, validate intents and slot filling.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for: Regression testing of voice dialogs, verifying intents and TTS outputs.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Limitations: Difficult to fully emulate noisy environments, accents, or combined voice+touch interactions in real world.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Accessibility automated scanners (axe, Accessibility Insights)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it is: Static checks that scan HTML/ARIA for common accessibility problems.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it works: Rule engines check for missing alt text, poor contrast, incorrect ARIA usage, focus order issues.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for: Catching many obvious accessibility issues quickly and integrating into CI.</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Limitations: Automated tools only find a subset of problems (~30–50%); screen reader experiences, keyboard flow, and cognitive accessibility need human testing.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Session replay &amp; UX analytics (FullStory, Hotjar)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it is: Record real user sessions and provide heatmaps and signals (rage clicks, dead clicks).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it works: Replays user interactions so you can see where users get stuck or frustrated.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for: Finding UX friction, navigation problems, real-world behavior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Limitations: Privacy concerns, sampling bias, and doesn’t automatically fix issues.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Autonomous exploratory testing (Appvance, some mabl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it is: Bots that explore the app without explicit scripts to discover flows and edge cases.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it works: Use heuristics/ML to click around, fill forms, and build test models automatically.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for: Increasing coverage and finding unexpected defects.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Limitations: Can get stuck in complex auth flows, needs good environment setups, may produce noise (false positives).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Device clouds (BrowserStack, Sauce Labs)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it is: Pools of real devices and browsers you can run tests on in parallel.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it works: Execute your automated tests on many device/browser combos remotely.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Good for: Scale, real-device testing, cross-OS/browser coverage.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Limitations: Cost, some latency, and you still need good test design to interpret results.</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4599bd54741e4e9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4599bd54741e4e9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Citations:</a:t>
            </a:r>
            <a:br>
              <a:rPr lang="en-GB"/>
            </a:br>
            <a:r>
              <a:rPr lang="en-GB" u="sng">
                <a:solidFill>
                  <a:schemeClr val="hlink"/>
                </a:solidFill>
                <a:hlinkClick r:id="rId2"/>
              </a:rPr>
              <a:t>https://www.testhouse.net/blogs/10-ways-to-reduce-test-automation-script-failure-rates/</a:t>
            </a:r>
            <a:br>
              <a:rPr lang="en-GB"/>
            </a:br>
            <a:br>
              <a:rPr lang="en-GB"/>
            </a:br>
            <a:r>
              <a:rPr lang="en-GB" u="sng">
                <a:solidFill>
                  <a:schemeClr val="hlink"/>
                </a:solidFill>
                <a:hlinkClick r:id="rId3"/>
              </a:rPr>
              <a:t>https://kms-solutions.asia/blogs/reasons-why-your-test-automation-project-fails</a:t>
            </a:r>
            <a:br>
              <a:rPr lang="en-GB"/>
            </a:br>
            <a:endParaRPr/>
          </a:p>
          <a:p>
            <a:pPr indent="0" lvl="0" marL="0" rtl="0" algn="l">
              <a:lnSpc>
                <a:spcPct val="115000"/>
              </a:lnSpc>
              <a:spcBef>
                <a:spcPts val="1200"/>
              </a:spcBef>
              <a:spcAft>
                <a:spcPts val="0"/>
              </a:spcAft>
              <a:buClr>
                <a:schemeClr val="dk1"/>
              </a:buClr>
              <a:buSzPts val="1100"/>
              <a:buFont typeface="Arial"/>
              <a:buNone/>
            </a:pPr>
            <a:r>
              <a:rPr lang="en-GB" u="sng">
                <a:solidFill>
                  <a:schemeClr val="hlink"/>
                </a:solidFill>
                <a:hlinkClick r:id="rId4"/>
              </a:rPr>
              <a:t>https://www.deque.com/automated-accessibility-testing-coverage/</a:t>
            </a:r>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State Management (Loop Prevention):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Proven approach</a:t>
            </a:r>
            <a:r>
              <a:rPr lang="en-GB">
                <a:solidFill>
                  <a:schemeClr val="dk1"/>
                </a:solidFill>
              </a:rPr>
              <a:t>: Use multi-layered state fingerprinting (visual + structural + semantic hashes)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Exploration strategy</a:t>
            </a:r>
            <a:r>
              <a:rPr lang="en-GB">
                <a:solidFill>
                  <a:schemeClr val="dk1"/>
                </a:solidFill>
              </a:rPr>
              <a:t>: Graph-based exploration with intelligent backtracking - borrowed from successful autonomous driving research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Budget-based constraints</a:t>
            </a:r>
            <a:r>
              <a:rPr lang="en-GB">
                <a:solidFill>
                  <a:schemeClr val="dk1"/>
                </a:solidFill>
              </a:rPr>
              <a:t>: Set hard limits on revisits per state and total exploration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Risk level</a:t>
            </a:r>
            <a:r>
              <a:rPr lang="en-GB">
                <a:solidFill>
                  <a:schemeClr val="dk1"/>
                </a:solidFill>
              </a:rPr>
              <a:t>: LOW - these are well-understood computer science problems with existing solutions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False Positive Management: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Confidence scoring</a:t>
            </a:r>
            <a:r>
              <a:rPr lang="en-GB">
                <a:solidFill>
                  <a:schemeClr val="dk1"/>
                </a:solidFill>
              </a:rPr>
              <a:t>: Combine multiple detection methods and only report high-confidence issues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Ground truth training</a:t>
            </a:r>
            <a:r>
              <a:rPr lang="en-GB">
                <a:solidFill>
                  <a:schemeClr val="dk1"/>
                </a:solidFill>
              </a:rPr>
              <a:t>: Start with known good/bad examples to calibrate your system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Human feedback loops</a:t>
            </a:r>
            <a:r>
              <a:rPr lang="en-GB">
                <a:solidFill>
                  <a:schemeClr val="dk1"/>
                </a:solidFill>
              </a:rPr>
              <a:t>: Learn from developer acceptance/rejection of reported issues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Risk level</a:t>
            </a:r>
            <a:r>
              <a:rPr lang="en-GB">
                <a:solidFill>
                  <a:schemeClr val="dk1"/>
                </a:solidFill>
              </a:rPr>
              <a:t>: MEDIUM - requires iterative refinement but manageable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4599bd54741e4e9_2:notes"/>
          <p:cNvSpPr/>
          <p:nvPr>
            <p:ph idx="2" type="sldImg"/>
          </p:nvPr>
        </p:nvSpPr>
        <p:spPr>
          <a:xfrm>
            <a:off x="399119" y="685488"/>
            <a:ext cx="60612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24599bd54741e4e9_2:notes"/>
          <p:cNvSpPr txBox="1"/>
          <p:nvPr>
            <p:ph idx="1" type="body"/>
          </p:nvPr>
        </p:nvSpPr>
        <p:spPr>
          <a:xfrm>
            <a:off x="686590" y="4344026"/>
            <a:ext cx="5486400" cy="4114500"/>
          </a:xfrm>
          <a:prstGeom prst="rect">
            <a:avLst/>
          </a:prstGeom>
          <a:noFill/>
          <a:ln>
            <a:noFill/>
          </a:ln>
        </p:spPr>
        <p:txBody>
          <a:bodyPr anchorCtr="0" anchor="t" bIns="44800" lIns="89600" spcFirstLastPara="1" rIns="89600" wrap="square" tIns="44800">
            <a:noAutofit/>
          </a:bodyPr>
          <a:lstStyle/>
          <a:p>
            <a:pPr indent="0" lvl="0" marL="0" rtl="0" algn="l">
              <a:spcBef>
                <a:spcPts val="0"/>
              </a:spcBef>
              <a:spcAft>
                <a:spcPts val="0"/>
              </a:spcAft>
              <a:buClr>
                <a:schemeClr val="dk1"/>
              </a:buClr>
              <a:buSzPts val="1100"/>
              <a:buFont typeface="Arial"/>
              <a:buNone/>
            </a:pPr>
            <a:r>
              <a:rPr lang="en-GB" sz="1400"/>
              <a:t>So, what’s the solution?</a:t>
            </a:r>
            <a:endParaRPr sz="1400"/>
          </a:p>
          <a:p>
            <a:pPr indent="0" lvl="0" marL="0" rtl="0" algn="l">
              <a:spcBef>
                <a:spcPts val="0"/>
              </a:spcBef>
              <a:spcAft>
                <a:spcPts val="0"/>
              </a:spcAft>
              <a:buSzPts val="1100"/>
              <a:buNone/>
            </a:pPr>
            <a:r>
              <a:rPr lang="en-GB" sz="1400"/>
              <a:t>We need a next-generation, autonomous, multimodal AI-driven testing system. This system should:</a:t>
            </a:r>
            <a:endParaRPr sz="1400"/>
          </a:p>
          <a:p>
            <a:pPr indent="0" lvl="0" marL="0" rtl="0" algn="l">
              <a:spcBef>
                <a:spcPts val="0"/>
              </a:spcBef>
              <a:spcAft>
                <a:spcPts val="0"/>
              </a:spcAft>
              <a:buClr>
                <a:schemeClr val="dk1"/>
              </a:buClr>
              <a:buSzPts val="1100"/>
              <a:buFont typeface="Arial"/>
              <a:buNone/>
            </a:pPr>
            <a:r>
              <a:rPr lang="en-GB" sz="1400"/>
              <a:t>Explore applications intelligently without scripts</a:t>
            </a:r>
            <a:endParaRPr sz="1400"/>
          </a:p>
          <a:p>
            <a:pPr indent="0" lvl="0" marL="0" rtl="0" algn="l">
              <a:spcBef>
                <a:spcPts val="0"/>
              </a:spcBef>
              <a:spcAft>
                <a:spcPts val="0"/>
              </a:spcAft>
              <a:buClr>
                <a:schemeClr val="dk1"/>
              </a:buClr>
              <a:buSzPts val="1100"/>
              <a:buFont typeface="Arial"/>
              <a:buNone/>
            </a:pPr>
            <a:r>
              <a:rPr lang="en-GB" sz="1400"/>
              <a:t>Understand UIs across visuals, text, and navigation</a:t>
            </a:r>
            <a:endParaRPr sz="1400"/>
          </a:p>
          <a:p>
            <a:pPr indent="0" lvl="0" marL="0" rtl="0" algn="l">
              <a:spcBef>
                <a:spcPts val="0"/>
              </a:spcBef>
              <a:spcAft>
                <a:spcPts val="0"/>
              </a:spcAft>
              <a:buClr>
                <a:schemeClr val="dk1"/>
              </a:buClr>
              <a:buSzPts val="1100"/>
              <a:buFont typeface="Arial"/>
              <a:buNone/>
            </a:pPr>
            <a:r>
              <a:rPr lang="en-GB" sz="1400"/>
              <a:t>Detect both functional bugs and UX issues</a:t>
            </a:r>
            <a:endParaRPr sz="1400"/>
          </a:p>
          <a:p>
            <a:pPr indent="0" lvl="0" marL="0" rtl="0" algn="l">
              <a:spcBef>
                <a:spcPts val="0"/>
              </a:spcBef>
              <a:spcAft>
                <a:spcPts val="0"/>
              </a:spcAft>
              <a:buSzPts val="1100"/>
              <a:buNone/>
            </a:pPr>
            <a:r>
              <a:rPr lang="en-GB" sz="1400"/>
              <a:t>Simulate different user personas</a:t>
            </a:r>
            <a:endParaRPr sz="1400"/>
          </a:p>
          <a:p>
            <a:pPr indent="0" lvl="0" marL="0" rtl="0" algn="l">
              <a:spcBef>
                <a:spcPts val="0"/>
              </a:spcBef>
              <a:spcAft>
                <a:spcPts val="0"/>
              </a:spcAft>
              <a:buClr>
                <a:schemeClr val="dk1"/>
              </a:buClr>
              <a:buSzPts val="1100"/>
              <a:buFont typeface="Arial"/>
              <a:buNone/>
            </a:pPr>
            <a:r>
              <a:rPr lang="en-GB" sz="1400"/>
              <a:t>Adapt automatically when UIs change</a:t>
            </a:r>
            <a:endParaRPr sz="1400"/>
          </a:p>
          <a:p>
            <a:pPr indent="0" lvl="0" marL="0" rtl="0" algn="l">
              <a:spcBef>
                <a:spcPts val="0"/>
              </a:spcBef>
              <a:spcAft>
                <a:spcPts val="0"/>
              </a:spcAft>
              <a:buClr>
                <a:schemeClr val="dk1"/>
              </a:buClr>
              <a:buSzPts val="1100"/>
              <a:buFont typeface="Arial"/>
              <a:buNone/>
            </a:pPr>
            <a:r>
              <a:rPr lang="en-GB" sz="1400"/>
              <a:t>And finally, generate clear, developer-friendly bug reports</a:t>
            </a:r>
            <a:endParaRPr sz="1400"/>
          </a:p>
          <a:p>
            <a:pPr indent="0" lvl="0" marL="0" rtl="0" algn="l">
              <a:spcBef>
                <a:spcPts val="0"/>
              </a:spcBef>
              <a:spcAft>
                <a:spcPts val="0"/>
              </a:spcAft>
              <a:buClr>
                <a:schemeClr val="dk1"/>
              </a:buClr>
              <a:buSzPts val="1100"/>
              <a:buFont typeface="Arial"/>
              <a:buNone/>
            </a:pPr>
            <a:r>
              <a:rPr lang="en-GB" sz="1400"/>
              <a:t>This approach would reduce manual effort, improve test coverage, and ensure reliable, user-friendly applications that truly match the complexity of modern software</a:t>
            </a:r>
            <a:endParaRPr sz="1400"/>
          </a:p>
          <a:p>
            <a:pPr indent="0" lvl="0" marL="0" rtl="0" algn="l">
              <a:spcBef>
                <a:spcPts val="0"/>
              </a:spcBef>
              <a:spcAft>
                <a:spcPts val="0"/>
              </a:spcAft>
              <a:buNone/>
            </a:pPr>
            <a:r>
              <a:t/>
            </a:r>
            <a:endParaRPr sz="1400"/>
          </a:p>
        </p:txBody>
      </p:sp>
      <p:sp>
        <p:nvSpPr>
          <p:cNvPr id="165" name="Google Shape;165;g24599bd54741e4e9_2:notes"/>
          <p:cNvSpPr txBox="1"/>
          <p:nvPr>
            <p:ph idx="12" type="sldNum"/>
          </p:nvPr>
        </p:nvSpPr>
        <p:spPr>
          <a:xfrm>
            <a:off x="3883828" y="8684926"/>
            <a:ext cx="2972700" cy="457500"/>
          </a:xfrm>
          <a:prstGeom prst="rect">
            <a:avLst/>
          </a:prstGeom>
          <a:noFill/>
          <a:ln>
            <a:noFill/>
          </a:ln>
        </p:spPr>
        <p:txBody>
          <a:bodyPr anchorCtr="0" anchor="b" bIns="44800" lIns="89600" spcFirstLastPara="1" rIns="89600" wrap="square" tIns="44800">
            <a:noAutofit/>
          </a:bodyPr>
          <a:lstStyle/>
          <a:p>
            <a:pPr indent="0" lvl="0" marL="0" rtl="0" algn="r">
              <a:spcBef>
                <a:spcPts val="0"/>
              </a:spcBef>
              <a:spcAft>
                <a:spcPts val="0"/>
              </a:spcAft>
              <a:buNone/>
            </a:pPr>
            <a:fld id="{00000000-1234-1234-1234-123412341234}" type="slidenum">
              <a:rPr lang="en-GB" sz="1400"/>
              <a:t>‹#›</a:t>
            </a:fld>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c04946888_2_84:notes"/>
          <p:cNvSpPr/>
          <p:nvPr>
            <p:ph idx="2" type="sldImg"/>
          </p:nvPr>
        </p:nvSpPr>
        <p:spPr>
          <a:xfrm>
            <a:off x="399119" y="685488"/>
            <a:ext cx="6061316"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7c04946888_2_84:notes"/>
          <p:cNvSpPr txBox="1"/>
          <p:nvPr>
            <p:ph idx="1" type="body"/>
          </p:nvPr>
        </p:nvSpPr>
        <p:spPr>
          <a:xfrm>
            <a:off x="686590" y="4344026"/>
            <a:ext cx="5486400" cy="4114488"/>
          </a:xfrm>
          <a:prstGeom prst="rect">
            <a:avLst/>
          </a:prstGeom>
          <a:noFill/>
          <a:ln>
            <a:noFill/>
          </a:ln>
        </p:spPr>
        <p:txBody>
          <a:bodyPr anchorCtr="0" anchor="t" bIns="44800" lIns="89600" spcFirstLastPara="1" rIns="89600" wrap="square" tIns="44800">
            <a:noAutofit/>
          </a:bodyPr>
          <a:lstStyle/>
          <a:p>
            <a:pPr indent="0" lvl="0" marL="0" rtl="0" algn="l">
              <a:spcBef>
                <a:spcPts val="0"/>
              </a:spcBef>
              <a:spcAft>
                <a:spcPts val="0"/>
              </a:spcAft>
              <a:buNone/>
            </a:pPr>
            <a:r>
              <a:t/>
            </a:r>
            <a:endParaRPr sz="1400"/>
          </a:p>
        </p:txBody>
      </p:sp>
      <p:sp>
        <p:nvSpPr>
          <p:cNvPr id="173" name="Google Shape;173;g37c04946888_2_84:notes"/>
          <p:cNvSpPr txBox="1"/>
          <p:nvPr>
            <p:ph idx="12" type="sldNum"/>
          </p:nvPr>
        </p:nvSpPr>
        <p:spPr>
          <a:xfrm>
            <a:off x="3883828" y="8684926"/>
            <a:ext cx="2972590" cy="457513"/>
          </a:xfrm>
          <a:prstGeom prst="rect">
            <a:avLst/>
          </a:prstGeom>
          <a:noFill/>
          <a:ln>
            <a:noFill/>
          </a:ln>
        </p:spPr>
        <p:txBody>
          <a:bodyPr anchorCtr="0" anchor="b" bIns="44800" lIns="89600" spcFirstLastPara="1" rIns="89600" wrap="square" tIns="44800">
            <a:noAutofit/>
          </a:bodyPr>
          <a:lstStyle/>
          <a:p>
            <a:pPr indent="0" lvl="0" marL="0" rtl="0" algn="r">
              <a:spcBef>
                <a:spcPts val="0"/>
              </a:spcBef>
              <a:spcAft>
                <a:spcPts val="0"/>
              </a:spcAft>
              <a:buNone/>
            </a:pPr>
            <a:fld id="{00000000-1234-1234-1234-123412341234}" type="slidenum">
              <a:rPr lang="en-GB" sz="1400"/>
              <a:t>‹#›</a:t>
            </a:fld>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c5a766fd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7c5a766fd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a:t>
            </a:r>
            <a:endParaRPr/>
          </a:p>
          <a:p>
            <a:pPr indent="0" lvl="0" marL="0" rtl="0" algn="l">
              <a:spcBef>
                <a:spcPts val="0"/>
              </a:spcBef>
              <a:spcAft>
                <a:spcPts val="0"/>
              </a:spcAft>
              <a:buNone/>
            </a:pPr>
            <a:r>
              <a:rPr lang="en-GB" sz="1200">
                <a:solidFill>
                  <a:schemeClr val="dk1"/>
                </a:solidFill>
                <a:latin typeface="Roboto"/>
                <a:ea typeface="Roboto"/>
                <a:cs typeface="Roboto"/>
                <a:sym typeface="Roboto"/>
              </a:rPr>
              <a:t>Tools like LangChain/AutoGen for</a:t>
            </a:r>
            <a:r>
              <a:rPr b="1" lang="en-GB" sz="1200">
                <a:solidFill>
                  <a:schemeClr val="dk1"/>
                </a:solidFill>
                <a:latin typeface="Roboto"/>
                <a:ea typeface="Roboto"/>
                <a:cs typeface="Roboto"/>
                <a:sym typeface="Roboto"/>
              </a:rPr>
              <a:t> agent workflow </a:t>
            </a:r>
            <a:r>
              <a:rPr lang="en-GB" sz="1200">
                <a:solidFill>
                  <a:schemeClr val="dk1"/>
                </a:solidFill>
                <a:latin typeface="Roboto"/>
                <a:ea typeface="Roboto"/>
                <a:cs typeface="Roboto"/>
                <a:sym typeface="Roboto"/>
              </a:rPr>
              <a:t>- framework to connect LLMs and external tools like selenium.</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Stable-Baselines3 for reinforcement learning library,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GPT-4V/Claude: Large Multimodal Models (understand text + images).</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OpenCV/OCR for computer vision to detect visual elements (buttons, icons, layout structure).</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Selenium/Playwright/Appium for automating actions.Executes the agent’s chosen action (click, scroll, input text).</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2.</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The agent can test every possible way a user interacts with the app—touch, typing, voice commands, and accessibility features for disabled users.</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speech APIs (simulate/test voice commands);</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Web content accessibility guidelines WCAR and (Accessible rich Internet Applications)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2.We go beyond traditional click-and-type testing. Our agent can handle touch gestures, voice commands, keyboard input, and critical accessibility interfaces. By integrating speech APIs and WCAG/ARIA validation, we cover all major interaction modalities—making the system usable for everyone, including users with disabilities.</a:t>
            </a:r>
            <a:br>
              <a:rPr lang="en-GB" sz="1200">
                <a:solidFill>
                  <a:schemeClr val="dk1"/>
                </a:solidFill>
                <a:latin typeface="Roboto"/>
                <a:ea typeface="Roboto"/>
                <a:cs typeface="Roboto"/>
                <a:sym typeface="Roboto"/>
              </a:rPr>
            </a:br>
            <a:br>
              <a:rPr lang="en-GB" sz="1200">
                <a:solidFill>
                  <a:schemeClr val="dk1"/>
                </a:solidFill>
                <a:latin typeface="Roboto"/>
                <a:ea typeface="Roboto"/>
                <a:cs typeface="Roboto"/>
                <a:sym typeface="Roboto"/>
              </a:rPr>
            </a:br>
            <a:br>
              <a:rPr lang="en-GB" sz="1200">
                <a:solidFill>
                  <a:schemeClr val="dk1"/>
                </a:solidFill>
                <a:latin typeface="Roboto"/>
                <a:ea typeface="Roboto"/>
                <a:cs typeface="Roboto"/>
                <a:sym typeface="Roboto"/>
              </a:rPr>
            </a:br>
            <a:r>
              <a:rPr b="1" lang="en-GB" sz="1500">
                <a:solidFill>
                  <a:schemeClr val="dk1"/>
                </a:solidFill>
              </a:rPr>
              <a:t>- Tools/Tech:</a:t>
            </a:r>
            <a:r>
              <a:rPr lang="en-GB" sz="1500">
                <a:solidFill>
                  <a:schemeClr val="dk1"/>
                </a:solidFill>
              </a:rPr>
              <a:t> LangChain/AutoGen + RL (Stable-Baselines3), GPT-4V/Claude-3.5, OpenCV/OCR, Selenium/Playwright/Appium</a:t>
            </a:r>
            <a:endParaRPr sz="1500">
              <a:solidFill>
                <a:schemeClr val="dk1"/>
              </a:solidFill>
            </a:endParaRPr>
          </a:p>
          <a:p>
            <a:pPr indent="0" lvl="0" marL="0" rtl="0" algn="l">
              <a:lnSpc>
                <a:spcPct val="115000"/>
              </a:lnSpc>
              <a:spcBef>
                <a:spcPts val="1200"/>
              </a:spcBef>
              <a:spcAft>
                <a:spcPts val="0"/>
              </a:spcAft>
              <a:buNone/>
            </a:pPr>
            <a:r>
              <a:rPr b="1" lang="en-GB" sz="1500">
                <a:solidFill>
                  <a:schemeClr val="dk1"/>
                </a:solidFill>
              </a:rPr>
              <a:t>-Tools/Tech:</a:t>
            </a:r>
            <a:r>
              <a:rPr lang="en-GB" sz="1500">
                <a:solidFill>
                  <a:schemeClr val="dk1"/>
                </a:solidFill>
              </a:rPr>
              <a:t> Selenium/Playwright/Appium, Speech APIs, WCAG compliance checkers, ARIA(</a:t>
            </a:r>
            <a:r>
              <a:rPr lang="en-GB" sz="1500">
                <a:solidFill>
                  <a:schemeClr val="dk1"/>
                </a:solidFill>
                <a:latin typeface="Roboto"/>
                <a:ea typeface="Roboto"/>
                <a:cs typeface="Roboto"/>
                <a:sym typeface="Roboto"/>
              </a:rPr>
              <a:t>Accessible rich Internet Applications</a:t>
            </a:r>
            <a:r>
              <a:rPr lang="en-GB" sz="1200">
                <a:solidFill>
                  <a:schemeClr val="dk1"/>
                </a:solidFill>
                <a:latin typeface="Roboto"/>
                <a:ea typeface="Roboto"/>
                <a:cs typeface="Roboto"/>
                <a:sym typeface="Roboto"/>
              </a:rPr>
              <a:t>)</a:t>
            </a:r>
            <a:r>
              <a:rPr lang="en-GB" sz="1500">
                <a:solidFill>
                  <a:schemeClr val="dk1"/>
                </a:solidFill>
              </a:rPr>
              <a:t> role validators.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c5a766fd9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7c5a766fd9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3.</a:t>
            </a:r>
            <a:endParaRPr/>
          </a:p>
          <a:p>
            <a:pPr indent="0" lvl="0" marL="0" rtl="0" algn="l">
              <a:spcBef>
                <a:spcPts val="0"/>
              </a:spcBef>
              <a:spcAft>
                <a:spcPts val="0"/>
              </a:spcAft>
              <a:buNone/>
            </a:pPr>
            <a:r>
              <a:rPr lang="en-GB" sz="1200">
                <a:solidFill>
                  <a:schemeClr val="dk1"/>
                </a:solidFill>
                <a:latin typeface="Roboto"/>
                <a:ea typeface="Roboto"/>
                <a:cs typeface="Roboto"/>
                <a:sym typeface="Roboto"/>
              </a:rPr>
              <a:t>We don’t just check if features work; we check how well they work for users. There will be two layers: an objective layer that finds technical bugs, and a heuristic layer that checks for design/UX issues. The second uses machine learning and computer vision to spot things like bad contrast, confusing navigation, and usability flaws.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200">
                <a:solidFill>
                  <a:schemeClr val="dk1"/>
                </a:solidFill>
                <a:latin typeface="Roboto"/>
                <a:ea typeface="Roboto"/>
                <a:cs typeface="Roboto"/>
                <a:sym typeface="Roboto"/>
              </a:rPr>
              <a:t>How: The "objective" layer uses rules to find obvious errors; the "heuristic/pattern" layer uses computer vision (OpenCV, ViT, SAM) and language models (Flan-T5, LLaMA) to check for bad UI/UX patterns.</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200">
                <a:solidFill>
                  <a:schemeClr val="dk1"/>
                </a:solidFill>
                <a:latin typeface="Roboto"/>
                <a:ea typeface="Roboto"/>
                <a:cs typeface="Roboto"/>
                <a:sym typeface="Roboto"/>
              </a:rPr>
              <a:t>OpenCV </a:t>
            </a:r>
            <a:r>
              <a:rPr b="1" lang="en-GB" sz="1200">
                <a:solidFill>
                  <a:schemeClr val="dk1"/>
                </a:solidFill>
                <a:latin typeface="Roboto"/>
                <a:ea typeface="Roboto"/>
                <a:cs typeface="Roboto"/>
                <a:sym typeface="Roboto"/>
              </a:rPr>
              <a:t>: Open-source computer vision library.</a:t>
            </a:r>
            <a:endParaRPr b="1"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200">
                <a:solidFill>
                  <a:schemeClr val="dk1"/>
                </a:solidFill>
                <a:latin typeface="Roboto"/>
                <a:ea typeface="Roboto"/>
                <a:cs typeface="Roboto"/>
                <a:sym typeface="Roboto"/>
              </a:rPr>
              <a:t>Vision transformers: Deep learning models for understanding images.</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200">
                <a:solidFill>
                  <a:schemeClr val="dk1"/>
                </a:solidFill>
                <a:latin typeface="Roboto"/>
                <a:ea typeface="Roboto"/>
                <a:cs typeface="Roboto"/>
                <a:sym typeface="Roboto"/>
              </a:rPr>
              <a:t>NLP models</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200">
                <a:solidFill>
                  <a:schemeClr val="dk1"/>
                </a:solidFill>
                <a:latin typeface="Roboto"/>
                <a:ea typeface="Roboto"/>
                <a:cs typeface="Roboto"/>
                <a:sym typeface="Roboto"/>
              </a:rPr>
              <a:t>4.Whenever issues are found, our system automatically composes developer-friendly bug reports that include annotated screenshots, steps to reproduce, severity ranking, and confidence scores. This makes it much easier for teams to fix issues quickly.</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GB" sz="1200">
                <a:solidFill>
                  <a:schemeClr val="dk1"/>
                </a:solidFill>
                <a:latin typeface="Roboto"/>
                <a:ea typeface="Roboto"/>
                <a:cs typeface="Roboto"/>
                <a:sym typeface="Roboto"/>
              </a:rPr>
              <a:t>Tools: LLMs,dashboards,databases to store/report bugs.</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7c62475ab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7c62475ab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7c5a766fd9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7c5a766fd9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AutoNum type="arabicPeriod"/>
            </a:pPr>
            <a:r>
              <a:rPr b="1" lang="en-GB">
                <a:solidFill>
                  <a:schemeClr val="dk1"/>
                </a:solidFill>
              </a:rPr>
              <a:t>Perception</a:t>
            </a:r>
            <a:r>
              <a:rPr lang="en-GB">
                <a:solidFill>
                  <a:schemeClr val="dk1"/>
                </a:solidFill>
              </a:rPr>
              <a:t>: Understand UI state (screenshots, DOM parsing, text extraction).</a:t>
            </a:r>
            <a:endParaRPr>
              <a:solidFill>
                <a:schemeClr val="dk1"/>
              </a:solidFill>
            </a:endParaRPr>
          </a:p>
          <a:p>
            <a:pPr indent="0" lvl="0" marL="457200" rtl="0" algn="l">
              <a:spcBef>
                <a:spcPts val="0"/>
              </a:spcBef>
              <a:spcAft>
                <a:spcPts val="0"/>
              </a:spcAft>
              <a:buNone/>
            </a:pPr>
            <a:r>
              <a:rPr b="1" lang="en-GB">
                <a:solidFill>
                  <a:schemeClr val="dk1"/>
                </a:solidFill>
              </a:rPr>
              <a:t>Planning</a:t>
            </a:r>
            <a:r>
              <a:rPr lang="en-GB">
                <a:solidFill>
                  <a:schemeClr val="dk1"/>
                </a:solidFill>
              </a:rPr>
              <a:t>: Decide what to do next (click, scroll, input text) using reasoning + RL.</a:t>
            </a:r>
            <a:endParaRPr>
              <a:solidFill>
                <a:schemeClr val="dk1"/>
              </a:solidFill>
            </a:endParaRPr>
          </a:p>
          <a:p>
            <a:pPr indent="0" lvl="0" marL="457200" rtl="0" algn="l">
              <a:spcBef>
                <a:spcPts val="0"/>
              </a:spcBef>
              <a:spcAft>
                <a:spcPts val="0"/>
              </a:spcAft>
              <a:buNone/>
            </a:pPr>
            <a:r>
              <a:rPr b="1" lang="en-GB">
                <a:solidFill>
                  <a:schemeClr val="dk1"/>
                </a:solidFill>
              </a:rPr>
              <a:t>Action</a:t>
            </a:r>
            <a:r>
              <a:rPr lang="en-GB">
                <a:solidFill>
                  <a:schemeClr val="dk1"/>
                </a:solidFill>
              </a:rPr>
              <a:t>: Execute the plan via Selenium/Appium (perform the click/scroll).</a:t>
            </a:r>
            <a:br>
              <a:rPr lang="en-GB">
                <a:solidFill>
                  <a:schemeClr val="dk1"/>
                </a:solidFill>
              </a:rPr>
            </a:br>
            <a:r>
              <a:rPr b="1" lang="en-GB">
                <a:solidFill>
                  <a:schemeClr val="dk1"/>
                </a:solidFill>
              </a:rPr>
              <a:t>Memory</a:t>
            </a:r>
            <a:r>
              <a:rPr lang="en-GB">
                <a:solidFill>
                  <a:schemeClr val="dk1"/>
                </a:solidFill>
              </a:rPr>
              <a:t>: Store previous states, actions, and detected bugs to avoid loops and learn over time.</a:t>
            </a:r>
            <a:endParaRPr>
              <a:solidFill>
                <a:schemeClr val="dk1"/>
              </a:solidFill>
            </a:endParaRPr>
          </a:p>
          <a:p>
            <a:pPr indent="0" lvl="0" marL="0" rtl="0" algn="l">
              <a:spcBef>
                <a:spcPts val="0"/>
              </a:spcBef>
              <a:spcAft>
                <a:spcPts val="0"/>
              </a:spcAft>
              <a:buNone/>
            </a:pPr>
            <a:br>
              <a:rPr lang="en-GB">
                <a:solidFill>
                  <a:schemeClr val="dk1"/>
                </a:solidFill>
              </a:rPr>
            </a:b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c5a766fd9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7c5a766fd9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3. </a:t>
            </a:r>
            <a:r>
              <a:rPr lang="en-GB" sz="1200">
                <a:solidFill>
                  <a:schemeClr val="dk1"/>
                </a:solidFill>
                <a:latin typeface="Roboto"/>
                <a:ea typeface="Roboto"/>
                <a:cs typeface="Roboto"/>
                <a:sym typeface="Roboto"/>
              </a:rPr>
              <a:t>Providers like Google Colab, AWS, or Azure allow resource scaling according to development needs and academic discounts, keeping operational costs low.</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c04946888_2_91:notes"/>
          <p:cNvSpPr/>
          <p:nvPr>
            <p:ph idx="2" type="sldImg"/>
          </p:nvPr>
        </p:nvSpPr>
        <p:spPr>
          <a:xfrm>
            <a:off x="399119" y="685488"/>
            <a:ext cx="6061316"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37c04946888_2_91:notes"/>
          <p:cNvSpPr txBox="1"/>
          <p:nvPr>
            <p:ph idx="1" type="body"/>
          </p:nvPr>
        </p:nvSpPr>
        <p:spPr>
          <a:xfrm>
            <a:off x="686590" y="4344026"/>
            <a:ext cx="5486400" cy="4114488"/>
          </a:xfrm>
          <a:prstGeom prst="rect">
            <a:avLst/>
          </a:prstGeom>
          <a:noFill/>
          <a:ln>
            <a:noFill/>
          </a:ln>
        </p:spPr>
        <p:txBody>
          <a:bodyPr anchorCtr="0" anchor="t" bIns="44800" lIns="89600" spcFirstLastPara="1" rIns="89600" wrap="square" tIns="44800">
            <a:noAutofit/>
          </a:bodyPr>
          <a:lstStyle/>
          <a:p>
            <a:pPr indent="0" lvl="0" marL="0" rtl="0" algn="l">
              <a:spcBef>
                <a:spcPts val="0"/>
              </a:spcBef>
              <a:spcAft>
                <a:spcPts val="0"/>
              </a:spcAft>
              <a:buNone/>
            </a:pPr>
            <a:r>
              <a:t/>
            </a:r>
            <a:endParaRPr sz="1400"/>
          </a:p>
        </p:txBody>
      </p:sp>
      <p:sp>
        <p:nvSpPr>
          <p:cNvPr id="206" name="Google Shape;206;g37c04946888_2_91:notes"/>
          <p:cNvSpPr txBox="1"/>
          <p:nvPr>
            <p:ph idx="12" type="sldNum"/>
          </p:nvPr>
        </p:nvSpPr>
        <p:spPr>
          <a:xfrm>
            <a:off x="3883828" y="8684926"/>
            <a:ext cx="2972590" cy="457513"/>
          </a:xfrm>
          <a:prstGeom prst="rect">
            <a:avLst/>
          </a:prstGeom>
          <a:noFill/>
          <a:ln>
            <a:noFill/>
          </a:ln>
        </p:spPr>
        <p:txBody>
          <a:bodyPr anchorCtr="0" anchor="b" bIns="44800" lIns="89600" spcFirstLastPara="1" rIns="89600" wrap="square" tIns="44800">
            <a:noAutofit/>
          </a:bodyPr>
          <a:lstStyle/>
          <a:p>
            <a:pPr indent="0" lvl="0" marL="0" rtl="0" algn="r">
              <a:spcBef>
                <a:spcPts val="0"/>
              </a:spcBef>
              <a:spcAft>
                <a:spcPts val="0"/>
              </a:spcAft>
              <a:buNone/>
            </a:pPr>
            <a:fld id="{00000000-1234-1234-1234-123412341234}" type="slidenum">
              <a:rPr lang="en-GB" sz="1400"/>
              <a:t>‹#›</a:t>
            </a:fld>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c62475ab0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c62475ab0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c62475ab0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7c62475ab0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c62475ab0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c62475ab0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c62475ab0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7c62475ab0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7c04946888_2_98:notes"/>
          <p:cNvSpPr/>
          <p:nvPr>
            <p:ph idx="2" type="sldImg"/>
          </p:nvPr>
        </p:nvSpPr>
        <p:spPr>
          <a:xfrm>
            <a:off x="399119" y="685488"/>
            <a:ext cx="6061316"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7c04946888_2_98:notes"/>
          <p:cNvSpPr txBox="1"/>
          <p:nvPr>
            <p:ph idx="1" type="body"/>
          </p:nvPr>
        </p:nvSpPr>
        <p:spPr>
          <a:xfrm>
            <a:off x="686590" y="4344026"/>
            <a:ext cx="5486400" cy="4114488"/>
          </a:xfrm>
          <a:prstGeom prst="rect">
            <a:avLst/>
          </a:prstGeom>
          <a:noFill/>
          <a:ln>
            <a:noFill/>
          </a:ln>
        </p:spPr>
        <p:txBody>
          <a:bodyPr anchorCtr="0" anchor="t" bIns="44800" lIns="89600" spcFirstLastPara="1" rIns="89600" wrap="square" tIns="44800">
            <a:noAutofit/>
          </a:bodyPr>
          <a:lstStyle/>
          <a:p>
            <a:pPr indent="-298450" lvl="0" marL="457200" rtl="0" algn="l">
              <a:lnSpc>
                <a:spcPct val="115000"/>
              </a:lnSpc>
              <a:spcBef>
                <a:spcPts val="1200"/>
              </a:spcBef>
              <a:spcAft>
                <a:spcPts val="0"/>
              </a:spcAft>
              <a:buClr>
                <a:schemeClr val="dk1"/>
              </a:buClr>
              <a:buSzPts val="1100"/>
              <a:buChar char="●"/>
            </a:pPr>
            <a:r>
              <a:rPr b="1" lang="en-GB">
                <a:solidFill>
                  <a:schemeClr val="dk1"/>
                </a:solidFill>
              </a:rPr>
              <a:t>Multimodal Perception Layer</a:t>
            </a:r>
            <a:r>
              <a:rPr lang="en-GB">
                <a:solidFill>
                  <a:schemeClr val="dk1"/>
                </a:solidFill>
              </a:rPr>
              <a:t>: Screenshot analysis, DOM parsing, accessibility tree extraction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Autonomous Agent Core</a:t>
            </a:r>
            <a:r>
              <a:rPr lang="en-GB">
                <a:solidFill>
                  <a:schemeClr val="dk1"/>
                </a:solidFill>
              </a:rPr>
              <a:t>: Decision-making engine using LLM-based reasoning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Action Execution Engine</a:t>
            </a:r>
            <a:r>
              <a:rPr lang="en-GB">
                <a:solidFill>
                  <a:schemeClr val="dk1"/>
                </a:solidFill>
              </a:rPr>
              <a:t>: Interface with Playwright/Appium for cross-platform automation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State Management System</a:t>
            </a:r>
            <a:r>
              <a:rPr lang="en-GB">
                <a:solidFill>
                  <a:schemeClr val="dk1"/>
                </a:solidFill>
              </a:rPr>
              <a:t>: Graph-based exploration with intelligent backtracking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Issue Detection Pipeline</a:t>
            </a:r>
            <a:r>
              <a:rPr lang="en-GB">
                <a:solidFill>
                  <a:schemeClr val="dk1"/>
                </a:solidFill>
              </a:rPr>
              <a:t>: Multi-confidence scoring with pattern recognition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Big Data Infrastructure</a:t>
            </a:r>
            <a:r>
              <a:rPr lang="en-GB">
                <a:solidFill>
                  <a:schemeClr val="dk1"/>
                </a:solidFill>
              </a:rPr>
              <a:t>: Kafka for real-time coordination, Redis for state caching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Agent Workflow Design: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Observation → Understanding → Planning → Action → Learning cycle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Multi-persona simulation framework for different user types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Exploration strategy with budget-based loop prevention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Dynamic objective formation based on discovered application features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Data Flow Architecture: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Real-time state streaming and coordination between multiple agents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Historical pattern storage and retrieval for learned behaviors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Confidence scoring aggregation from multiple detection methods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0" lvl="0" marL="457200" rtl="0" algn="l">
              <a:lnSpc>
                <a:spcPct val="115000"/>
              </a:lnSpc>
              <a:spcBef>
                <a:spcPts val="1200"/>
              </a:spcBef>
              <a:spcAft>
                <a:spcPts val="0"/>
              </a:spcAft>
              <a:buNone/>
            </a:pPr>
            <a:r>
              <a:rPr lang="en-GB">
                <a:solidFill>
                  <a:schemeClr val="dk1"/>
                </a:solidFill>
              </a:rPr>
              <a:t>Create a standardized way to represent any UI state (mobile or web)</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Combine visual features + structural hierarchy + interaction affordances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Think: "This screen allows login, navigation to signup, or password reset"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Step 3: Action Space Definition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Map out all possible interactions: tap, swipe, type, voice commands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Build the interface between your AI agent and automation tools (Appium, Playwright)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Build a pipeline that takes screenshots + DOM/component hierarchy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Extract semantic information: "This is a login form with username field, password field, submit button"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Use your RICO dataset to validate that the system correctly identifies UI components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Step 2: State Representation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Create a standardized way to represent any UI state (mobile or web)</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Combine visual features + structural hierarchy + interaction affordances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Think: "This screen allows login, navigation to signup, or password reset"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Step 3: Action Space Definition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Map out all possible interactions: tap, swipe, type, voice commands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Build the interface between your AI agent and automation tools (Appium, Playwright)</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rPr>
              <a:t>Phase 3: Autonomous Agent Development (Months 2-4)</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Agent Architecture: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Perception Module</a:t>
            </a:r>
            <a:r>
              <a:rPr lang="en-GB">
                <a:solidFill>
                  <a:schemeClr val="dk1"/>
                </a:solidFill>
              </a:rPr>
              <a:t>: Takes screenshot + DOM, outputs current state understanding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Planning Module</a:t>
            </a:r>
            <a:r>
              <a:rPr lang="en-GB">
                <a:solidFill>
                  <a:schemeClr val="dk1"/>
                </a:solidFill>
              </a:rPr>
              <a:t>: Decides what to test next based on exploration strategy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Action Module</a:t>
            </a:r>
            <a:r>
              <a:rPr lang="en-GB">
                <a:solidFill>
                  <a:schemeClr val="dk1"/>
                </a:solidFill>
              </a:rPr>
              <a:t>: Executes the chosen action via automation tools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Memory Module</a:t>
            </a:r>
            <a:r>
              <a:rPr lang="en-GB">
                <a:solidFill>
                  <a:schemeClr val="dk1"/>
                </a:solidFill>
              </a:rPr>
              <a:t>: Tracks visited states, discovered issues, learned patterns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Training Strategy: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Start with </a:t>
            </a:r>
            <a:r>
              <a:rPr b="1" lang="en-GB">
                <a:solidFill>
                  <a:schemeClr val="dk1"/>
                </a:solidFill>
              </a:rPr>
              <a:t>behavioral cloning</a:t>
            </a:r>
            <a:r>
              <a:rPr lang="en-GB">
                <a:solidFill>
                  <a:schemeClr val="dk1"/>
                </a:solidFill>
              </a:rPr>
              <a:t> on your datasets: "Given this UI state, what would a human tester do next?"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Use RICO dataset to teach exploration patterns: "After login screen, users typically go to home screen or profile"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Gradually add </a:t>
            </a:r>
            <a:r>
              <a:rPr b="1" lang="en-GB">
                <a:solidFill>
                  <a:schemeClr val="dk1"/>
                </a:solidFill>
              </a:rPr>
              <a:t>reinforcement learning</a:t>
            </a:r>
            <a:r>
              <a:rPr lang="en-GB">
                <a:solidFill>
                  <a:schemeClr val="dk1"/>
                </a:solidFill>
              </a:rPr>
              <a:t> to optimize exploration efficiency</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rPr>
              <a:t>Phase 4: Issue Detection System (Months 3-5)</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Multi-Layer Detection: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Objective Layer</a:t>
            </a:r>
            <a:r>
              <a:rPr lang="en-GB">
                <a:solidFill>
                  <a:schemeClr val="dk1"/>
                </a:solidFill>
              </a:rPr>
              <a:t>: Accessibility violations, broken links, loading failures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Heuristic Layer</a:t>
            </a:r>
            <a:r>
              <a:rPr lang="en-GB">
                <a:solidFill>
                  <a:schemeClr val="dk1"/>
                </a:solidFill>
              </a:rPr>
              <a:t>: UI design principles (contrast, alignment, hierarchy)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Pattern Layer</a:t>
            </a:r>
            <a:r>
              <a:rPr lang="en-GB">
                <a:solidFill>
                  <a:schemeClr val="dk1"/>
                </a:solidFill>
              </a:rPr>
              <a:t>: Learn from your datasets what "problematic" UI patterns look like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Validation Process: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Use your WebUI crawls to create a ground truth dataset of "known good" vs "problematic" UIs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Start with obvious issues (overlapping text, unclickable buttons) before moving to subtle UX problems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sz="1400"/>
          </a:p>
        </p:txBody>
      </p:sp>
      <p:sp>
        <p:nvSpPr>
          <p:cNvPr id="234" name="Google Shape;234;g37c04946888_2_98:notes"/>
          <p:cNvSpPr txBox="1"/>
          <p:nvPr>
            <p:ph idx="12" type="sldNum"/>
          </p:nvPr>
        </p:nvSpPr>
        <p:spPr>
          <a:xfrm>
            <a:off x="3883828" y="8684926"/>
            <a:ext cx="2972590" cy="457513"/>
          </a:xfrm>
          <a:prstGeom prst="rect">
            <a:avLst/>
          </a:prstGeom>
          <a:noFill/>
          <a:ln>
            <a:noFill/>
          </a:ln>
        </p:spPr>
        <p:txBody>
          <a:bodyPr anchorCtr="0" anchor="b" bIns="44800" lIns="89600" spcFirstLastPara="1" rIns="89600" wrap="square" tIns="44800">
            <a:noAutofit/>
          </a:bodyPr>
          <a:lstStyle/>
          <a:p>
            <a:pPr indent="0" lvl="0" marL="0" rtl="0" algn="r">
              <a:spcBef>
                <a:spcPts val="0"/>
              </a:spcBef>
              <a:spcAft>
                <a:spcPts val="0"/>
              </a:spcAft>
              <a:buNone/>
            </a:pPr>
            <a:fld id="{00000000-1234-1234-1234-123412341234}" type="slidenum">
              <a:rPr lang="en-GB" sz="1400"/>
              <a:t>‹#›</a:t>
            </a:fld>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c446d4c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7c446d4c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Multi-Layer Detection: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Objective Layer</a:t>
            </a:r>
            <a:r>
              <a:rPr lang="en-GB">
                <a:solidFill>
                  <a:schemeClr val="dk1"/>
                </a:solidFill>
              </a:rPr>
              <a:t>: Accessibility violations, broken links, loading failures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Heuristic Layer</a:t>
            </a:r>
            <a:r>
              <a:rPr lang="en-GB">
                <a:solidFill>
                  <a:schemeClr val="dk1"/>
                </a:solidFill>
              </a:rPr>
              <a:t>: UI design principles (contrast, alignment, hierarchy)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Pattern Layer</a:t>
            </a:r>
            <a:r>
              <a:rPr lang="en-GB">
                <a:solidFill>
                  <a:schemeClr val="dk1"/>
                </a:solidFill>
              </a:rPr>
              <a:t>: Learn from your datasets what "problematic" UI patterns look like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Validation Process: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Use your WebUI crawls to create a ground truth dataset of "known good" vs "problematic" UIs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Start with obvious issues (overlapping text, unclickable buttons) before moving to subtle UX problems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7c7d0214a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7c7d0214a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7c677c563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7c677c563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8876279984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8876279984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Build </a:t>
            </a:r>
            <a:r>
              <a:rPr b="1" lang="en-GB">
                <a:solidFill>
                  <a:schemeClr val="dk1"/>
                </a:solidFill>
              </a:rPr>
              <a:t>multi-label datasets</a:t>
            </a:r>
            <a:r>
              <a:rPr lang="en-GB">
                <a:solidFill>
                  <a:schemeClr val="dk1"/>
                </a:solidFill>
              </a:rPr>
              <a:t> where each session is tagged with </a:t>
            </a:r>
            <a:r>
              <a:rPr i="1" lang="en-GB">
                <a:solidFill>
                  <a:schemeClr val="dk1"/>
                </a:solidFill>
              </a:rPr>
              <a:t>input modality</a:t>
            </a:r>
            <a:r>
              <a:rPr lang="en-GB">
                <a:solidFill>
                  <a:schemeClr val="dk1"/>
                </a:solidFill>
              </a:rPr>
              <a:t>, </a:t>
            </a:r>
            <a:r>
              <a:rPr i="1" lang="en-GB">
                <a:solidFill>
                  <a:schemeClr val="dk1"/>
                </a:solidFill>
              </a:rPr>
              <a:t>interaction outcome (success/failure)</a:t>
            </a:r>
            <a:r>
              <a:rPr lang="en-GB">
                <a:solidFill>
                  <a:schemeClr val="dk1"/>
                </a:solidFill>
              </a:rPr>
              <a:t>, and </a:t>
            </a:r>
            <a:r>
              <a:rPr i="1" lang="en-GB">
                <a:solidFill>
                  <a:schemeClr val="dk1"/>
                </a:solidFill>
              </a:rPr>
              <a:t>context</a:t>
            </a:r>
            <a:r>
              <a:rPr lang="en-GB">
                <a:solidFill>
                  <a:schemeClr val="dk1"/>
                </a:solidFill>
              </a:rPr>
              <a:t>.</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Train/test models for </a:t>
            </a:r>
            <a:r>
              <a:rPr b="1" lang="en-GB">
                <a:solidFill>
                  <a:schemeClr val="dk1"/>
                </a:solidFill>
              </a:rPr>
              <a:t>error detection, modality switching prediction, or accessibility robustness testing</a:t>
            </a:r>
            <a:r>
              <a:rPr lang="en-GB">
                <a:solidFill>
                  <a:schemeClr val="dk1"/>
                </a:solidFill>
              </a:rPr>
              <a: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7c7d0214a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7c7d0214a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5e69c64f0f3bcb04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5e69c64f0f3bcb04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Brief overview of a research paper titled "LLM-powered Multimodal Insight Summarization for UX Testing" published in 2024 by Kelsey Turbeville, Ranjitha Kumar and colleagues.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User experience testing platforms collect a wide variety of data including clickstream behavior, survey responses, screen recordings, and participants’ think-aloud audio. Analyzing these diverse multimodal data streams has traditionally been a labor-intensive manual process for UX researchers.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paper proposes a novel use of large language models, or LLMs, to automate the generation of insights from these multimodal UX test data. The authors developed a two-stage approach: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First, they use LLMs to convert each individual user session into a multimodal transcript that weaves together the verbal feedback, user interactions, and UI design data into a natural language narrative.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Then, they pass all these individual session transcripts to a second LLM prompt that synthesizes them into a summative insight report capturing common themes, differences, and usability issues found across participants.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One key feature is that each insight can be traced back to the original behavioral and verbal evidence, enabling UX researchers to quickly verify and contextualize the findings.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system was deployed in a real-world UX testing platform called UserTesting, where it was used to summarize over 75,000 studies involving thousands of researchers. Users reported that the LLM-generated summaries greatly reduced their time-to-insight and helped them identify key usability issues faster.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However, the authors also noted challenges around accurate counting by LLMs, transcription errors impacting insight quality, and the need for more customizable summaries tailored to specific research goals. They suggest future work could improve counting accuracy with rule-based methods, explore multimodal LLMs for direct video and audio understanding, and add user controls for filtering and editing insights.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summary, this paper contributes an innovative LLM-driven pipeline for scalable, traceable, and multimodal UX data analysis, which can substantially accelerate user research workflows while maintaining transparency and accuracy.</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5e69c64f0f3bcb0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5e69c64f0f3bcb0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BC agents train fastest (0.2 hours) but have limited performance, while DQN agents achieve higher maximum rewards (24/27) but require longer training (5.5 hours). Transfer learning (DQNtf) provides optimal balance, reaching high performance in 2 hours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5e69c64f0f3bcb0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5e69c64f0f3bcb0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5e69c64f0f3bcb04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5e69c64f0f3bcb04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5e69c64f0f3bcb0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5e69c64f0f3bcb04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7c04946888_2_111:notes"/>
          <p:cNvSpPr txBox="1"/>
          <p:nvPr>
            <p:ph idx="1" type="body"/>
          </p:nvPr>
        </p:nvSpPr>
        <p:spPr>
          <a:xfrm>
            <a:off x="686590" y="4344026"/>
            <a:ext cx="5486400" cy="4114488"/>
          </a:xfrm>
          <a:prstGeom prst="rect">
            <a:avLst/>
          </a:prstGeom>
        </p:spPr>
        <p:txBody>
          <a:bodyPr anchorCtr="0" anchor="t" bIns="89600" lIns="89600" spcFirstLastPara="1" rIns="89600" wrap="square" tIns="89600">
            <a:noAutofit/>
          </a:bodyPr>
          <a:lstStyle/>
          <a:p>
            <a:pPr indent="0" lvl="0" marL="0" rtl="0" algn="l">
              <a:spcBef>
                <a:spcPts val="0"/>
              </a:spcBef>
              <a:spcAft>
                <a:spcPts val="0"/>
              </a:spcAft>
              <a:buNone/>
            </a:pPr>
            <a:r>
              <a:t/>
            </a:r>
            <a:endParaRPr/>
          </a:p>
        </p:txBody>
      </p:sp>
      <p:sp>
        <p:nvSpPr>
          <p:cNvPr id="298" name="Google Shape;298;g37c04946888_2_111:notes"/>
          <p:cNvSpPr/>
          <p:nvPr>
            <p:ph idx="2" type="sldImg"/>
          </p:nvPr>
        </p:nvSpPr>
        <p:spPr>
          <a:xfrm>
            <a:off x="399119" y="685488"/>
            <a:ext cx="6061316"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7c04946888_2_117:notes"/>
          <p:cNvSpPr txBox="1"/>
          <p:nvPr>
            <p:ph idx="1" type="body"/>
          </p:nvPr>
        </p:nvSpPr>
        <p:spPr>
          <a:xfrm>
            <a:off x="686590" y="4344026"/>
            <a:ext cx="5486400" cy="4114488"/>
          </a:xfrm>
          <a:prstGeom prst="rect">
            <a:avLst/>
          </a:prstGeom>
        </p:spPr>
        <p:txBody>
          <a:bodyPr anchorCtr="0" anchor="t" bIns="89600" lIns="89600" spcFirstLastPara="1" rIns="89600" wrap="square" tIns="89600">
            <a:noAutofit/>
          </a:bodyPr>
          <a:lstStyle/>
          <a:p>
            <a:pPr indent="0" lvl="0" marL="0" rtl="0" algn="l">
              <a:spcBef>
                <a:spcPts val="0"/>
              </a:spcBef>
              <a:spcAft>
                <a:spcPts val="0"/>
              </a:spcAft>
              <a:buNone/>
            </a:pPr>
            <a:r>
              <a:t/>
            </a:r>
            <a:endParaRPr/>
          </a:p>
        </p:txBody>
      </p:sp>
      <p:sp>
        <p:nvSpPr>
          <p:cNvPr id="305" name="Google Shape;305;g37c04946888_2_117:notes"/>
          <p:cNvSpPr/>
          <p:nvPr>
            <p:ph idx="2" type="sldImg"/>
          </p:nvPr>
        </p:nvSpPr>
        <p:spPr>
          <a:xfrm>
            <a:off x="399119" y="685488"/>
            <a:ext cx="6061316"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4" name="Google Shape;64;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1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 name="Google Shape;69;p16"/>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 name="Google Shape;70;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17"/>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7"/>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6" name="Google Shape;76;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9" name="Shape 79"/>
        <p:cNvGrpSpPr/>
        <p:nvPr/>
      </p:nvGrpSpPr>
      <p:grpSpPr>
        <a:xfrm>
          <a:off x="0" y="0"/>
          <a:ext cx="0" cy="0"/>
          <a:chOff x="0" y="0"/>
          <a:chExt cx="0" cy="0"/>
        </a:xfrm>
      </p:grpSpPr>
      <p:sp>
        <p:nvSpPr>
          <p:cNvPr id="80" name="Google Shape;80;p1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8"/>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2" name="Google Shape;82;p18"/>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3" name="Google Shape;83;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19"/>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19"/>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9" name="Google Shape;89;p19"/>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19"/>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1" name="Google Shape;91;p1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sp>
        <p:nvSpPr>
          <p:cNvPr id="96" name="Google Shape;96;p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7" name="Google Shape;97;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0" name="Shape 100"/>
        <p:cNvGrpSpPr/>
        <p:nvPr/>
      </p:nvGrpSpPr>
      <p:grpSpPr>
        <a:xfrm>
          <a:off x="0" y="0"/>
          <a:ext cx="0" cy="0"/>
          <a:chOff x="0" y="0"/>
          <a:chExt cx="0" cy="0"/>
        </a:xfrm>
      </p:grpSpPr>
      <p:sp>
        <p:nvSpPr>
          <p:cNvPr id="101" name="Google Shape;101;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3" name="Google Shape;103;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4" name="Google Shape;104;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2"/>
          <p:cNvSpPr/>
          <p:nvPr>
            <p:ph idx="2" type="pic"/>
          </p:nvPr>
        </p:nvSpPr>
        <p:spPr>
          <a:xfrm>
            <a:off x="3887391" y="740569"/>
            <a:ext cx="4629150" cy="3655219"/>
          </a:xfrm>
          <a:prstGeom prst="rect">
            <a:avLst/>
          </a:prstGeom>
          <a:noFill/>
          <a:ln>
            <a:noFill/>
          </a:ln>
        </p:spPr>
      </p:sp>
      <p:sp>
        <p:nvSpPr>
          <p:cNvPr id="110" name="Google Shape;110;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1" name="Google Shape;111;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theme" Target="../theme/theme3.xml"/><Relationship Id="rId10" Type="http://schemas.openxmlformats.org/officeDocument/2006/relationships/slideLayout" Target="../slideLayouts/slideLayout20.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spcAft>
                <a:spcPts val="0"/>
              </a:spcAft>
              <a:buNone/>
              <a:defRPr b="0" i="0" sz="900" u="none" cap="none" strike="noStrike">
                <a:solidFill>
                  <a:srgbClr val="888888"/>
                </a:solidFill>
                <a:latin typeface="Arial"/>
                <a:ea typeface="Arial"/>
                <a:cs typeface="Arial"/>
                <a:sym typeface="Arial"/>
              </a:defRPr>
            </a:lvl1pPr>
            <a:lvl2pPr indent="0" lvl="1" marL="0" marR="0" rtl="0" algn="r">
              <a:spcBef>
                <a:spcPts val="0"/>
              </a:spcBef>
              <a:spcAft>
                <a:spcPts val="0"/>
              </a:spcAft>
              <a:buNone/>
              <a:defRPr b="0" i="0" sz="900" u="none" cap="none" strike="noStrike">
                <a:solidFill>
                  <a:srgbClr val="888888"/>
                </a:solidFill>
                <a:latin typeface="Arial"/>
                <a:ea typeface="Arial"/>
                <a:cs typeface="Arial"/>
                <a:sym typeface="Arial"/>
              </a:defRPr>
            </a:lvl2pPr>
            <a:lvl3pPr indent="0" lvl="2" marL="0" marR="0" rtl="0" algn="r">
              <a:spcBef>
                <a:spcPts val="0"/>
              </a:spcBef>
              <a:spcAft>
                <a:spcPts val="0"/>
              </a:spcAft>
              <a:buNone/>
              <a:defRPr b="0" i="0" sz="900" u="none" cap="none" strike="noStrike">
                <a:solidFill>
                  <a:srgbClr val="888888"/>
                </a:solidFill>
                <a:latin typeface="Arial"/>
                <a:ea typeface="Arial"/>
                <a:cs typeface="Arial"/>
                <a:sym typeface="Arial"/>
              </a:defRPr>
            </a:lvl3pPr>
            <a:lvl4pPr indent="0" lvl="3" marL="0" marR="0" rtl="0" algn="r">
              <a:spcBef>
                <a:spcPts val="0"/>
              </a:spcBef>
              <a:spcAft>
                <a:spcPts val="0"/>
              </a:spcAft>
              <a:buNone/>
              <a:defRPr b="0" i="0" sz="900" u="none" cap="none" strike="noStrike">
                <a:solidFill>
                  <a:srgbClr val="888888"/>
                </a:solidFill>
                <a:latin typeface="Arial"/>
                <a:ea typeface="Arial"/>
                <a:cs typeface="Arial"/>
                <a:sym typeface="Arial"/>
              </a:defRPr>
            </a:lvl4pPr>
            <a:lvl5pPr indent="0" lvl="4" marL="0" marR="0" rtl="0" algn="r">
              <a:spcBef>
                <a:spcPts val="0"/>
              </a:spcBef>
              <a:spcAft>
                <a:spcPts val="0"/>
              </a:spcAft>
              <a:buNone/>
              <a:defRPr b="0" i="0" sz="900" u="none" cap="none" strike="noStrike">
                <a:solidFill>
                  <a:srgbClr val="888888"/>
                </a:solidFill>
                <a:latin typeface="Arial"/>
                <a:ea typeface="Arial"/>
                <a:cs typeface="Arial"/>
                <a:sym typeface="Arial"/>
              </a:defRPr>
            </a:lvl5pPr>
            <a:lvl6pPr indent="0" lvl="5" marL="0" marR="0" rtl="0" algn="r">
              <a:spcBef>
                <a:spcPts val="0"/>
              </a:spcBef>
              <a:spcAft>
                <a:spcPts val="0"/>
              </a:spcAft>
              <a:buNone/>
              <a:defRPr b="0" i="0" sz="900" u="none" cap="none" strike="noStrike">
                <a:solidFill>
                  <a:srgbClr val="888888"/>
                </a:solidFill>
                <a:latin typeface="Arial"/>
                <a:ea typeface="Arial"/>
                <a:cs typeface="Arial"/>
                <a:sym typeface="Arial"/>
              </a:defRPr>
            </a:lvl6pPr>
            <a:lvl7pPr indent="0" lvl="6" marL="0" marR="0" rtl="0" algn="r">
              <a:spcBef>
                <a:spcPts val="0"/>
              </a:spcBef>
              <a:spcAft>
                <a:spcPts val="0"/>
              </a:spcAft>
              <a:buNone/>
              <a:defRPr b="0" i="0" sz="900" u="none" cap="none" strike="noStrike">
                <a:solidFill>
                  <a:srgbClr val="888888"/>
                </a:solidFill>
                <a:latin typeface="Arial"/>
                <a:ea typeface="Arial"/>
                <a:cs typeface="Arial"/>
                <a:sym typeface="Arial"/>
              </a:defRPr>
            </a:lvl7pPr>
            <a:lvl8pPr indent="0" lvl="7" marL="0" marR="0" rtl="0" algn="r">
              <a:spcBef>
                <a:spcPts val="0"/>
              </a:spcBef>
              <a:spcAft>
                <a:spcPts val="0"/>
              </a:spcAft>
              <a:buNone/>
              <a:defRPr b="0" i="0" sz="900" u="none" cap="none" strike="noStrike">
                <a:solidFill>
                  <a:srgbClr val="888888"/>
                </a:solidFill>
                <a:latin typeface="Arial"/>
                <a:ea typeface="Arial"/>
                <a:cs typeface="Arial"/>
                <a:sym typeface="Arial"/>
              </a:defRPr>
            </a:lvl8pPr>
            <a:lvl9pPr indent="0" lvl="8" marL="0" marR="0" rtl="0" algn="r">
              <a:spcBef>
                <a:spcPts val="0"/>
              </a:spcBef>
              <a:spcAft>
                <a:spcPts val="0"/>
              </a:spcAft>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descr="PESSAT - All India Online Entrance Exam for Admission to PES University" id="56" name="Google Shape;56;p13"/>
          <p:cNvPicPr preferRelativeResize="0"/>
          <p:nvPr/>
        </p:nvPicPr>
        <p:blipFill rotWithShape="1">
          <a:blip r:embed="rId1">
            <a:alphaModFix/>
          </a:blip>
          <a:srcRect b="0" l="0" r="0" t="0"/>
          <a:stretch/>
        </p:blipFill>
        <p:spPr>
          <a:xfrm>
            <a:off x="7625502" y="273844"/>
            <a:ext cx="871538" cy="4000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www.nature.com/articles/s41436-021-01148-3"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hyperlink" Target="https://www.testhouse.net/blogs/10-ways-to-reduce-test-automation-script-failure-rates/" TargetMode="External"/><Relationship Id="rId4" Type="http://schemas.openxmlformats.org/officeDocument/2006/relationships/hyperlink" Target="https://kms-solutions.asia/blogs/reasons-why-your-test-automation-project-fail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hyperlink" Target="https://github.com/Khang-9966/Computer-Browser-Phone-Use-Agent-Datasets?tab=readme-ov-fil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hyperlink" Target="https://www.qavalley.com/the-rise-of-self-healing-automation-in-software-testing/?utm_source=chatgpt.com" TargetMode="External"/><Relationship Id="rId4" Type="http://schemas.openxmlformats.org/officeDocument/2006/relationships/hyperlink" Target="https://www.reddit.com/r/softwaretesting/comments/zbs5vp?utm_source=chatgpt.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3"/>
          <p:cNvPicPr preferRelativeResize="0"/>
          <p:nvPr/>
        </p:nvPicPr>
        <p:blipFill>
          <a:blip r:embed="rId3">
            <a:alphaModFix/>
          </a:blip>
          <a:stretch>
            <a:fillRect/>
          </a:stretch>
        </p:blipFill>
        <p:spPr>
          <a:xfrm>
            <a:off x="152400" y="152400"/>
            <a:ext cx="8839200" cy="417805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p:nvPr/>
        </p:nvSpPr>
        <p:spPr>
          <a:xfrm>
            <a:off x="1341775" y="837606"/>
            <a:ext cx="5943600" cy="392400"/>
          </a:xfrm>
          <a:prstGeom prst="rect">
            <a:avLst/>
          </a:prstGeom>
          <a:noFill/>
          <a:ln>
            <a:noFill/>
          </a:ln>
        </p:spPr>
        <p:txBody>
          <a:bodyPr anchorCtr="0" anchor="t" bIns="34275" lIns="68575" spcFirstLastPara="1" rIns="68575" wrap="square" tIns="34275">
            <a:noAutofit/>
          </a:bodyPr>
          <a:lstStyle/>
          <a:p>
            <a:pPr indent="-254000" lvl="0" marL="254000" marR="0" rtl="0" algn="r">
              <a:spcBef>
                <a:spcPts val="0"/>
              </a:spcBef>
              <a:spcAft>
                <a:spcPts val="0"/>
              </a:spcAft>
              <a:buNone/>
            </a:pPr>
            <a:r>
              <a:rPr b="1" i="0" lang="en-GB" sz="2100" u="none" cap="none" strike="noStrike">
                <a:solidFill>
                  <a:srgbClr val="FF0000"/>
                </a:solidFill>
                <a:latin typeface="Trebuchet MS"/>
                <a:ea typeface="Trebuchet MS"/>
                <a:cs typeface="Trebuchet MS"/>
                <a:sym typeface="Trebuchet MS"/>
              </a:rPr>
              <a:t>UE23CS320A</a:t>
            </a:r>
            <a:r>
              <a:rPr b="0" i="0" lang="en-GB" sz="2100" u="none" cap="none" strike="noStrike">
                <a:solidFill>
                  <a:schemeClr val="dk1"/>
                </a:solidFill>
                <a:latin typeface="Arial"/>
                <a:ea typeface="Arial"/>
                <a:cs typeface="Arial"/>
                <a:sym typeface="Arial"/>
              </a:rPr>
              <a:t> </a:t>
            </a:r>
            <a:r>
              <a:rPr b="1" i="0" lang="en-GB" sz="2100" u="none" cap="none" strike="noStrike">
                <a:solidFill>
                  <a:srgbClr val="FF0000"/>
                </a:solidFill>
                <a:latin typeface="Trebuchet MS"/>
                <a:ea typeface="Trebuchet MS"/>
                <a:cs typeface="Trebuchet MS"/>
                <a:sym typeface="Trebuchet MS"/>
              </a:rPr>
              <a:t>– Capstone Project Approval</a:t>
            </a:r>
            <a:endParaRPr b="1" i="0" sz="2100" u="none" cap="none" strike="noStrike">
              <a:solidFill>
                <a:srgbClr val="FF0000"/>
              </a:solidFill>
              <a:latin typeface="Trebuchet MS"/>
              <a:ea typeface="Trebuchet MS"/>
              <a:cs typeface="Trebuchet MS"/>
              <a:sym typeface="Trebuchet MS"/>
            </a:endParaRPr>
          </a:p>
        </p:txBody>
      </p:sp>
      <p:sp>
        <p:nvSpPr>
          <p:cNvPr id="124" name="Google Shape;124;p24"/>
          <p:cNvSpPr txBox="1"/>
          <p:nvPr/>
        </p:nvSpPr>
        <p:spPr>
          <a:xfrm>
            <a:off x="1341775" y="2135350"/>
            <a:ext cx="7216800" cy="2433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GB" sz="1800" u="none" cap="none" strike="noStrike">
                <a:solidFill>
                  <a:srgbClr val="0033CC"/>
                </a:solidFill>
                <a:latin typeface="Trebuchet MS"/>
                <a:ea typeface="Trebuchet MS"/>
                <a:cs typeface="Trebuchet MS"/>
                <a:sym typeface="Trebuchet MS"/>
              </a:rPr>
              <a:t>Project Title   : </a:t>
            </a:r>
            <a:r>
              <a:rPr lang="en-GB" sz="1800">
                <a:solidFill>
                  <a:srgbClr val="0033CC"/>
                </a:solidFill>
                <a:latin typeface="Trebuchet MS"/>
                <a:ea typeface="Trebuchet MS"/>
                <a:cs typeface="Trebuchet MS"/>
                <a:sym typeface="Trebuchet MS"/>
              </a:rPr>
              <a:t>AI-Assisted Test Case Generation for Mobile and Web UI/UX Applications</a:t>
            </a:r>
            <a:endParaRPr sz="1800">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rPr b="0" i="0" lang="en-GB" sz="1800" u="none" cap="none" strike="noStrike">
                <a:solidFill>
                  <a:srgbClr val="0033CC"/>
                </a:solidFill>
                <a:latin typeface="Trebuchet MS"/>
                <a:ea typeface="Trebuchet MS"/>
                <a:cs typeface="Trebuchet MS"/>
                <a:sym typeface="Trebuchet MS"/>
              </a:rPr>
              <a:t>Project ID       : 101</a:t>
            </a:r>
            <a:endParaRPr b="0" i="0" sz="1800" u="none" cap="none" strike="noStrike">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rPr b="0" i="0" lang="en-GB" sz="1800" u="none" cap="none" strike="noStrike">
                <a:solidFill>
                  <a:srgbClr val="0033CC"/>
                </a:solidFill>
                <a:latin typeface="Trebuchet MS"/>
                <a:ea typeface="Trebuchet MS"/>
                <a:cs typeface="Trebuchet MS"/>
                <a:sym typeface="Trebuchet MS"/>
              </a:rPr>
              <a:t>Project Guide : Dr.Farida Beg</a:t>
            </a:r>
            <a:r>
              <a:rPr lang="en-GB" sz="1800">
                <a:solidFill>
                  <a:srgbClr val="0033CC"/>
                </a:solidFill>
                <a:latin typeface="Trebuchet MS"/>
                <a:ea typeface="Trebuchet MS"/>
                <a:cs typeface="Trebuchet MS"/>
                <a:sym typeface="Trebuchet MS"/>
              </a:rPr>
              <a:t>am</a:t>
            </a:r>
            <a:r>
              <a:rPr b="0" i="0" lang="en-GB" sz="1800" u="none" cap="none" strike="noStrike">
                <a:solidFill>
                  <a:srgbClr val="0033CC"/>
                </a:solidFill>
                <a:latin typeface="Trebuchet MS"/>
                <a:ea typeface="Trebuchet MS"/>
                <a:cs typeface="Trebuchet MS"/>
                <a:sym typeface="Trebuchet MS"/>
              </a:rPr>
              <a:t>                 </a:t>
            </a:r>
            <a:endParaRPr b="0" i="0" sz="1800" u="none" cap="none" strike="noStrike">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rPr b="0" i="0" lang="en-GB" sz="1800" u="none" cap="none" strike="noStrike">
                <a:solidFill>
                  <a:srgbClr val="0033CC"/>
                </a:solidFill>
                <a:latin typeface="Trebuchet MS"/>
                <a:ea typeface="Trebuchet MS"/>
                <a:cs typeface="Trebuchet MS"/>
                <a:sym typeface="Trebuchet MS"/>
              </a:rPr>
              <a:t>Project Team  : </a:t>
            </a:r>
            <a:r>
              <a:rPr lang="en-GB" sz="1800">
                <a:solidFill>
                  <a:srgbClr val="0033CC"/>
                </a:solidFill>
                <a:latin typeface="Trebuchet MS"/>
                <a:ea typeface="Trebuchet MS"/>
                <a:cs typeface="Trebuchet MS"/>
                <a:sym typeface="Trebuchet MS"/>
              </a:rPr>
              <a:t>Navya G N                  PES2UG23CS372</a:t>
            </a:r>
            <a:endParaRPr sz="1800">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rPr lang="en-GB" sz="1800">
                <a:solidFill>
                  <a:srgbClr val="0033CC"/>
                </a:solidFill>
                <a:latin typeface="Trebuchet MS"/>
                <a:ea typeface="Trebuchet MS"/>
                <a:cs typeface="Trebuchet MS"/>
                <a:sym typeface="Trebuchet MS"/>
              </a:rPr>
              <a:t>                        </a:t>
            </a:r>
            <a:r>
              <a:rPr b="0" i="0" lang="en-GB" sz="1800" u="none" cap="none" strike="noStrike">
                <a:solidFill>
                  <a:srgbClr val="0033CC"/>
                </a:solidFill>
                <a:latin typeface="Trebuchet MS"/>
                <a:ea typeface="Trebuchet MS"/>
                <a:cs typeface="Trebuchet MS"/>
                <a:sym typeface="Trebuchet MS"/>
              </a:rPr>
              <a:t>Nidhi K                     </a:t>
            </a:r>
            <a:r>
              <a:rPr lang="en-GB" sz="1800">
                <a:solidFill>
                  <a:srgbClr val="0033CC"/>
                </a:solidFill>
                <a:latin typeface="Trebuchet MS"/>
                <a:ea typeface="Trebuchet MS"/>
                <a:cs typeface="Trebuchet MS"/>
                <a:sym typeface="Trebuchet MS"/>
              </a:rPr>
              <a:t>  </a:t>
            </a:r>
            <a:r>
              <a:rPr b="0" i="0" lang="en-GB" sz="1800" u="none" cap="none" strike="noStrike">
                <a:solidFill>
                  <a:srgbClr val="0033CC"/>
                </a:solidFill>
                <a:latin typeface="Trebuchet MS"/>
                <a:ea typeface="Trebuchet MS"/>
                <a:cs typeface="Trebuchet MS"/>
                <a:sym typeface="Trebuchet MS"/>
              </a:rPr>
              <a:t>PES2UG23CS383</a:t>
            </a:r>
            <a:endParaRPr sz="1800">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rPr lang="en-GB" sz="1800">
                <a:solidFill>
                  <a:srgbClr val="0033CC"/>
                </a:solidFill>
                <a:latin typeface="Trebuchet MS"/>
                <a:ea typeface="Trebuchet MS"/>
                <a:cs typeface="Trebuchet MS"/>
                <a:sym typeface="Trebuchet MS"/>
              </a:rPr>
              <a:t>			    Nikita Kolathaya         PES2UG23CS387</a:t>
            </a:r>
            <a:endParaRPr sz="1800">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rPr lang="en-GB" sz="1800">
                <a:solidFill>
                  <a:srgbClr val="0033CC"/>
                </a:solidFill>
                <a:latin typeface="Trebuchet MS"/>
                <a:ea typeface="Trebuchet MS"/>
                <a:cs typeface="Trebuchet MS"/>
                <a:sym typeface="Trebuchet MS"/>
              </a:rPr>
              <a:t>			    Sandeep                     PES2UG23CS525</a:t>
            </a:r>
            <a:endParaRPr sz="1800">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t/>
            </a:r>
            <a:endParaRPr b="0" i="0" sz="1800" u="none" cap="none" strike="noStrike">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t/>
            </a:r>
            <a:endParaRPr b="0" i="0" sz="1800" u="none" cap="none" strike="noStrike">
              <a:solidFill>
                <a:srgbClr val="0033CC"/>
              </a:solidFill>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p:nvPr/>
        </p:nvSpPr>
        <p:spPr>
          <a:xfrm>
            <a:off x="2286000" y="1185866"/>
            <a:ext cx="5715000" cy="27385"/>
          </a:xfrm>
          <a:prstGeom prst="rect">
            <a:avLst/>
          </a:prstGeom>
          <a:solidFill>
            <a:srgbClr val="33CCC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31" name="Google Shape;131;p25"/>
          <p:cNvSpPr txBox="1"/>
          <p:nvPr/>
        </p:nvSpPr>
        <p:spPr>
          <a:xfrm>
            <a:off x="800100" y="1314450"/>
            <a:ext cx="6400800" cy="3543300"/>
          </a:xfrm>
          <a:prstGeom prst="rect">
            <a:avLst/>
          </a:prstGeom>
          <a:noFill/>
          <a:ln>
            <a:noFill/>
          </a:ln>
        </p:spPr>
        <p:txBody>
          <a:bodyPr anchorCtr="0" anchor="t" bIns="34275" lIns="68575" spcFirstLastPara="1" rIns="68575" wrap="square" tIns="34275">
            <a:noAutofit/>
          </a:bodyPr>
          <a:lstStyle/>
          <a:p>
            <a:pPr indent="-152400" lvl="0" marL="508000" marR="0" rtl="0" algn="just">
              <a:spcBef>
                <a:spcPts val="0"/>
              </a:spcBef>
              <a:spcAft>
                <a:spcPts val="0"/>
              </a:spcAft>
              <a:buClr>
                <a:schemeClr val="dk1"/>
              </a:buClr>
              <a:buSzPts val="1500"/>
              <a:buFont typeface="Arial"/>
              <a:buNone/>
            </a:pPr>
            <a:r>
              <a:t/>
            </a:r>
            <a:endParaRPr sz="1500">
              <a:solidFill>
                <a:srgbClr val="0000FF"/>
              </a:solidFill>
              <a:latin typeface="Trebuchet MS"/>
              <a:ea typeface="Trebuchet MS"/>
              <a:cs typeface="Trebuchet MS"/>
              <a:sym typeface="Trebuchet MS"/>
            </a:endParaRPr>
          </a:p>
          <a:p>
            <a:pPr indent="-152400" lvl="0" marL="508000" marR="0" rtl="0" algn="just">
              <a:spcBef>
                <a:spcPts val="300"/>
              </a:spcBef>
              <a:spcAft>
                <a:spcPts val="0"/>
              </a:spcAft>
              <a:buClr>
                <a:schemeClr val="dk1"/>
              </a:buClr>
              <a:buSzPts val="1500"/>
              <a:buFont typeface="Arial"/>
              <a:buNone/>
            </a:pPr>
            <a:r>
              <a:t/>
            </a:r>
            <a:endParaRPr sz="1500">
              <a:solidFill>
                <a:srgbClr val="0000FF"/>
              </a:solidFill>
              <a:latin typeface="Trebuchet MS"/>
              <a:ea typeface="Trebuchet MS"/>
              <a:cs typeface="Trebuchet MS"/>
              <a:sym typeface="Trebuchet MS"/>
            </a:endParaRPr>
          </a:p>
          <a:p>
            <a:pPr indent="-254000" lvl="0" marL="508000" marR="0" rtl="0" algn="just">
              <a:spcBef>
                <a:spcPts val="0"/>
              </a:spcBef>
              <a:spcAft>
                <a:spcPts val="0"/>
              </a:spcAft>
              <a:buClr>
                <a:srgbClr val="0033CC"/>
              </a:buClr>
              <a:buSzPts val="1800"/>
              <a:buFont typeface="Arial"/>
              <a:buChar char="•"/>
            </a:pPr>
            <a:r>
              <a:rPr lang="en-GB" sz="1800">
                <a:solidFill>
                  <a:srgbClr val="0033CC"/>
                </a:solidFill>
                <a:latin typeface="Trebuchet MS"/>
                <a:ea typeface="Trebuchet MS"/>
                <a:cs typeface="Trebuchet MS"/>
                <a:sym typeface="Trebuchet MS"/>
              </a:rPr>
              <a:t>Problem Statement </a:t>
            </a:r>
            <a:endParaRPr sz="1100"/>
          </a:p>
          <a:p>
            <a:pPr indent="-254000" lvl="0" marL="508000" marR="0" rtl="0" algn="just">
              <a:spcBef>
                <a:spcPts val="0"/>
              </a:spcBef>
              <a:spcAft>
                <a:spcPts val="0"/>
              </a:spcAft>
              <a:buClr>
                <a:srgbClr val="0033CC"/>
              </a:buClr>
              <a:buSzPts val="1800"/>
              <a:buFont typeface="Arial"/>
              <a:buChar char="•"/>
            </a:pPr>
            <a:r>
              <a:rPr lang="en-GB" sz="1800">
                <a:solidFill>
                  <a:srgbClr val="0033CC"/>
                </a:solidFill>
                <a:latin typeface="Trebuchet MS"/>
                <a:ea typeface="Trebuchet MS"/>
                <a:cs typeface="Trebuchet MS"/>
                <a:sym typeface="Trebuchet MS"/>
              </a:rPr>
              <a:t>Scope and Feasibility study </a:t>
            </a:r>
            <a:endParaRPr sz="1100"/>
          </a:p>
          <a:p>
            <a:pPr indent="-254000" lvl="0" marL="508000" marR="0" rtl="0" algn="just">
              <a:spcBef>
                <a:spcPts val="0"/>
              </a:spcBef>
              <a:spcAft>
                <a:spcPts val="0"/>
              </a:spcAft>
              <a:buClr>
                <a:srgbClr val="0033CC"/>
              </a:buClr>
              <a:buSzPts val="1800"/>
              <a:buFont typeface="Arial"/>
              <a:buChar char="•"/>
            </a:pPr>
            <a:r>
              <a:rPr lang="en-GB" sz="1800">
                <a:solidFill>
                  <a:srgbClr val="0033CC"/>
                </a:solidFill>
                <a:latin typeface="Trebuchet MS"/>
                <a:ea typeface="Trebuchet MS"/>
                <a:cs typeface="Trebuchet MS"/>
                <a:sym typeface="Trebuchet MS"/>
              </a:rPr>
              <a:t>Applications/Use cases </a:t>
            </a:r>
            <a:endParaRPr sz="1100"/>
          </a:p>
          <a:p>
            <a:pPr indent="-254000" lvl="0" marL="508000" marR="0" rtl="0" algn="just">
              <a:spcBef>
                <a:spcPts val="0"/>
              </a:spcBef>
              <a:spcAft>
                <a:spcPts val="0"/>
              </a:spcAft>
              <a:buClr>
                <a:srgbClr val="0033CC"/>
              </a:buClr>
              <a:buSzPts val="1800"/>
              <a:buFont typeface="Arial"/>
              <a:buChar char="•"/>
            </a:pPr>
            <a:r>
              <a:rPr lang="en-GB" sz="1800">
                <a:solidFill>
                  <a:srgbClr val="0033CC"/>
                </a:solidFill>
                <a:latin typeface="Trebuchet MS"/>
                <a:ea typeface="Trebuchet MS"/>
                <a:cs typeface="Trebuchet MS"/>
                <a:sym typeface="Trebuchet MS"/>
              </a:rPr>
              <a:t>Expected Deliverables</a:t>
            </a:r>
            <a:endParaRPr sz="1100"/>
          </a:p>
          <a:p>
            <a:pPr indent="-254000" lvl="0" marL="508000" marR="0" rtl="0" algn="just">
              <a:spcBef>
                <a:spcPts val="0"/>
              </a:spcBef>
              <a:spcAft>
                <a:spcPts val="0"/>
              </a:spcAft>
              <a:buClr>
                <a:srgbClr val="0033CC"/>
              </a:buClr>
              <a:buSzPts val="1800"/>
              <a:buFont typeface="Arial"/>
              <a:buChar char="•"/>
            </a:pPr>
            <a:r>
              <a:rPr lang="en-GB" sz="1800">
                <a:solidFill>
                  <a:srgbClr val="0033CC"/>
                </a:solidFill>
                <a:latin typeface="Trebuchet MS"/>
                <a:ea typeface="Trebuchet MS"/>
                <a:cs typeface="Trebuchet MS"/>
                <a:sym typeface="Trebuchet MS"/>
              </a:rPr>
              <a:t>Capstone (Phase-I Phase-II, Phase-III) Project Timeline </a:t>
            </a:r>
            <a:endParaRPr sz="1100"/>
          </a:p>
          <a:p>
            <a:pPr indent="-254000" lvl="0" marL="508000" marR="0" rtl="0" algn="just">
              <a:spcBef>
                <a:spcPts val="0"/>
              </a:spcBef>
              <a:spcAft>
                <a:spcPts val="0"/>
              </a:spcAft>
              <a:buClr>
                <a:srgbClr val="0033CC"/>
              </a:buClr>
              <a:buSzPts val="1800"/>
              <a:buFont typeface="Arial"/>
              <a:buChar char="•"/>
            </a:pPr>
            <a:r>
              <a:rPr lang="en-GB" sz="1800">
                <a:solidFill>
                  <a:srgbClr val="0033CC"/>
                </a:solidFill>
                <a:latin typeface="Trebuchet MS"/>
                <a:ea typeface="Trebuchet MS"/>
                <a:cs typeface="Trebuchet MS"/>
                <a:sym typeface="Trebuchet MS"/>
              </a:rPr>
              <a:t>Any other information</a:t>
            </a:r>
            <a:endParaRPr sz="1800">
              <a:solidFill>
                <a:srgbClr val="0033CC"/>
              </a:solidFill>
              <a:latin typeface="Trebuchet MS"/>
              <a:ea typeface="Trebuchet MS"/>
              <a:cs typeface="Trebuchet MS"/>
              <a:sym typeface="Trebuchet MS"/>
            </a:endParaRPr>
          </a:p>
        </p:txBody>
      </p:sp>
      <p:sp>
        <p:nvSpPr>
          <p:cNvPr id="132" name="Google Shape;132;p25"/>
          <p:cNvSpPr txBox="1"/>
          <p:nvPr/>
        </p:nvSpPr>
        <p:spPr>
          <a:xfrm>
            <a:off x="3143250" y="857251"/>
            <a:ext cx="4857750" cy="346249"/>
          </a:xfrm>
          <a:prstGeom prst="rect">
            <a:avLst/>
          </a:prstGeom>
          <a:noFill/>
          <a:ln>
            <a:noFill/>
          </a:ln>
        </p:spPr>
        <p:txBody>
          <a:bodyPr anchorCtr="0" anchor="t" bIns="34275" lIns="68575" spcFirstLastPara="1" rIns="68575" wrap="square" tIns="34275">
            <a:spAutoFit/>
          </a:bodyPr>
          <a:lstStyle/>
          <a:p>
            <a:pPr indent="-254000" lvl="0" marL="254000" marR="0" rtl="0" algn="r">
              <a:spcBef>
                <a:spcPts val="0"/>
              </a:spcBef>
              <a:spcAft>
                <a:spcPts val="0"/>
              </a:spcAft>
              <a:buNone/>
            </a:pPr>
            <a:r>
              <a:rPr lang="en-GB" sz="1800">
                <a:solidFill>
                  <a:srgbClr val="FF0000"/>
                </a:solidFill>
                <a:latin typeface="Trebuchet MS"/>
                <a:ea typeface="Trebuchet MS"/>
                <a:cs typeface="Trebuchet MS"/>
                <a:sym typeface="Trebuchet MS"/>
              </a:rPr>
              <a:t>Outline</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p:nvPr/>
        </p:nvSpPr>
        <p:spPr>
          <a:xfrm>
            <a:off x="2286000" y="1185866"/>
            <a:ext cx="5715000" cy="27385"/>
          </a:xfrm>
          <a:prstGeom prst="rect">
            <a:avLst/>
          </a:prstGeom>
          <a:solidFill>
            <a:srgbClr val="33CCC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39" name="Google Shape;139;p26"/>
          <p:cNvSpPr txBox="1"/>
          <p:nvPr/>
        </p:nvSpPr>
        <p:spPr>
          <a:xfrm>
            <a:off x="1138500" y="1685925"/>
            <a:ext cx="7275300" cy="32847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1200"/>
              </a:spcBef>
              <a:spcAft>
                <a:spcPts val="0"/>
              </a:spcAft>
              <a:buClr>
                <a:schemeClr val="dk1"/>
              </a:buClr>
              <a:buSzPts val="1100"/>
              <a:buFont typeface="Arial"/>
              <a:buNone/>
            </a:pPr>
            <a:r>
              <a:rPr lang="en-GB" sz="1800">
                <a:solidFill>
                  <a:schemeClr val="dk1"/>
                </a:solidFill>
              </a:rPr>
              <a:t>Modern software applications are becoming increasingly complex with rich, multimodal user interfaces that support touch, voice, gestures, and traditional input methods.But testing tools have not kept pace with this complexity. While testing tools have begun incorporating AI capabilities, such as improved element recognition and AI-driven test script generation, they still fall short of matching the complexity of modern multimodal applications.</a:t>
            </a:r>
            <a:endParaRPr sz="1800">
              <a:solidFill>
                <a:schemeClr val="dk1"/>
              </a:solidFill>
            </a:endParaRPr>
          </a:p>
          <a:p>
            <a:pPr indent="0" lvl="0" marL="457200" rtl="0" algn="just">
              <a:spcBef>
                <a:spcPts val="1200"/>
              </a:spcBef>
              <a:spcAft>
                <a:spcPts val="0"/>
              </a:spcAft>
              <a:buNone/>
            </a:pPr>
            <a:r>
              <a:t/>
            </a:r>
            <a:endParaRPr sz="1800">
              <a:solidFill>
                <a:schemeClr val="dk1"/>
              </a:solidFill>
              <a:latin typeface="Calibri"/>
              <a:ea typeface="Calibri"/>
              <a:cs typeface="Calibri"/>
              <a:sym typeface="Calibri"/>
            </a:endParaRPr>
          </a:p>
          <a:p>
            <a:pPr indent="0" lvl="0" marL="457200" rtl="0" algn="just">
              <a:spcBef>
                <a:spcPts val="0"/>
              </a:spcBef>
              <a:spcAft>
                <a:spcPts val="0"/>
              </a:spcAft>
              <a:buNone/>
            </a:pPr>
            <a:r>
              <a:t/>
            </a:r>
            <a:endParaRPr sz="1800">
              <a:solidFill>
                <a:schemeClr val="dk1"/>
              </a:solidFill>
              <a:latin typeface="Calibri"/>
              <a:ea typeface="Calibri"/>
              <a:cs typeface="Calibri"/>
              <a:sym typeface="Calibri"/>
            </a:endParaRPr>
          </a:p>
          <a:p>
            <a:pPr indent="0" lvl="0" marL="457200" marR="0" rtl="0" algn="just">
              <a:spcBef>
                <a:spcPts val="0"/>
              </a:spcBef>
              <a:spcAft>
                <a:spcPts val="0"/>
              </a:spcAft>
              <a:buNone/>
            </a:pPr>
            <a:r>
              <a:t/>
            </a:r>
            <a:endParaRPr sz="1800">
              <a:solidFill>
                <a:srgbClr val="0033CC"/>
              </a:solidFill>
              <a:latin typeface="Trebuchet MS"/>
              <a:ea typeface="Trebuchet MS"/>
              <a:cs typeface="Trebuchet MS"/>
              <a:sym typeface="Trebuchet MS"/>
            </a:endParaRPr>
          </a:p>
        </p:txBody>
      </p:sp>
      <p:sp>
        <p:nvSpPr>
          <p:cNvPr id="140" name="Google Shape;140;p26"/>
          <p:cNvSpPr txBox="1"/>
          <p:nvPr/>
        </p:nvSpPr>
        <p:spPr>
          <a:xfrm>
            <a:off x="3143250" y="857251"/>
            <a:ext cx="4857750" cy="346249"/>
          </a:xfrm>
          <a:prstGeom prst="rect">
            <a:avLst/>
          </a:prstGeom>
          <a:noFill/>
          <a:ln>
            <a:noFill/>
          </a:ln>
        </p:spPr>
        <p:txBody>
          <a:bodyPr anchorCtr="0" anchor="t" bIns="34275" lIns="68575" spcFirstLastPara="1" rIns="68575" wrap="square" tIns="34275">
            <a:spAutoFit/>
          </a:bodyPr>
          <a:lstStyle/>
          <a:p>
            <a:pPr indent="-254000" lvl="0" marL="254000" marR="0" rtl="0" algn="r">
              <a:spcBef>
                <a:spcPts val="0"/>
              </a:spcBef>
              <a:spcAft>
                <a:spcPts val="0"/>
              </a:spcAft>
              <a:buNone/>
            </a:pPr>
            <a:r>
              <a:rPr lang="en-GB" sz="1800">
                <a:solidFill>
                  <a:srgbClr val="FF0000"/>
                </a:solidFill>
                <a:latin typeface="Trebuchet MS"/>
                <a:ea typeface="Trebuchet MS"/>
                <a:cs typeface="Trebuchet MS"/>
                <a:sym typeface="Trebuchet MS"/>
              </a:rPr>
              <a:t>Problem Statement</a:t>
            </a:r>
            <a:endParaRPr sz="1800">
              <a:solidFill>
                <a:srgbClr val="FF0000"/>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nvSpPr>
        <p:spPr>
          <a:xfrm>
            <a:off x="0" y="525938"/>
            <a:ext cx="8873700" cy="401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GB" sz="1700">
                <a:solidFill>
                  <a:schemeClr val="dk1"/>
                </a:solidFill>
              </a:rPr>
              <a:t>Critical Gaps in Current Testing Approaches</a:t>
            </a:r>
            <a:endParaRPr b="1" sz="17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b="1" lang="en-GB" sz="1500">
                <a:solidFill>
                  <a:schemeClr val="dk1"/>
                </a:solidFill>
                <a:latin typeface="Roboto"/>
                <a:ea typeface="Roboto"/>
                <a:cs typeface="Roboto"/>
                <a:sym typeface="Roboto"/>
              </a:rPr>
              <a:t>Gap 1: Incomplete Multimodal Interaction Coverage</a:t>
            </a:r>
            <a:endParaRPr b="1" sz="1500">
              <a:solidFill>
                <a:schemeClr val="dk1"/>
              </a:solidFill>
              <a:latin typeface="Roboto"/>
              <a:ea typeface="Roboto"/>
              <a:cs typeface="Roboto"/>
              <a:sym typeface="Roboto"/>
            </a:endParaRPr>
          </a:p>
          <a:p>
            <a:pPr indent="-323850" lvl="0" marL="457200" rtl="0" algn="l">
              <a:lnSpc>
                <a:spcPct val="115000"/>
              </a:lnSpc>
              <a:spcBef>
                <a:spcPts val="600"/>
              </a:spcBef>
              <a:spcAft>
                <a:spcPts val="0"/>
              </a:spcAft>
              <a:buClr>
                <a:schemeClr val="dk1"/>
              </a:buClr>
              <a:buSzPts val="1500"/>
              <a:buFont typeface="Roboto"/>
              <a:buChar char="●"/>
            </a:pPr>
            <a:r>
              <a:rPr lang="en-GB" sz="1500">
                <a:solidFill>
                  <a:schemeClr val="dk1"/>
                </a:solidFill>
                <a:latin typeface="Roboto"/>
                <a:ea typeface="Roboto"/>
                <a:cs typeface="Roboto"/>
                <a:sym typeface="Roboto"/>
              </a:rPr>
              <a:t>Tools only support basic actions like clicks and typing.</a:t>
            </a:r>
            <a:endParaRPr sz="15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chemeClr val="dk1"/>
              </a:buClr>
              <a:buSzPts val="1500"/>
              <a:buFont typeface="Roboto"/>
              <a:buChar char="●"/>
            </a:pPr>
            <a:r>
              <a:rPr lang="en-GB" sz="1500">
                <a:solidFill>
                  <a:schemeClr val="dk1"/>
                </a:solidFill>
                <a:latin typeface="Roboto"/>
                <a:ea typeface="Roboto"/>
                <a:cs typeface="Roboto"/>
                <a:sym typeface="Roboto"/>
              </a:rPr>
              <a:t>Don’t fully handle combined inputs (like voice + touch together).</a:t>
            </a:r>
            <a:endParaRPr sz="15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chemeClr val="dk1"/>
              </a:buClr>
              <a:buSzPts val="1500"/>
              <a:buFont typeface="Roboto"/>
              <a:buChar char="●"/>
            </a:pPr>
            <a:r>
              <a:rPr lang="en-GB" sz="1500">
                <a:solidFill>
                  <a:schemeClr val="dk1"/>
                </a:solidFill>
                <a:latin typeface="Roboto"/>
                <a:ea typeface="Roboto"/>
                <a:cs typeface="Roboto"/>
                <a:sym typeface="Roboto"/>
              </a:rPr>
              <a:t>Gesture and voice testing are limited.</a:t>
            </a:r>
            <a:endParaRPr sz="15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chemeClr val="dk1"/>
              </a:buClr>
              <a:buSzPts val="1500"/>
              <a:buFont typeface="Roboto"/>
              <a:buChar char="●"/>
            </a:pPr>
            <a:r>
              <a:rPr lang="en-GB" sz="1500">
                <a:solidFill>
                  <a:schemeClr val="dk1"/>
                </a:solidFill>
                <a:latin typeface="Roboto"/>
                <a:ea typeface="Roboto"/>
                <a:cs typeface="Roboto"/>
                <a:sym typeface="Roboto"/>
              </a:rPr>
              <a:t>Accessibility checks miss many user needs.</a:t>
            </a:r>
            <a:endParaRPr sz="1500">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en-GB" sz="1500">
                <a:solidFill>
                  <a:schemeClr val="dk1"/>
                </a:solidFill>
              </a:rPr>
              <a:t>Gap 2: Functional vs. Experiential Testing</a:t>
            </a:r>
            <a:endParaRPr b="1" sz="1500">
              <a:solidFill>
                <a:schemeClr val="dk1"/>
              </a:solidFill>
            </a:endParaRPr>
          </a:p>
          <a:p>
            <a:pPr indent="0" lvl="0" marL="0" rtl="0" algn="l">
              <a:lnSpc>
                <a:spcPct val="115000"/>
              </a:lnSpc>
              <a:spcBef>
                <a:spcPts val="1200"/>
              </a:spcBef>
              <a:spcAft>
                <a:spcPts val="0"/>
              </a:spcAft>
              <a:buNone/>
            </a:pPr>
            <a:r>
              <a:rPr lang="en-GB" sz="1500">
                <a:solidFill>
                  <a:schemeClr val="dk1"/>
                </a:solidFill>
              </a:rPr>
              <a:t>Current testing focuses on whether features work, not whether they work well for users:</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Tests pass if a button clicks, regardless of whether users can find it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No evaluation of user journey efficiency or task completion difficulty</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Cannot detect confusing navigation flows or poor information architecture</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 They can’t measure task efficiency, cognitive load, or user satisfaction.</a:t>
            </a:r>
            <a:endParaRPr sz="15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nvSpPr>
        <p:spPr>
          <a:xfrm>
            <a:off x="0" y="-33421"/>
            <a:ext cx="8224500" cy="564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chemeClr val="dk1"/>
                </a:solidFill>
              </a:rPr>
              <a:t>Gap 3: Lack of True Autonomy</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Need manual test case design and maintenance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Require human interpretation of results and issue prioritization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Cannot adapt to new application features without configuration updates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Unable to discover new user workflows or identify unexpected problems</a:t>
            </a:r>
            <a:endParaRPr>
              <a:solidFill>
                <a:schemeClr val="dk1"/>
              </a:solidFill>
            </a:endParaRPr>
          </a:p>
          <a:p>
            <a:pPr indent="0" lvl="0" marL="0" rtl="0" algn="l">
              <a:lnSpc>
                <a:spcPct val="115000"/>
              </a:lnSpc>
              <a:spcBef>
                <a:spcPts val="1400"/>
              </a:spcBef>
              <a:spcAft>
                <a:spcPts val="0"/>
              </a:spcAft>
              <a:buNone/>
            </a:pPr>
            <a:r>
              <a:rPr b="1" lang="en-GB">
                <a:solidFill>
                  <a:schemeClr val="dk1"/>
                </a:solidFill>
              </a:rPr>
              <a:t>Gap 4: Static vs. Dynamic Application Understanding</a:t>
            </a:r>
            <a:endParaRPr b="1">
              <a:solidFill>
                <a:schemeClr val="dk1"/>
              </a:solidFill>
            </a:endParaRPr>
          </a:p>
          <a:p>
            <a:pPr indent="0" lvl="0" marL="0" rtl="0" algn="l">
              <a:lnSpc>
                <a:spcPct val="115000"/>
              </a:lnSpc>
              <a:spcBef>
                <a:spcPts val="1200"/>
              </a:spcBef>
              <a:spcAft>
                <a:spcPts val="0"/>
              </a:spcAft>
              <a:buNone/>
            </a:pPr>
            <a:r>
              <a:rPr lang="en-GB">
                <a:solidFill>
                  <a:schemeClr val="dk1"/>
                </a:solidFill>
              </a:rPr>
              <a:t>Modern applications are dynamic with changing content, personalization, and complex state management:</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Cannot understand application context or user intent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Fail to test personalized experiences or context-dependent features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Unable to simulate realistic user behavior patterns</a:t>
            </a:r>
            <a:endParaRPr>
              <a:solidFill>
                <a:schemeClr val="dk1"/>
              </a:solidFill>
            </a:endParaRPr>
          </a:p>
          <a:p>
            <a:pPr indent="0" lvl="0" marL="0" rtl="0" algn="l">
              <a:lnSpc>
                <a:spcPct val="115000"/>
              </a:lnSpc>
              <a:spcBef>
                <a:spcPts val="1400"/>
              </a:spcBef>
              <a:spcAft>
                <a:spcPts val="0"/>
              </a:spcAft>
              <a:buNone/>
            </a:pPr>
            <a:r>
              <a:rPr b="1" lang="en-GB">
                <a:solidFill>
                  <a:schemeClr val="dk1"/>
                </a:solidFill>
              </a:rPr>
              <a:t>Gap 5: Scale and Intelligence Mismatch</a:t>
            </a:r>
            <a:endParaRPr b="1">
              <a:solidFill>
                <a:schemeClr val="dk1"/>
              </a:solidFill>
            </a:endParaRPr>
          </a:p>
          <a:p>
            <a:pPr indent="0" lvl="0" marL="0" rtl="0" algn="l">
              <a:lnSpc>
                <a:spcPct val="115000"/>
              </a:lnSpc>
              <a:spcBef>
                <a:spcPts val="1200"/>
              </a:spcBef>
              <a:spcAft>
                <a:spcPts val="0"/>
              </a:spcAft>
              <a:buNone/>
            </a:pPr>
            <a:r>
              <a:rPr lang="en-GB">
                <a:solidFill>
                  <a:schemeClr val="dk1"/>
                </a:solidFill>
              </a:rPr>
              <a:t>The testing workload is growing exponentially while tools remain fundamentally limited:</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Automation can ultimately reduce the cost of testing by 85%, but current automation is limited in scope</a:t>
            </a:r>
            <a:r>
              <a:rPr lang="en-GB">
                <a:solidFill>
                  <a:schemeClr val="dk1"/>
                </a:solidFill>
                <a:uFill>
                  <a:noFill/>
                </a:uFill>
                <a:hlinkClick r:id="rId3">
                  <a:extLst>
                    <a:ext uri="{A12FA001-AC4F-418D-AE19-62706E023703}">
                      <ahyp:hlinkClr val="tx"/>
                    </a:ext>
                  </a:extLst>
                </a:hlinkClick>
              </a:rPr>
              <a:t> </a:t>
            </a:r>
            <a:r>
              <a:rPr lang="en-GB">
                <a:solidFill>
                  <a:schemeClr val="dk1"/>
                </a:solidFill>
              </a:rPr>
              <a:t>.Applications now have millions of possible UI states and interaction combinations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Testing must happen continuously across multiple platforms, devices, and user scenarios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nvSpPr>
        <p:spPr>
          <a:xfrm>
            <a:off x="671825" y="589111"/>
            <a:ext cx="6384900" cy="430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What Exists Today</a:t>
            </a:r>
            <a:endParaRPr b="1" sz="1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1. </a:t>
            </a:r>
            <a:r>
              <a:rPr b="1" lang="en-GB" sz="1800">
                <a:solidFill>
                  <a:schemeClr val="dk1"/>
                </a:solidFill>
                <a:latin typeface="Calibri"/>
                <a:ea typeface="Calibri"/>
                <a:cs typeface="Calibri"/>
                <a:sym typeface="Calibri"/>
              </a:rPr>
              <a:t>Manual Testing</a:t>
            </a:r>
            <a:endParaRPr b="1" sz="1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a:t>
            </a:r>
            <a:r>
              <a:rPr lang="en-GB" sz="1800">
                <a:solidFill>
                  <a:schemeClr val="dk1"/>
                </a:solidFill>
                <a:latin typeface="Calibri"/>
                <a:ea typeface="Calibri"/>
                <a:cs typeface="Calibri"/>
                <a:sym typeface="Calibri"/>
              </a:rPr>
              <a:t>Time-consuming, error-prone, and not easily scalable compared to automation</a:t>
            </a:r>
            <a:endParaRPr sz="1800">
              <a:solidFill>
                <a:schemeClr val="dk1"/>
              </a:solidFill>
              <a:latin typeface="Calibri"/>
              <a:ea typeface="Calibri"/>
              <a:cs typeface="Calibri"/>
              <a:sym typeface="Calibri"/>
            </a:endParaRPr>
          </a:p>
          <a:p>
            <a:pPr indent="0" lvl="0" marL="0" rtl="0" algn="l">
              <a:lnSpc>
                <a:spcPct val="115000"/>
              </a:lnSpc>
              <a:spcBef>
                <a:spcPts val="140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2. </a:t>
            </a:r>
            <a:r>
              <a:rPr b="1" lang="en-GB" sz="1800">
                <a:solidFill>
                  <a:schemeClr val="dk1"/>
                </a:solidFill>
                <a:latin typeface="Calibri"/>
                <a:ea typeface="Calibri"/>
                <a:cs typeface="Calibri"/>
                <a:sym typeface="Calibri"/>
              </a:rPr>
              <a:t>Rule-Based Test Automation (Selenium, Appium, Playwright)</a:t>
            </a:r>
            <a:endParaRPr b="1" sz="1800">
              <a:solidFill>
                <a:schemeClr val="dk1"/>
              </a:solidFill>
              <a:latin typeface="Calibri"/>
              <a:ea typeface="Calibri"/>
              <a:cs typeface="Calibri"/>
              <a:sym typeface="Calibri"/>
            </a:endParaRPr>
          </a:p>
          <a:p>
            <a:pPr indent="0" lvl="0" marL="0" rtl="0" algn="l">
              <a:spcBef>
                <a:spcPts val="400"/>
              </a:spcBef>
              <a:spcAft>
                <a:spcPts val="0"/>
              </a:spcAft>
              <a:buNone/>
            </a:pPr>
            <a:r>
              <a:rPr lang="en-GB" sz="1800">
                <a:solidFill>
                  <a:schemeClr val="dk1"/>
                </a:solidFill>
                <a:latin typeface="Calibri"/>
                <a:ea typeface="Calibri"/>
                <a:cs typeface="Calibri"/>
                <a:sym typeface="Calibri"/>
              </a:rPr>
              <a:t>-execute pre-scripted sequences of actions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b="1" lang="en-GB" sz="1800">
                <a:solidFill>
                  <a:schemeClr val="dk1"/>
                </a:solidFill>
                <a:latin typeface="Calibri"/>
                <a:ea typeface="Calibri"/>
                <a:cs typeface="Calibri"/>
                <a:sym typeface="Calibri"/>
              </a:rPr>
              <a:t>3.. Visual Regression Testing (Applitools, Percy)</a:t>
            </a:r>
            <a:endParaRPr b="1" sz="1800">
              <a:solidFill>
                <a:schemeClr val="dk1"/>
              </a:solidFill>
              <a:latin typeface="Calibri"/>
              <a:ea typeface="Calibri"/>
              <a:cs typeface="Calibri"/>
              <a:sym typeface="Calibri"/>
            </a:endParaRPr>
          </a:p>
          <a:p>
            <a:pPr indent="0" lvl="0" marL="0" rtl="0" algn="l">
              <a:spcBef>
                <a:spcPts val="0"/>
              </a:spcBef>
              <a:spcAft>
                <a:spcPts val="0"/>
              </a:spcAft>
              <a:buNone/>
            </a:pPr>
            <a:r>
              <a:rPr lang="en-GB" sz="1800">
                <a:solidFill>
                  <a:schemeClr val="dk1"/>
                </a:solidFill>
                <a:latin typeface="Calibri"/>
                <a:ea typeface="Calibri"/>
                <a:cs typeface="Calibri"/>
                <a:sym typeface="Calibri"/>
              </a:rPr>
              <a:t>-compare screenshots pixel-by-pixel</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b="1" lang="en-GB" sz="1800">
                <a:solidFill>
                  <a:schemeClr val="dk1"/>
                </a:solidFill>
                <a:latin typeface="Calibri"/>
                <a:ea typeface="Calibri"/>
                <a:cs typeface="Calibri"/>
                <a:sym typeface="Calibri"/>
              </a:rPr>
              <a:t>4.AI-Assisted Testing Tools (Testim, Mabl)</a:t>
            </a:r>
            <a:endParaRPr b="1" sz="1800">
              <a:solidFill>
                <a:schemeClr val="dk1"/>
              </a:solidFill>
              <a:latin typeface="Calibri"/>
              <a:ea typeface="Calibri"/>
              <a:cs typeface="Calibri"/>
              <a:sym typeface="Calibri"/>
            </a:endParaRPr>
          </a:p>
          <a:p>
            <a:pPr indent="0" lvl="0" marL="0" rtl="0" algn="l">
              <a:spcBef>
                <a:spcPts val="0"/>
              </a:spcBef>
              <a:spcAft>
                <a:spcPts val="0"/>
              </a:spcAft>
              <a:buNone/>
            </a:pPr>
            <a:r>
              <a:rPr b="1" lang="en-GB" sz="1800">
                <a:solidFill>
                  <a:schemeClr val="dk1"/>
                </a:solidFill>
                <a:latin typeface="Calibri"/>
                <a:ea typeface="Calibri"/>
                <a:cs typeface="Calibri"/>
                <a:sym typeface="Calibri"/>
              </a:rPr>
              <a:t>-</a:t>
            </a:r>
            <a:r>
              <a:rPr lang="en-GB" sz="1800">
                <a:solidFill>
                  <a:schemeClr val="dk1"/>
                </a:solidFill>
                <a:latin typeface="Calibri"/>
                <a:ea typeface="Calibri"/>
                <a:cs typeface="Calibri"/>
                <a:sym typeface="Calibri"/>
              </a:rPr>
              <a:t>Focus on test script generation rather than autonomous quality assessment</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nvSpPr>
        <p:spPr>
          <a:xfrm>
            <a:off x="361175" y="-152700"/>
            <a:ext cx="7625100" cy="447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sz="1300">
              <a:solidFill>
                <a:schemeClr val="dk1"/>
              </a:solidFill>
            </a:endParaRPr>
          </a:p>
          <a:p>
            <a:pPr indent="0" lvl="0" marL="0" rtl="0" algn="l">
              <a:lnSpc>
                <a:spcPct val="115000"/>
              </a:lnSpc>
              <a:spcBef>
                <a:spcPts val="1200"/>
              </a:spcBef>
              <a:spcAft>
                <a:spcPts val="0"/>
              </a:spcAft>
              <a:buNone/>
            </a:pPr>
            <a:r>
              <a:rPr lang="en-GB" sz="1300">
                <a:solidFill>
                  <a:schemeClr val="dk1"/>
                </a:solidFill>
              </a:rPr>
              <a:t>Current AI-assisted testing tools:</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Cannot </a:t>
            </a:r>
            <a:r>
              <a:rPr b="1" lang="en-GB" sz="1300">
                <a:solidFill>
                  <a:schemeClr val="dk1"/>
                </a:solidFill>
              </a:rPr>
              <a:t>autonomously explore application workflows</a:t>
            </a:r>
            <a:r>
              <a:rPr lang="en-GB" sz="1300">
                <a:solidFill>
                  <a:schemeClr val="dk1"/>
                </a:solidFill>
              </a:rPr>
              <a:t> without extensive human script design</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Fail to </a:t>
            </a:r>
            <a:r>
              <a:rPr b="1" lang="en-GB" sz="1300">
                <a:solidFill>
                  <a:schemeClr val="dk1"/>
                </a:solidFill>
              </a:rPr>
              <a:t>evaluate user experience quality</a:t>
            </a:r>
            <a:r>
              <a:rPr lang="en-GB" sz="1300">
                <a:solidFill>
                  <a:schemeClr val="dk1"/>
                </a:solidFill>
              </a:rPr>
              <a:t> — such as usability, accessibility, and cross-modal interaction consistency.</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Are </a:t>
            </a:r>
            <a:r>
              <a:rPr b="1" lang="en-GB" sz="1300">
                <a:solidFill>
                  <a:schemeClr val="dk1"/>
                </a:solidFill>
              </a:rPr>
              <a:t>limited primarily to click-and-type interactions</a:t>
            </a:r>
            <a:r>
              <a:rPr lang="en-GB" sz="1300">
                <a:solidFill>
                  <a:schemeClr val="dk1"/>
                </a:solidFill>
              </a:rPr>
              <a:t>, missing voice, gesture, and other input modalities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Lack deep </a:t>
            </a:r>
            <a:r>
              <a:rPr b="1" lang="en-GB" sz="1300">
                <a:solidFill>
                  <a:schemeClr val="dk1"/>
                </a:solidFill>
              </a:rPr>
              <a:t>contextual understanding</a:t>
            </a:r>
            <a:r>
              <a:rPr lang="en-GB" sz="1300">
                <a:solidFill>
                  <a:schemeClr val="dk1"/>
                </a:solidFill>
              </a:rPr>
              <a:t> about app purpose, user intent, and diverse persona needs.</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lang="en-GB" sz="1300">
                <a:solidFill>
                  <a:schemeClr val="dk1"/>
                </a:solidFill>
              </a:rPr>
              <a:t>Generate significant </a:t>
            </a:r>
            <a:r>
              <a:rPr b="1" lang="en-GB" sz="1300">
                <a:solidFill>
                  <a:schemeClr val="dk1"/>
                </a:solidFill>
              </a:rPr>
              <a:t>false positives and brittle test scripts</a:t>
            </a:r>
            <a:r>
              <a:rPr lang="en-GB" sz="1300">
                <a:solidFill>
                  <a:schemeClr val="dk1"/>
                </a:solidFill>
              </a:rPr>
              <a:t>, requiring constant maintenance.</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i="1" lang="en-GB" sz="1500">
                <a:solidFill>
                  <a:schemeClr val="dk1"/>
                </a:solidFill>
              </a:rPr>
              <a:t>Almost </a:t>
            </a:r>
            <a:r>
              <a:rPr b="1" i="1" lang="en-GB" sz="1500">
                <a:solidFill>
                  <a:schemeClr val="dk1"/>
                </a:solidFill>
              </a:rPr>
              <a:t>70% of automation script failures are false positives</a:t>
            </a:r>
            <a:r>
              <a:rPr i="1" lang="en-GB" sz="1500">
                <a:solidFill>
                  <a:schemeClr val="dk1"/>
                </a:solidFill>
              </a:rPr>
              <a:t> caused by poor design. Around </a:t>
            </a:r>
            <a:r>
              <a:rPr b="1" i="1" lang="en-GB" sz="1500">
                <a:solidFill>
                  <a:schemeClr val="dk1"/>
                </a:solidFill>
              </a:rPr>
              <a:t>64% of automation projects fail to deliver results</a:t>
            </a:r>
            <a:r>
              <a:rPr i="1" lang="en-GB" sz="1500">
                <a:solidFill>
                  <a:schemeClr val="dk1"/>
                </a:solidFill>
              </a:rPr>
              <a:t>, forcing companies back to manual testing. Only</a:t>
            </a:r>
            <a:r>
              <a:rPr b="1" i="1" lang="en-GB" sz="1500">
                <a:solidFill>
                  <a:schemeClr val="dk1"/>
                </a:solidFill>
              </a:rPr>
              <a:t> 20-30% of accessibility issues can be detected</a:t>
            </a:r>
            <a:r>
              <a:rPr i="1" lang="en-GB" sz="1500">
                <a:solidFill>
                  <a:schemeClr val="dk1"/>
                </a:solidFill>
              </a:rPr>
              <a:t> by current automated tools. Clearly, the gap is huge.</a:t>
            </a:r>
            <a:br>
              <a:rPr i="1" lang="en-GB" sz="1500">
                <a:solidFill>
                  <a:schemeClr val="dk1"/>
                </a:solidFill>
              </a:rPr>
            </a:br>
            <a:r>
              <a:rPr i="1" lang="en-GB" sz="1500">
                <a:solidFill>
                  <a:schemeClr val="dk1"/>
                </a:solidFill>
              </a:rPr>
              <a:t>		</a:t>
            </a:r>
            <a:endParaRPr/>
          </a:p>
        </p:txBody>
      </p:sp>
      <p:sp>
        <p:nvSpPr>
          <p:cNvPr id="161" name="Google Shape;161;p30"/>
          <p:cNvSpPr txBox="1"/>
          <p:nvPr/>
        </p:nvSpPr>
        <p:spPr>
          <a:xfrm>
            <a:off x="2646700" y="4556925"/>
            <a:ext cx="7860900" cy="8619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1200"/>
              </a:spcBef>
              <a:spcAft>
                <a:spcPts val="1200"/>
              </a:spcAft>
              <a:buNone/>
            </a:pPr>
            <a:r>
              <a:rPr i="1" lang="en-GB" sz="1100">
                <a:solidFill>
                  <a:schemeClr val="dk1"/>
                </a:solidFill>
              </a:rPr>
              <a:t>Sources:</a:t>
            </a:r>
            <a:r>
              <a:rPr lang="en-GB" sz="1100" u="sng">
                <a:solidFill>
                  <a:srgbClr val="2200CC"/>
                </a:solidFill>
                <a:hlinkClick r:id="rId3">
                  <a:extLst>
                    <a:ext uri="{A12FA001-AC4F-418D-AE19-62706E023703}">
                      <ahyp:hlinkClr val="tx"/>
                    </a:ext>
                  </a:extLst>
                </a:hlinkClick>
              </a:rPr>
              <a:t>https://www.testhouse.net/blogs/10-ways-to-reduce-test-automation-script-failure-rates/</a:t>
            </a:r>
            <a:br>
              <a:rPr lang="en-GB" sz="1100">
                <a:solidFill>
                  <a:schemeClr val="dk1"/>
                </a:solidFill>
              </a:rPr>
            </a:br>
            <a:r>
              <a:rPr lang="en-GB" sz="1100">
                <a:solidFill>
                  <a:schemeClr val="dk1"/>
                </a:solidFill>
              </a:rPr>
              <a:t>              </a:t>
            </a:r>
            <a:r>
              <a:rPr lang="en-GB" sz="1100" u="sng">
                <a:solidFill>
                  <a:srgbClr val="2200CC"/>
                </a:solidFill>
                <a:hlinkClick r:id="rId4">
                  <a:extLst>
                    <a:ext uri="{A12FA001-AC4F-418D-AE19-62706E023703}">
                      <ahyp:hlinkClr val="tx"/>
                    </a:ext>
                  </a:extLst>
                </a:hlinkClick>
              </a:rPr>
              <a:t>https://kms-solutions.asia/blogs/reasons-why-your-test-automation-project-fails</a:t>
            </a:r>
            <a:br>
              <a:rPr lang="en-GB" sz="1100">
                <a:solidFill>
                  <a:schemeClr val="dk1"/>
                </a:solidFill>
              </a:rPr>
            </a:b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p:nvPr/>
        </p:nvSpPr>
        <p:spPr>
          <a:xfrm>
            <a:off x="2286000" y="1185866"/>
            <a:ext cx="5715000" cy="27300"/>
          </a:xfrm>
          <a:prstGeom prst="rect">
            <a:avLst/>
          </a:prstGeom>
          <a:solidFill>
            <a:srgbClr val="33CCC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8" name="Google Shape;168;p31"/>
          <p:cNvSpPr txBox="1"/>
          <p:nvPr/>
        </p:nvSpPr>
        <p:spPr>
          <a:xfrm>
            <a:off x="771775" y="1746250"/>
            <a:ext cx="6913500" cy="3117000"/>
          </a:xfrm>
          <a:prstGeom prst="rect">
            <a:avLst/>
          </a:prstGeom>
          <a:noFill/>
          <a:ln>
            <a:noFill/>
          </a:ln>
        </p:spPr>
        <p:txBody>
          <a:bodyPr anchorCtr="0" anchor="t" bIns="34275" lIns="68575" spcFirstLastPara="1" rIns="68575" wrap="square" tIns="34275">
            <a:spAutoFit/>
          </a:bodyPr>
          <a:lstStyle/>
          <a:p>
            <a:pPr indent="-254000" lvl="0" marL="508000" marR="0" rtl="0" algn="just">
              <a:spcBef>
                <a:spcPts val="0"/>
              </a:spcBef>
              <a:spcAft>
                <a:spcPts val="0"/>
              </a:spcAft>
              <a:buClr>
                <a:srgbClr val="0033CC"/>
              </a:buClr>
              <a:buSzPts val="1800"/>
              <a:buFont typeface="Arial"/>
              <a:buChar char="•"/>
            </a:pPr>
            <a:r>
              <a:rPr lang="en-GB" sz="1800">
                <a:solidFill>
                  <a:srgbClr val="0033CC"/>
                </a:solidFill>
                <a:latin typeface="Trebuchet MS"/>
                <a:ea typeface="Trebuchet MS"/>
                <a:cs typeface="Trebuchet MS"/>
                <a:sym typeface="Trebuchet MS"/>
              </a:rPr>
              <a:t> </a:t>
            </a:r>
            <a:r>
              <a:rPr lang="en-GB" sz="1800">
                <a:solidFill>
                  <a:schemeClr val="dk1"/>
                </a:solidFill>
                <a:latin typeface="Calibri"/>
                <a:ea typeface="Calibri"/>
                <a:cs typeface="Calibri"/>
                <a:sym typeface="Calibri"/>
              </a:rPr>
              <a:t>The solution is to build an autonomous, multimodal AI-driven system that can </a:t>
            </a:r>
            <a:r>
              <a:rPr b="1" lang="en-GB" sz="1800">
                <a:solidFill>
                  <a:schemeClr val="dk1"/>
                </a:solidFill>
                <a:latin typeface="Calibri"/>
                <a:ea typeface="Calibri"/>
                <a:cs typeface="Calibri"/>
                <a:sym typeface="Calibri"/>
              </a:rPr>
              <a:t>intelligently explore applications without scripts</a:t>
            </a:r>
            <a:r>
              <a:rPr lang="en-GB" sz="1800">
                <a:solidFill>
                  <a:schemeClr val="dk1"/>
                </a:solidFill>
                <a:latin typeface="Calibri"/>
                <a:ea typeface="Calibri"/>
                <a:cs typeface="Calibri"/>
                <a:sym typeface="Calibri"/>
              </a:rPr>
              <a:t>, </a:t>
            </a:r>
            <a:r>
              <a:rPr b="1" lang="en-GB" sz="1800">
                <a:solidFill>
                  <a:schemeClr val="dk1"/>
                </a:solidFill>
                <a:latin typeface="Calibri"/>
                <a:ea typeface="Calibri"/>
                <a:cs typeface="Calibri"/>
                <a:sym typeface="Calibri"/>
              </a:rPr>
              <a:t>understand UIs across visuals, text, and navigation</a:t>
            </a:r>
            <a:r>
              <a:rPr lang="en-GB" sz="1800">
                <a:solidFill>
                  <a:schemeClr val="dk1"/>
                </a:solidFill>
                <a:latin typeface="Calibri"/>
                <a:ea typeface="Calibri"/>
                <a:cs typeface="Calibri"/>
                <a:sym typeface="Calibri"/>
              </a:rPr>
              <a:t>, and </a:t>
            </a:r>
            <a:r>
              <a:rPr b="1" lang="en-GB" sz="1800">
                <a:solidFill>
                  <a:schemeClr val="dk1"/>
                </a:solidFill>
                <a:latin typeface="Calibri"/>
                <a:ea typeface="Calibri"/>
                <a:cs typeface="Calibri"/>
                <a:sym typeface="Calibri"/>
              </a:rPr>
              <a:t>detect both functional and UX issues</a:t>
            </a:r>
            <a:r>
              <a:rPr lang="en-GB" sz="1800">
                <a:solidFill>
                  <a:schemeClr val="dk1"/>
                </a:solidFill>
                <a:latin typeface="Calibri"/>
                <a:ea typeface="Calibri"/>
                <a:cs typeface="Calibri"/>
                <a:sym typeface="Calibri"/>
              </a:rPr>
              <a:t>. By simulating different user personas, adapting to UI changes, and generating clear, developer-friendly bug reports, such a system would reduce manual effort, improve test coverage, and ensure more reliable, user-friendly applications.</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rgbClr val="0033CC"/>
              </a:solidFill>
              <a:latin typeface="Trebuchet MS"/>
              <a:ea typeface="Trebuchet MS"/>
              <a:cs typeface="Trebuchet MS"/>
              <a:sym typeface="Trebuchet MS"/>
            </a:endParaRPr>
          </a:p>
          <a:p>
            <a:pPr indent="0" lvl="0" marL="457200" rtl="0" algn="just">
              <a:spcBef>
                <a:spcPts val="0"/>
              </a:spcBef>
              <a:spcAft>
                <a:spcPts val="0"/>
              </a:spcAft>
              <a:buNone/>
            </a:pPr>
            <a:r>
              <a:t/>
            </a:r>
            <a:endParaRPr sz="1800">
              <a:solidFill>
                <a:srgbClr val="0033CC"/>
              </a:solidFill>
              <a:latin typeface="Trebuchet MS"/>
              <a:ea typeface="Trebuchet MS"/>
              <a:cs typeface="Trebuchet MS"/>
              <a:sym typeface="Trebuchet MS"/>
            </a:endParaRPr>
          </a:p>
          <a:p>
            <a:pPr indent="0" lvl="0" marL="457200" marR="0" rtl="0" algn="just">
              <a:spcBef>
                <a:spcPts val="0"/>
              </a:spcBef>
              <a:spcAft>
                <a:spcPts val="0"/>
              </a:spcAft>
              <a:buNone/>
            </a:pPr>
            <a:r>
              <a:t/>
            </a:r>
            <a:endParaRPr sz="1800">
              <a:solidFill>
                <a:srgbClr val="0033CC"/>
              </a:solidFill>
              <a:latin typeface="Trebuchet MS"/>
              <a:ea typeface="Trebuchet MS"/>
              <a:cs typeface="Trebuchet MS"/>
              <a:sym typeface="Trebuchet MS"/>
            </a:endParaRPr>
          </a:p>
        </p:txBody>
      </p:sp>
      <p:sp>
        <p:nvSpPr>
          <p:cNvPr id="169" name="Google Shape;169;p31"/>
          <p:cNvSpPr txBox="1"/>
          <p:nvPr/>
        </p:nvSpPr>
        <p:spPr>
          <a:xfrm>
            <a:off x="3143250" y="857251"/>
            <a:ext cx="4857600" cy="346200"/>
          </a:xfrm>
          <a:prstGeom prst="rect">
            <a:avLst/>
          </a:prstGeom>
          <a:noFill/>
          <a:ln>
            <a:noFill/>
          </a:ln>
        </p:spPr>
        <p:txBody>
          <a:bodyPr anchorCtr="0" anchor="t" bIns="34275" lIns="68575" spcFirstLastPara="1" rIns="68575" wrap="square" tIns="34275">
            <a:spAutoFit/>
          </a:bodyPr>
          <a:lstStyle/>
          <a:p>
            <a:pPr indent="-254000" lvl="0" marL="254000" marR="0" rtl="0" algn="r">
              <a:spcBef>
                <a:spcPts val="0"/>
              </a:spcBef>
              <a:spcAft>
                <a:spcPts val="0"/>
              </a:spcAft>
              <a:buNone/>
            </a:pPr>
            <a:r>
              <a:rPr lang="en-GB" sz="1800">
                <a:solidFill>
                  <a:srgbClr val="FF0000"/>
                </a:solidFill>
                <a:latin typeface="Trebuchet MS"/>
                <a:ea typeface="Trebuchet MS"/>
                <a:cs typeface="Trebuchet MS"/>
                <a:sym typeface="Trebuchet MS"/>
              </a:rPr>
              <a:t>Problem Statement</a:t>
            </a:r>
            <a:endParaRPr sz="1800">
              <a:solidFill>
                <a:srgbClr val="FF0000"/>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p:nvPr/>
        </p:nvSpPr>
        <p:spPr>
          <a:xfrm>
            <a:off x="2286000" y="1185866"/>
            <a:ext cx="5715000" cy="27385"/>
          </a:xfrm>
          <a:prstGeom prst="rect">
            <a:avLst/>
          </a:prstGeom>
          <a:solidFill>
            <a:srgbClr val="33CCC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76" name="Google Shape;176;p32"/>
          <p:cNvSpPr txBox="1"/>
          <p:nvPr/>
        </p:nvSpPr>
        <p:spPr>
          <a:xfrm>
            <a:off x="971550" y="1310797"/>
            <a:ext cx="6057900" cy="3158948"/>
          </a:xfrm>
          <a:prstGeom prst="rect">
            <a:avLst/>
          </a:prstGeom>
          <a:noFill/>
          <a:ln>
            <a:noFill/>
          </a:ln>
        </p:spPr>
        <p:txBody>
          <a:bodyPr anchorCtr="0" anchor="t" bIns="34275" lIns="68575" spcFirstLastPara="1" rIns="68575" wrap="square" tIns="34275">
            <a:noAutofit/>
          </a:bodyPr>
          <a:lstStyle/>
          <a:p>
            <a:pPr indent="-254000" lvl="0" marL="508000" marR="0" rtl="0" algn="just">
              <a:spcBef>
                <a:spcPts val="0"/>
              </a:spcBef>
              <a:spcAft>
                <a:spcPts val="0"/>
              </a:spcAft>
              <a:buClr>
                <a:srgbClr val="0033CC"/>
              </a:buClr>
              <a:buSzPts val="1800"/>
              <a:buFont typeface="Arial"/>
              <a:buChar char="•"/>
            </a:pPr>
            <a:r>
              <a:rPr lang="en-GB" sz="1800">
                <a:solidFill>
                  <a:srgbClr val="0033CC"/>
                </a:solidFill>
                <a:latin typeface="Trebuchet MS"/>
                <a:ea typeface="Trebuchet MS"/>
                <a:cs typeface="Trebuchet MS"/>
                <a:sym typeface="Trebuchet MS"/>
              </a:rPr>
              <a:t>Provide an overview of scope it entails. </a:t>
            </a:r>
            <a:endParaRPr sz="1100"/>
          </a:p>
          <a:p>
            <a:pPr indent="-254000" lvl="0" marL="508000" marR="0" rtl="0" algn="just">
              <a:spcBef>
                <a:spcPts val="0"/>
              </a:spcBef>
              <a:spcAft>
                <a:spcPts val="0"/>
              </a:spcAft>
              <a:buClr>
                <a:srgbClr val="0033CC"/>
              </a:buClr>
              <a:buSzPts val="1800"/>
              <a:buFont typeface="Arial"/>
              <a:buChar char="•"/>
            </a:pPr>
            <a:r>
              <a:rPr lang="en-GB" sz="1800">
                <a:solidFill>
                  <a:srgbClr val="0033CC"/>
                </a:solidFill>
                <a:latin typeface="Trebuchet MS"/>
                <a:ea typeface="Trebuchet MS"/>
                <a:cs typeface="Trebuchet MS"/>
                <a:sym typeface="Trebuchet MS"/>
              </a:rPr>
              <a:t>Possible Shortcomings/Challenges</a:t>
            </a:r>
            <a:endParaRPr sz="1100"/>
          </a:p>
          <a:p>
            <a:pPr indent="0" lvl="0" marL="254000" marR="0" rtl="0" algn="just">
              <a:spcBef>
                <a:spcPts val="0"/>
              </a:spcBef>
              <a:spcAft>
                <a:spcPts val="0"/>
              </a:spcAft>
              <a:buNone/>
            </a:pPr>
            <a:r>
              <a:rPr lang="en-GB" sz="1800">
                <a:solidFill>
                  <a:srgbClr val="0033CC"/>
                </a:solidFill>
                <a:latin typeface="Trebuchet MS"/>
                <a:ea typeface="Trebuchet MS"/>
                <a:cs typeface="Trebuchet MS"/>
                <a:sym typeface="Trebuchet MS"/>
              </a:rPr>
              <a:t> (This should add on to the feasibility for solving this Problem)</a:t>
            </a:r>
            <a:endParaRPr sz="1800">
              <a:solidFill>
                <a:srgbClr val="0033CC"/>
              </a:solidFill>
              <a:latin typeface="Trebuchet MS"/>
              <a:ea typeface="Trebuchet MS"/>
              <a:cs typeface="Trebuchet MS"/>
              <a:sym typeface="Trebuchet MS"/>
            </a:endParaRPr>
          </a:p>
        </p:txBody>
      </p:sp>
      <p:sp>
        <p:nvSpPr>
          <p:cNvPr id="177" name="Google Shape;177;p32"/>
          <p:cNvSpPr txBox="1"/>
          <p:nvPr/>
        </p:nvSpPr>
        <p:spPr>
          <a:xfrm>
            <a:off x="2171700" y="742950"/>
            <a:ext cx="5886450" cy="346249"/>
          </a:xfrm>
          <a:prstGeom prst="rect">
            <a:avLst/>
          </a:prstGeom>
          <a:noFill/>
          <a:ln>
            <a:noFill/>
          </a:ln>
        </p:spPr>
        <p:txBody>
          <a:bodyPr anchorCtr="0" anchor="t" bIns="34275" lIns="68575" spcFirstLastPara="1" rIns="68575" wrap="square" tIns="34275">
            <a:spAutoFit/>
          </a:bodyPr>
          <a:lstStyle/>
          <a:p>
            <a:pPr indent="-254000" lvl="0" marL="254000" marR="0" rtl="0" algn="r">
              <a:spcBef>
                <a:spcPts val="0"/>
              </a:spcBef>
              <a:spcAft>
                <a:spcPts val="0"/>
              </a:spcAft>
              <a:buNone/>
            </a:pPr>
            <a:r>
              <a:rPr lang="en-GB" sz="1800">
                <a:solidFill>
                  <a:srgbClr val="FF0000"/>
                </a:solidFill>
                <a:latin typeface="Trebuchet MS"/>
                <a:ea typeface="Trebuchet MS"/>
                <a:cs typeface="Trebuchet MS"/>
                <a:sym typeface="Trebuchet MS"/>
              </a:rPr>
              <a:t>Scope and Feasibility study</a:t>
            </a:r>
            <a:endParaRPr sz="1800">
              <a:solidFill>
                <a:srgbClr val="FF0000"/>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nvSpPr>
        <p:spPr>
          <a:xfrm>
            <a:off x="0" y="0"/>
            <a:ext cx="8255400" cy="50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rPr>
              <a:t>SCOPE:</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1.</a:t>
            </a:r>
            <a:r>
              <a:rPr lang="en-GB" sz="1800">
                <a:solidFill>
                  <a:schemeClr val="dk1"/>
                </a:solidFill>
              </a:rPr>
              <a:t>Autonomous Exploration of Web and Mobile Applications</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457200" lvl="0" marL="0" rtl="0" algn="l">
              <a:lnSpc>
                <a:spcPct val="115000"/>
              </a:lnSpc>
              <a:spcBef>
                <a:spcPts val="0"/>
              </a:spcBef>
              <a:spcAft>
                <a:spcPts val="0"/>
              </a:spcAft>
              <a:buNone/>
            </a:pPr>
            <a:r>
              <a:rPr b="1" lang="en-GB" sz="1500">
                <a:solidFill>
                  <a:schemeClr val="dk1"/>
                </a:solidFill>
              </a:rPr>
              <a:t>-  </a:t>
            </a:r>
            <a:r>
              <a:rPr lang="en-GB" sz="1500">
                <a:solidFill>
                  <a:schemeClr val="dk1"/>
                </a:solidFill>
              </a:rPr>
              <a:t>Agent tests apps without pre-written test scripts.</a:t>
            </a:r>
            <a:endParaRPr sz="1500">
              <a:solidFill>
                <a:schemeClr val="dk1"/>
              </a:solidFill>
            </a:endParaRPr>
          </a:p>
          <a:p>
            <a:pPr indent="0" lvl="0" marL="457200" rtl="0" algn="l">
              <a:lnSpc>
                <a:spcPct val="115000"/>
              </a:lnSpc>
              <a:spcBef>
                <a:spcPts val="0"/>
              </a:spcBef>
              <a:spcAft>
                <a:spcPts val="0"/>
              </a:spcAft>
              <a:buNone/>
            </a:pPr>
            <a:r>
              <a:rPr b="1" lang="en-GB" sz="1500">
                <a:solidFill>
                  <a:schemeClr val="dk1"/>
                </a:solidFill>
              </a:rPr>
              <a:t>-</a:t>
            </a:r>
            <a:r>
              <a:rPr lang="en-GB" sz="1500">
                <a:solidFill>
                  <a:schemeClr val="dk1"/>
                </a:solidFill>
              </a:rPr>
              <a:t>  </a:t>
            </a:r>
            <a:r>
              <a:rPr b="1" lang="en-GB" sz="1500">
                <a:solidFill>
                  <a:schemeClr val="dk1"/>
                </a:solidFill>
              </a:rPr>
              <a:t>How</a:t>
            </a:r>
            <a:r>
              <a:rPr lang="en-GB" sz="1500">
                <a:solidFill>
                  <a:schemeClr val="dk1"/>
                </a:solidFill>
              </a:rPr>
              <a:t>: Perceives UI state (screenshots + DOM parsing) → plans next action → executes      dynamically.</a:t>
            </a:r>
            <a:endParaRPr sz="1500">
              <a:solidFill>
                <a:schemeClr val="dk1"/>
              </a:solidFill>
            </a:endParaRPr>
          </a:p>
          <a:p>
            <a:pPr indent="0" lvl="0" marL="45720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rPr lang="en-GB" sz="1800">
                <a:solidFill>
                  <a:schemeClr val="dk1"/>
                </a:solidFill>
              </a:rPr>
              <a:t>2.</a:t>
            </a:r>
            <a:r>
              <a:rPr lang="en-GB" sz="1800">
                <a:solidFill>
                  <a:schemeClr val="dk1"/>
                </a:solidFill>
              </a:rPr>
              <a:t>Multimodal Interaction Testing (Touch, Voice, Accessibility)</a:t>
            </a:r>
            <a:endParaRPr sz="1800">
              <a:solidFill>
                <a:schemeClr val="dk1"/>
              </a:solidFill>
            </a:endParaRPr>
          </a:p>
          <a:p>
            <a:pPr indent="-323850" lvl="0" marL="914400" rtl="0" algn="l">
              <a:lnSpc>
                <a:spcPct val="115000"/>
              </a:lnSpc>
              <a:spcBef>
                <a:spcPts val="1200"/>
              </a:spcBef>
              <a:spcAft>
                <a:spcPts val="0"/>
              </a:spcAft>
              <a:buClr>
                <a:schemeClr val="dk1"/>
              </a:buClr>
              <a:buSzPts val="1500"/>
              <a:buChar char="➢"/>
            </a:pPr>
            <a:r>
              <a:rPr lang="en-GB" sz="1500">
                <a:solidFill>
                  <a:schemeClr val="dk1"/>
                </a:solidFill>
              </a:rPr>
              <a:t>Test across touch, typing, voice, and accessibility layers.</a:t>
            </a:r>
            <a:endParaRPr sz="1500">
              <a:solidFill>
                <a:schemeClr val="dk1"/>
              </a:solidFill>
            </a:endParaRPr>
          </a:p>
          <a:p>
            <a:pPr indent="-323850" lvl="0" marL="914400" rtl="0" algn="l">
              <a:lnSpc>
                <a:spcPct val="115000"/>
              </a:lnSpc>
              <a:spcBef>
                <a:spcPts val="0"/>
              </a:spcBef>
              <a:spcAft>
                <a:spcPts val="0"/>
              </a:spcAft>
              <a:buClr>
                <a:schemeClr val="dk1"/>
              </a:buClr>
              <a:buSzPts val="1500"/>
              <a:buChar char="➢"/>
            </a:pPr>
            <a:r>
              <a:rPr b="1" lang="en-GB" sz="1500">
                <a:solidFill>
                  <a:schemeClr val="dk1"/>
                </a:solidFill>
              </a:rPr>
              <a:t>How:</a:t>
            </a:r>
            <a:r>
              <a:rPr lang="en-GB" sz="1500">
                <a:solidFill>
                  <a:schemeClr val="dk1"/>
                </a:solidFill>
              </a:rPr>
              <a:t> Action mapping → simulate taps, swipes, voice commands → validate accessibility trees/roles.</a:t>
            </a:r>
            <a:endParaRPr sz="15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nvSpPr>
        <p:spPr>
          <a:xfrm>
            <a:off x="0" y="700025"/>
            <a:ext cx="9144000" cy="390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rPr>
              <a:t>3.Dual-Layer Issue Detection (Functional Bugs &amp; UX Problems)</a:t>
            </a:r>
            <a:endParaRPr sz="18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323850" lvl="0" marL="914400" rtl="0" algn="l">
              <a:lnSpc>
                <a:spcPct val="115000"/>
              </a:lnSpc>
              <a:spcBef>
                <a:spcPts val="0"/>
              </a:spcBef>
              <a:spcAft>
                <a:spcPts val="0"/>
              </a:spcAft>
              <a:buClr>
                <a:schemeClr val="dk1"/>
              </a:buClr>
              <a:buSzPts val="1500"/>
              <a:buChar char="➢"/>
            </a:pPr>
            <a:r>
              <a:rPr lang="en-GB" sz="1500">
                <a:solidFill>
                  <a:schemeClr val="dk1"/>
                </a:solidFill>
              </a:rPr>
              <a:t>Detect both </a:t>
            </a:r>
            <a:r>
              <a:rPr lang="en-GB" sz="1500">
                <a:solidFill>
                  <a:schemeClr val="dk1"/>
                </a:solidFill>
                <a:latin typeface="Roboto"/>
                <a:ea typeface="Roboto"/>
                <a:cs typeface="Roboto"/>
                <a:sym typeface="Roboto"/>
              </a:rPr>
              <a:t>hard bugs (broken buttons, links) and soft UX issues (bad contrast, confusing layouts, navigation loops).</a:t>
            </a:r>
            <a:endParaRPr sz="1500">
              <a:solidFill>
                <a:schemeClr val="dk1"/>
              </a:solidFill>
            </a:endParaRPr>
          </a:p>
          <a:p>
            <a:pPr indent="-323850" lvl="0" marL="914400" rtl="0" algn="l">
              <a:lnSpc>
                <a:spcPct val="115000"/>
              </a:lnSpc>
              <a:spcBef>
                <a:spcPts val="0"/>
              </a:spcBef>
              <a:spcAft>
                <a:spcPts val="0"/>
              </a:spcAft>
              <a:buClr>
                <a:schemeClr val="dk1"/>
              </a:buClr>
              <a:buSzPts val="1500"/>
              <a:buChar char="➢"/>
            </a:pPr>
            <a:r>
              <a:rPr b="1" lang="en-GB" sz="1500">
                <a:solidFill>
                  <a:schemeClr val="dk1"/>
                </a:solidFill>
              </a:rPr>
              <a:t>How: </a:t>
            </a:r>
            <a:r>
              <a:rPr lang="en-GB" sz="1500">
                <a:solidFill>
                  <a:schemeClr val="dk1"/>
                </a:solidFill>
              </a:rPr>
              <a:t>Functional </a:t>
            </a:r>
            <a:r>
              <a:rPr lang="en-GB" sz="1500">
                <a:solidFill>
                  <a:schemeClr val="dk1"/>
                </a:solidFill>
              </a:rPr>
              <a:t>layer: catch broken links, loading failures, unresponsive buttons.</a:t>
            </a:r>
            <a:endParaRPr sz="1500">
              <a:solidFill>
                <a:schemeClr val="dk1"/>
              </a:solidFill>
            </a:endParaRPr>
          </a:p>
          <a:p>
            <a:pPr indent="0" lvl="0" marL="457200" rtl="0" algn="l">
              <a:lnSpc>
                <a:spcPct val="115000"/>
              </a:lnSpc>
              <a:spcBef>
                <a:spcPts val="0"/>
              </a:spcBef>
              <a:spcAft>
                <a:spcPts val="0"/>
              </a:spcAft>
              <a:buNone/>
            </a:pPr>
            <a:r>
              <a:rPr lang="en-GB" sz="1500">
                <a:solidFill>
                  <a:schemeClr val="dk1"/>
                </a:solidFill>
              </a:rPr>
              <a:t>         UX layer: check usability (contrast, alignment, navigation loops) via vision + NLP models.</a:t>
            </a:r>
            <a:endParaRPr sz="1500">
              <a:solidFill>
                <a:schemeClr val="dk1"/>
              </a:solidFill>
            </a:endParaRPr>
          </a:p>
          <a:p>
            <a:pPr indent="0" lvl="0" marL="45720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None/>
            </a:pPr>
            <a:r>
              <a:rPr lang="en-GB" sz="1800">
                <a:solidFill>
                  <a:schemeClr val="dk1"/>
                </a:solidFill>
              </a:rPr>
              <a:t>4.Natural Language Reporting with Evidence &amp; Severity</a:t>
            </a:r>
            <a:endParaRPr sz="1800">
              <a:solidFill>
                <a:schemeClr val="dk1"/>
              </a:solidFill>
            </a:endParaRPr>
          </a:p>
          <a:p>
            <a:pPr indent="-323850" lvl="0" marL="914400" rtl="0" algn="l">
              <a:lnSpc>
                <a:spcPct val="115000"/>
              </a:lnSpc>
              <a:spcBef>
                <a:spcPts val="1200"/>
              </a:spcBef>
              <a:spcAft>
                <a:spcPts val="0"/>
              </a:spcAft>
              <a:buClr>
                <a:schemeClr val="dk1"/>
              </a:buClr>
              <a:buSzPts val="1500"/>
              <a:buChar char="➢"/>
            </a:pPr>
            <a:r>
              <a:rPr lang="en-GB" sz="1500">
                <a:solidFill>
                  <a:schemeClr val="dk1"/>
                </a:solidFill>
              </a:rPr>
              <a:t>Human-readable bug reports with screenshots &amp; severity ranking.</a:t>
            </a:r>
            <a:endParaRPr sz="1500">
              <a:solidFill>
                <a:schemeClr val="dk1"/>
              </a:solidFill>
            </a:endParaRPr>
          </a:p>
          <a:p>
            <a:pPr indent="-323850" lvl="0" marL="914400" rtl="0" algn="l">
              <a:lnSpc>
                <a:spcPct val="115000"/>
              </a:lnSpc>
              <a:spcBef>
                <a:spcPts val="0"/>
              </a:spcBef>
              <a:spcAft>
                <a:spcPts val="0"/>
              </a:spcAft>
              <a:buClr>
                <a:schemeClr val="dk1"/>
              </a:buClr>
              <a:buSzPts val="1500"/>
              <a:buChar char="➢"/>
            </a:pPr>
            <a:r>
              <a:rPr b="1" lang="en-GB" sz="1500">
                <a:solidFill>
                  <a:schemeClr val="dk1"/>
                </a:solidFill>
              </a:rPr>
              <a:t>How:</a:t>
            </a:r>
            <a:r>
              <a:rPr lang="en-GB" sz="1500">
                <a:solidFill>
                  <a:schemeClr val="dk1"/>
                </a:solidFill>
              </a:rPr>
              <a:t> LLMs generate structured reports → include steps, evidence, confidence scores.</a:t>
            </a:r>
            <a:endParaRPr sz="1500">
              <a:solidFill>
                <a:schemeClr val="dk1"/>
              </a:solidFill>
            </a:endParaRPr>
          </a:p>
          <a:p>
            <a:pPr indent="0" lvl="0" marL="914400" rtl="0" algn="l">
              <a:lnSpc>
                <a:spcPct val="115000"/>
              </a:lnSpc>
              <a:spcBef>
                <a:spcPts val="1200"/>
              </a:spcBef>
              <a:spcAft>
                <a:spcPts val="0"/>
              </a:spcAft>
              <a:buNone/>
            </a:pPr>
            <a:r>
              <a:t/>
            </a:r>
            <a:endParaRPr sz="1500">
              <a:solidFill>
                <a:schemeClr val="dk1"/>
              </a:solidFill>
            </a:endParaRPr>
          </a:p>
          <a:p>
            <a:pPr indent="0" lvl="0" marL="914400" rtl="0" algn="l">
              <a:lnSpc>
                <a:spcPct val="115000"/>
              </a:lnSpc>
              <a:spcBef>
                <a:spcPts val="1200"/>
              </a:spcBef>
              <a:spcAft>
                <a:spcPts val="0"/>
              </a:spcAft>
              <a:buNone/>
            </a:pPr>
            <a:r>
              <a:t/>
            </a:r>
            <a:endParaRPr sz="1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nvSpPr>
        <p:spPr>
          <a:xfrm>
            <a:off x="415775" y="446000"/>
            <a:ext cx="6712800" cy="4127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1800">
                <a:solidFill>
                  <a:schemeClr val="dk1"/>
                </a:solidFill>
                <a:latin typeface="Trebuchet MS"/>
                <a:ea typeface="Trebuchet MS"/>
                <a:cs typeface="Trebuchet MS"/>
                <a:sym typeface="Trebuchet MS"/>
              </a:rPr>
              <a:t>Possible Shortcomings/Challenges</a:t>
            </a:r>
            <a:endParaRPr b="1" sz="1800">
              <a:solidFill>
                <a:schemeClr val="dk1"/>
              </a:solidFill>
              <a:latin typeface="Trebuchet MS"/>
              <a:ea typeface="Trebuchet MS"/>
              <a:cs typeface="Trebuchet MS"/>
              <a:sym typeface="Trebuchet MS"/>
            </a:endParaRPr>
          </a:p>
          <a:p>
            <a:pPr indent="0" lvl="0" marL="0" rtl="0" algn="just">
              <a:spcBef>
                <a:spcPts val="0"/>
              </a:spcBef>
              <a:spcAft>
                <a:spcPts val="0"/>
              </a:spcAft>
              <a:buNone/>
            </a:pPr>
            <a:r>
              <a:t/>
            </a:r>
            <a:endParaRPr b="1" sz="1800">
              <a:solidFill>
                <a:schemeClr val="dk1"/>
              </a:solidFill>
              <a:latin typeface="Trebuchet MS"/>
              <a:ea typeface="Trebuchet MS"/>
              <a:cs typeface="Trebuchet MS"/>
              <a:sym typeface="Trebuchet MS"/>
            </a:endParaRPr>
          </a:p>
          <a:p>
            <a:pPr indent="-323850" lvl="0" marL="457200" rtl="0" algn="l">
              <a:lnSpc>
                <a:spcPct val="115000"/>
              </a:lnSpc>
              <a:spcBef>
                <a:spcPts val="0"/>
              </a:spcBef>
              <a:spcAft>
                <a:spcPts val="0"/>
              </a:spcAft>
              <a:buClr>
                <a:schemeClr val="dk1"/>
              </a:buClr>
              <a:buSzPts val="1500"/>
              <a:buFont typeface="Roboto"/>
              <a:buChar char="•"/>
            </a:pPr>
            <a:r>
              <a:rPr b="1" lang="en-GB" sz="1500">
                <a:solidFill>
                  <a:schemeClr val="dk1"/>
                </a:solidFill>
                <a:latin typeface="Roboto"/>
                <a:ea typeface="Roboto"/>
                <a:cs typeface="Roboto"/>
                <a:sym typeface="Roboto"/>
              </a:rPr>
              <a:t>State Space Explosion:</a:t>
            </a:r>
            <a:br>
              <a:rPr b="1" lang="en-GB" sz="1500">
                <a:solidFill>
                  <a:schemeClr val="dk1"/>
                </a:solidFill>
                <a:latin typeface="Roboto"/>
                <a:ea typeface="Roboto"/>
                <a:cs typeface="Roboto"/>
                <a:sym typeface="Roboto"/>
              </a:rPr>
            </a:br>
            <a:r>
              <a:rPr lang="en-GB" sz="1500">
                <a:solidFill>
                  <a:schemeClr val="dk1"/>
                </a:solidFill>
                <a:latin typeface="Roboto"/>
                <a:ea typeface="Roboto"/>
                <a:cs typeface="Roboto"/>
                <a:sym typeface="Roboto"/>
              </a:rPr>
              <a:t>The number of possible UI states and interaction paths is massive, making exhaustive exploration computationally challenging..</a:t>
            </a:r>
            <a:endParaRPr sz="15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chemeClr val="dk1"/>
              </a:buClr>
              <a:buSzPts val="1500"/>
              <a:buFont typeface="Roboto"/>
              <a:buChar char="•"/>
            </a:pPr>
            <a:r>
              <a:rPr b="1" lang="en-GB" sz="1500">
                <a:solidFill>
                  <a:schemeClr val="dk1"/>
                </a:solidFill>
                <a:latin typeface="Roboto"/>
                <a:ea typeface="Roboto"/>
                <a:cs typeface="Roboto"/>
                <a:sym typeface="Roboto"/>
              </a:rPr>
              <a:t>Subjectivity in UX Evaluation:</a:t>
            </a:r>
            <a:br>
              <a:rPr b="1" lang="en-GB" sz="1500">
                <a:solidFill>
                  <a:schemeClr val="dk1"/>
                </a:solidFill>
                <a:latin typeface="Roboto"/>
                <a:ea typeface="Roboto"/>
                <a:cs typeface="Roboto"/>
                <a:sym typeface="Roboto"/>
              </a:rPr>
            </a:br>
            <a:r>
              <a:rPr lang="en-GB" sz="1500">
                <a:solidFill>
                  <a:schemeClr val="dk1"/>
                </a:solidFill>
                <a:latin typeface="Roboto"/>
                <a:ea typeface="Roboto"/>
                <a:cs typeface="Roboto"/>
                <a:sym typeface="Roboto"/>
              </a:rPr>
              <a:t>Determining what constitutes a “good” or “bad” user experience is often subjective and context-dependent, posing challenges for automated assessment.</a:t>
            </a:r>
            <a:endParaRPr sz="15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b="1" lang="en-GB" sz="1500">
                <a:solidFill>
                  <a:schemeClr val="dk1"/>
                </a:solidFill>
                <a:latin typeface="Roboto"/>
                <a:ea typeface="Roboto"/>
                <a:cs typeface="Roboto"/>
                <a:sym typeface="Roboto"/>
              </a:rPr>
              <a:t>Scalability:</a:t>
            </a:r>
            <a:br>
              <a:rPr b="1" lang="en-GB" sz="1500">
                <a:solidFill>
                  <a:schemeClr val="dk1"/>
                </a:solidFill>
                <a:latin typeface="Roboto"/>
                <a:ea typeface="Roboto"/>
                <a:cs typeface="Roboto"/>
                <a:sym typeface="Roboto"/>
              </a:rPr>
            </a:br>
            <a:r>
              <a:rPr lang="en-GB" sz="1500">
                <a:solidFill>
                  <a:schemeClr val="dk1"/>
                </a:solidFill>
                <a:latin typeface="Roboto"/>
                <a:ea typeface="Roboto"/>
                <a:cs typeface="Roboto"/>
                <a:sym typeface="Roboto"/>
              </a:rPr>
              <a:t>Scaling to cover diverse devices, platforms, and personalized user flows requires careful design and resource planning.</a:t>
            </a:r>
            <a:endParaRPr sz="15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nvSpPr>
        <p:spPr>
          <a:xfrm>
            <a:off x="142350" y="945663"/>
            <a:ext cx="8859300" cy="347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100">
                <a:solidFill>
                  <a:schemeClr val="dk1"/>
                </a:solidFill>
              </a:rPr>
              <a:t> </a:t>
            </a:r>
            <a:r>
              <a:rPr b="1" lang="en-GB" sz="1800">
                <a:solidFill>
                  <a:schemeClr val="dk1"/>
                </a:solidFill>
              </a:rPr>
              <a:t>FEASIBILITY</a:t>
            </a:r>
            <a:endParaRPr b="1" sz="1800">
              <a:solidFill>
                <a:schemeClr val="dk1"/>
              </a:solidFill>
            </a:endParaRPr>
          </a:p>
          <a:p>
            <a:pPr indent="0" lvl="0" marL="0" rtl="0" algn="l">
              <a:lnSpc>
                <a:spcPct val="115000"/>
              </a:lnSpc>
              <a:spcBef>
                <a:spcPts val="1200"/>
              </a:spcBef>
              <a:spcAft>
                <a:spcPts val="0"/>
              </a:spcAft>
              <a:buNone/>
            </a:pPr>
            <a:r>
              <a:rPr b="1" lang="en-GB" sz="1100">
                <a:solidFill>
                  <a:schemeClr val="dk1"/>
                </a:solidFill>
              </a:rPr>
              <a:t>1.</a:t>
            </a:r>
            <a:r>
              <a:rPr b="1" lang="en-GB" sz="1500">
                <a:solidFill>
                  <a:schemeClr val="dk1"/>
                </a:solidFill>
              </a:rPr>
              <a:t> </a:t>
            </a:r>
            <a:r>
              <a:rPr b="1" lang="en-GB" sz="1500">
                <a:solidFill>
                  <a:schemeClr val="dk1"/>
                </a:solidFill>
              </a:rPr>
              <a:t>Technical Feasibility</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Pre-trained multimodal models (GPT-4V, Claude) → no training from scratch.</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Strong toolchain support: Selenium/Playwright/Appium, OpenCV/OCR, RL (Stable-Baselines3).</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Covers web, mobile, voice, and accessibility (WCAG).</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Modular architecture (perception–planning–action-memory).</a:t>
            </a:r>
            <a:endParaRPr sz="1500">
              <a:solidFill>
                <a:schemeClr val="dk1"/>
              </a:solidFill>
            </a:endParaRPr>
          </a:p>
          <a:p>
            <a:pPr indent="0" lvl="0" marL="0" rtl="0" algn="l">
              <a:lnSpc>
                <a:spcPct val="115000"/>
              </a:lnSpc>
              <a:spcBef>
                <a:spcPts val="1200"/>
              </a:spcBef>
              <a:spcAft>
                <a:spcPts val="0"/>
              </a:spcAft>
              <a:buNone/>
            </a:pPr>
            <a:r>
              <a:rPr b="1" lang="en-GB" sz="1500">
                <a:solidFill>
                  <a:schemeClr val="dk1"/>
                </a:solidFill>
              </a:rPr>
              <a:t>2.  Operational Feasibility</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Public datasets: RICO + open web crawls for validation.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Validation via datasets + synthetic issue injection.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developer feedback loop for continuous improvement.</a:t>
            </a:r>
            <a:endParaRPr sz="1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nvSpPr>
        <p:spPr>
          <a:xfrm>
            <a:off x="0" y="959250"/>
            <a:ext cx="9429300" cy="288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500">
                <a:solidFill>
                  <a:schemeClr val="dk1"/>
                </a:solidFill>
              </a:rPr>
              <a:t>3</a:t>
            </a:r>
            <a:r>
              <a:rPr b="1" lang="en-GB" sz="1100">
                <a:solidFill>
                  <a:schemeClr val="dk1"/>
                </a:solidFill>
              </a:rPr>
              <a:t>.</a:t>
            </a:r>
            <a:r>
              <a:rPr b="1" lang="en-GB" sz="1500">
                <a:solidFill>
                  <a:schemeClr val="dk1"/>
                </a:solidFill>
              </a:rPr>
              <a:t> Economic Feasibility</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Moderate cost (cloud GPU inference, standard infra).</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Mostly open-source/free-tier too</a:t>
            </a:r>
            <a:r>
              <a:rPr lang="en-GB" sz="1500">
                <a:solidFill>
                  <a:schemeClr val="dk1"/>
                </a:solidFill>
              </a:rPr>
              <a:t>ls.</a:t>
            </a:r>
            <a:endParaRPr sz="1500">
              <a:solidFill>
                <a:schemeClr val="dk1"/>
              </a:solidFill>
            </a:endParaRPr>
          </a:p>
          <a:p>
            <a:pPr indent="0" lvl="0" marL="0" rtl="0" algn="l">
              <a:lnSpc>
                <a:spcPct val="115000"/>
              </a:lnSpc>
              <a:spcBef>
                <a:spcPts val="1200"/>
              </a:spcBef>
              <a:spcAft>
                <a:spcPts val="0"/>
              </a:spcAft>
              <a:buNone/>
            </a:pPr>
            <a:r>
              <a:rPr b="1" lang="en-GB" sz="1500">
                <a:solidFill>
                  <a:schemeClr val="dk1"/>
                </a:solidFill>
              </a:rPr>
              <a:t>4. Legal &amp; Ethical Feasibility</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Based on public/open data + WCAG standards.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All software/data under open or academic licenses.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No personal/sensitive data involved.</a:t>
            </a:r>
            <a:endParaRPr sz="1500">
              <a:solidFill>
                <a:schemeClr val="dk1"/>
              </a:solidFill>
            </a:endParaRPr>
          </a:p>
          <a:p>
            <a:pPr indent="0" lvl="0" marL="0" rtl="0" algn="l">
              <a:lnSpc>
                <a:spcPct val="115000"/>
              </a:lnSpc>
              <a:spcBef>
                <a:spcPts val="1200"/>
              </a:spcBef>
              <a:spcAft>
                <a:spcPts val="1200"/>
              </a:spcAft>
              <a:buNone/>
            </a:pPr>
            <a:r>
              <a:t/>
            </a:r>
            <a:endParaRPr sz="15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p:nvPr/>
        </p:nvSpPr>
        <p:spPr>
          <a:xfrm>
            <a:off x="2286000" y="1185866"/>
            <a:ext cx="5715000" cy="27385"/>
          </a:xfrm>
          <a:prstGeom prst="rect">
            <a:avLst/>
          </a:prstGeom>
          <a:solidFill>
            <a:srgbClr val="33CCC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09" name="Google Shape;209;p38"/>
          <p:cNvSpPr txBox="1"/>
          <p:nvPr/>
        </p:nvSpPr>
        <p:spPr>
          <a:xfrm>
            <a:off x="2171700" y="742950"/>
            <a:ext cx="5886450" cy="346249"/>
          </a:xfrm>
          <a:prstGeom prst="rect">
            <a:avLst/>
          </a:prstGeom>
          <a:noFill/>
          <a:ln>
            <a:noFill/>
          </a:ln>
        </p:spPr>
        <p:txBody>
          <a:bodyPr anchorCtr="0" anchor="t" bIns="34275" lIns="68575" spcFirstLastPara="1" rIns="68575" wrap="square" tIns="34275">
            <a:spAutoFit/>
          </a:bodyPr>
          <a:lstStyle/>
          <a:p>
            <a:pPr indent="-254000" lvl="0" marL="254000" marR="0" rtl="0" algn="r">
              <a:spcBef>
                <a:spcPts val="0"/>
              </a:spcBef>
              <a:spcAft>
                <a:spcPts val="0"/>
              </a:spcAft>
              <a:buNone/>
            </a:pPr>
            <a:r>
              <a:rPr lang="en-GB" sz="1800">
                <a:solidFill>
                  <a:srgbClr val="FF0000"/>
                </a:solidFill>
                <a:latin typeface="Trebuchet MS"/>
                <a:ea typeface="Trebuchet MS"/>
                <a:cs typeface="Trebuchet MS"/>
                <a:sym typeface="Trebuchet MS"/>
              </a:rPr>
              <a:t>Applications/Use cases</a:t>
            </a:r>
            <a:endParaRPr sz="1800">
              <a:solidFill>
                <a:srgbClr val="FF0000"/>
              </a:solidFill>
              <a:latin typeface="Trebuchet MS"/>
              <a:ea typeface="Trebuchet MS"/>
              <a:cs typeface="Trebuchet MS"/>
              <a:sym typeface="Trebuchet MS"/>
            </a:endParaRPr>
          </a:p>
        </p:txBody>
      </p:sp>
      <p:sp>
        <p:nvSpPr>
          <p:cNvPr id="210" name="Google Shape;210;p38"/>
          <p:cNvSpPr txBox="1"/>
          <p:nvPr/>
        </p:nvSpPr>
        <p:spPr>
          <a:xfrm>
            <a:off x="198625" y="1213250"/>
            <a:ext cx="9144000" cy="243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2000">
                <a:solidFill>
                  <a:schemeClr val="dk1"/>
                </a:solidFill>
              </a:rPr>
              <a:t> </a:t>
            </a:r>
            <a:r>
              <a:rPr b="1" lang="en-GB" sz="2000">
                <a:solidFill>
                  <a:srgbClr val="0033CC"/>
                </a:solidFill>
              </a:rPr>
              <a:t>Applications</a:t>
            </a:r>
            <a:endParaRPr b="1" sz="2000">
              <a:solidFill>
                <a:srgbClr val="0033CC"/>
              </a:solidFill>
            </a:endParaRPr>
          </a:p>
          <a:p>
            <a:pPr indent="0" lvl="0" marL="0" rtl="0" algn="l">
              <a:lnSpc>
                <a:spcPct val="115000"/>
              </a:lnSpc>
              <a:spcBef>
                <a:spcPts val="0"/>
              </a:spcBef>
              <a:spcAft>
                <a:spcPts val="0"/>
              </a:spcAft>
              <a:buNone/>
            </a:pPr>
            <a:r>
              <a:t/>
            </a:r>
            <a:endParaRPr b="1" sz="1600">
              <a:solidFill>
                <a:schemeClr val="dk1"/>
              </a:solidFill>
            </a:endParaRPr>
          </a:p>
          <a:p>
            <a:pPr indent="0" lvl="0" marL="0" rtl="0" algn="l">
              <a:lnSpc>
                <a:spcPct val="115000"/>
              </a:lnSpc>
              <a:spcBef>
                <a:spcPts val="1400"/>
              </a:spcBef>
              <a:spcAft>
                <a:spcPts val="0"/>
              </a:spcAft>
              <a:buNone/>
            </a:pPr>
            <a:r>
              <a:rPr b="1" lang="en-GB">
                <a:solidFill>
                  <a:schemeClr val="dk1"/>
                </a:solidFill>
              </a:rPr>
              <a:t>1. Web &amp; Mobile App Development</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GB" sz="1200">
                <a:solidFill>
                  <a:schemeClr val="dk1"/>
                </a:solidFill>
              </a:rPr>
              <a:t>Detects </a:t>
            </a:r>
            <a:r>
              <a:rPr b="1" lang="en-GB" sz="1200">
                <a:solidFill>
                  <a:schemeClr val="dk1"/>
                </a:solidFill>
              </a:rPr>
              <a:t>UI bugs, navigation errors, broken links, and misaligned layouts</a:t>
            </a:r>
            <a:r>
              <a:rPr lang="en-GB" sz="1200">
                <a:solidFill>
                  <a:schemeClr val="dk1"/>
                </a:solidFill>
              </a:rPr>
              <a:t>.</a:t>
            </a:r>
            <a:br>
              <a:rPr lang="en-GB"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Integrates with CI/CD pipelines to catch issues </a:t>
            </a:r>
            <a:r>
              <a:rPr b="1" lang="en-GB" sz="1200">
                <a:solidFill>
                  <a:schemeClr val="dk1"/>
                </a:solidFill>
              </a:rPr>
              <a:t>before release</a:t>
            </a:r>
            <a:r>
              <a:rPr lang="en-GB" sz="1200">
                <a:solidFill>
                  <a:schemeClr val="dk1"/>
                </a:solidFill>
              </a:rPr>
              <a:t>.</a:t>
            </a:r>
            <a:br>
              <a:rPr lang="en-GB"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Reduces </a:t>
            </a:r>
            <a:r>
              <a:rPr b="1" lang="en-GB" sz="1200">
                <a:solidFill>
                  <a:schemeClr val="dk1"/>
                </a:solidFill>
              </a:rPr>
              <a:t>manual testing effort</a:t>
            </a:r>
            <a:r>
              <a:rPr lang="en-GB" sz="1200">
                <a:solidFill>
                  <a:schemeClr val="dk1"/>
                </a:solidFill>
              </a:rPr>
              <a:t> and speeds up feedback cycles.</a:t>
            </a:r>
            <a:endParaRPr b="1"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nvSpPr>
        <p:spPr>
          <a:xfrm>
            <a:off x="71175" y="736575"/>
            <a:ext cx="8978400" cy="393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chemeClr val="dk1"/>
                </a:solidFill>
              </a:rPr>
              <a:t>2. Accessibility Validation &amp; Inclusivity Compliance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200">
                <a:solidFill>
                  <a:schemeClr val="dk1"/>
                </a:solidFill>
              </a:rPr>
              <a:t>Ensures apps comply with </a:t>
            </a:r>
            <a:r>
              <a:rPr b="1" lang="en-GB" sz="1200">
                <a:solidFill>
                  <a:schemeClr val="dk1"/>
                </a:solidFill>
              </a:rPr>
              <a:t>WCAG standards</a:t>
            </a:r>
            <a:r>
              <a:rPr lang="en-GB" sz="1200">
                <a:solidFill>
                  <a:schemeClr val="dk1"/>
                </a:solidFill>
              </a:rPr>
              <a:t>.</a:t>
            </a:r>
            <a:br>
              <a:rPr lang="en-GB" sz="1200">
                <a:solidFill>
                  <a:schemeClr val="dk1"/>
                </a:solidFill>
              </a:rPr>
            </a:br>
            <a:endParaRPr sz="12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200">
                <a:solidFill>
                  <a:schemeClr val="dk1"/>
                </a:solidFill>
              </a:rPr>
              <a:t>Detects issues like </a:t>
            </a:r>
            <a:r>
              <a:rPr b="1" lang="en-GB" sz="1200">
                <a:solidFill>
                  <a:schemeClr val="dk1"/>
                </a:solidFill>
              </a:rPr>
              <a:t>low color contrast, missing ARIA roles, keyboard/voice navigation gaps</a:t>
            </a:r>
            <a:r>
              <a:rPr lang="en-GB" sz="1200">
                <a:solidFill>
                  <a:schemeClr val="dk1"/>
                </a:solidFill>
              </a:rPr>
              <a:t>.</a:t>
            </a:r>
            <a:br>
              <a:rPr lang="en-GB" sz="1200">
                <a:solidFill>
                  <a:schemeClr val="dk1"/>
                </a:solidFill>
              </a:rPr>
            </a:br>
            <a:endParaRPr sz="12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200">
                <a:solidFill>
                  <a:schemeClr val="dk1"/>
                </a:solidFill>
              </a:rPr>
              <a:t>Promotes </a:t>
            </a:r>
            <a:r>
              <a:rPr b="1" lang="en-GB" sz="1200">
                <a:solidFill>
                  <a:schemeClr val="dk1"/>
                </a:solidFill>
              </a:rPr>
              <a:t>universal usability</a:t>
            </a:r>
            <a:r>
              <a:rPr lang="en-GB" sz="1200">
                <a:solidFill>
                  <a:schemeClr val="dk1"/>
                </a:solidFill>
              </a:rPr>
              <a:t>, making apps usable by people with disabilities.</a:t>
            </a:r>
            <a:endParaRPr sz="1200">
              <a:solidFill>
                <a:schemeClr val="dk1"/>
              </a:solidFill>
            </a:endParaRPr>
          </a:p>
          <a:p>
            <a:pPr indent="0" lvl="0" marL="0" rtl="0" algn="l">
              <a:lnSpc>
                <a:spcPct val="115000"/>
              </a:lnSpc>
              <a:spcBef>
                <a:spcPts val="1200"/>
              </a:spcBef>
              <a:spcAft>
                <a:spcPts val="0"/>
              </a:spcAft>
              <a:buNone/>
            </a:pPr>
            <a:r>
              <a:t/>
            </a:r>
            <a:endParaRPr b="1" sz="1000">
              <a:solidFill>
                <a:schemeClr val="dk1"/>
              </a:solidFill>
            </a:endParaRPr>
          </a:p>
          <a:p>
            <a:pPr indent="0" lvl="0" marL="0" rtl="0" algn="l">
              <a:lnSpc>
                <a:spcPct val="115000"/>
              </a:lnSpc>
              <a:spcBef>
                <a:spcPts val="1400"/>
              </a:spcBef>
              <a:spcAft>
                <a:spcPts val="0"/>
              </a:spcAft>
              <a:buNone/>
            </a:pPr>
            <a:r>
              <a:rPr b="1" lang="en-GB">
                <a:solidFill>
                  <a:schemeClr val="dk1"/>
                </a:solidFill>
              </a:rPr>
              <a:t>3. Cross-Device &amp; Cross-Platform Testing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200">
                <a:solidFill>
                  <a:schemeClr val="dk1"/>
                </a:solidFill>
              </a:rPr>
              <a:t>Validates </a:t>
            </a:r>
            <a:r>
              <a:rPr b="1" lang="en-GB" sz="1200">
                <a:solidFill>
                  <a:schemeClr val="dk1"/>
                </a:solidFill>
              </a:rPr>
              <a:t>consistent behavior</a:t>
            </a:r>
            <a:r>
              <a:rPr lang="en-GB" sz="1200">
                <a:solidFill>
                  <a:schemeClr val="dk1"/>
                </a:solidFill>
              </a:rPr>
              <a:t> across Android, iOS, Web, and different screen sizes.</a:t>
            </a:r>
            <a:br>
              <a:rPr lang="en-GB" sz="1200">
                <a:solidFill>
                  <a:schemeClr val="dk1"/>
                </a:solidFill>
              </a:rPr>
            </a:br>
            <a:endParaRPr sz="12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200">
                <a:solidFill>
                  <a:schemeClr val="dk1"/>
                </a:solidFill>
              </a:rPr>
              <a:t>Removes the need to write </a:t>
            </a:r>
            <a:r>
              <a:rPr b="1" lang="en-GB" sz="1200">
                <a:solidFill>
                  <a:schemeClr val="dk1"/>
                </a:solidFill>
              </a:rPr>
              <a:t>separate test scripts</a:t>
            </a:r>
            <a:r>
              <a:rPr lang="en-GB" sz="1200">
                <a:solidFill>
                  <a:schemeClr val="dk1"/>
                </a:solidFill>
              </a:rPr>
              <a:t> for every device type.</a:t>
            </a:r>
            <a:br>
              <a:rPr lang="en-GB" sz="1200">
                <a:solidFill>
                  <a:schemeClr val="dk1"/>
                </a:solidFill>
              </a:rPr>
            </a:br>
            <a:endParaRPr sz="12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200">
                <a:solidFill>
                  <a:schemeClr val="dk1"/>
                </a:solidFill>
              </a:rPr>
              <a:t>Ensures </a:t>
            </a:r>
            <a:r>
              <a:rPr b="1" lang="en-GB" sz="1200">
                <a:solidFill>
                  <a:schemeClr val="dk1"/>
                </a:solidFill>
              </a:rPr>
              <a:t>smooth user experience</a:t>
            </a:r>
            <a:r>
              <a:rPr lang="en-GB" sz="1200">
                <a:solidFill>
                  <a:schemeClr val="dk1"/>
                </a:solidFill>
              </a:rPr>
              <a:t> across all platforms.</a:t>
            </a:r>
            <a:endParaRPr sz="1200">
              <a:solidFill>
                <a:schemeClr val="dk1"/>
              </a:solidFill>
            </a:endParaRPr>
          </a:p>
          <a:p>
            <a:pPr indent="0" lvl="0" marL="0" rtl="0" algn="l">
              <a:lnSpc>
                <a:spcPct val="115000"/>
              </a:lnSpc>
              <a:spcBef>
                <a:spcPts val="1200"/>
              </a:spcBef>
              <a:spcAft>
                <a:spcPts val="1200"/>
              </a:spcAft>
              <a:buNone/>
            </a:pPr>
            <a:r>
              <a:t/>
            </a:r>
            <a:endParaRPr b="1" sz="10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0"/>
          <p:cNvSpPr txBox="1"/>
          <p:nvPr/>
        </p:nvSpPr>
        <p:spPr>
          <a:xfrm>
            <a:off x="156250" y="714425"/>
            <a:ext cx="9144000" cy="461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chemeClr val="dk1"/>
                </a:solidFill>
              </a:rPr>
              <a:t>4. Regression Checks &amp; CI/CD Integration</a:t>
            </a:r>
            <a:endParaRPr b="1">
              <a:solidFill>
                <a:schemeClr val="dk1"/>
              </a:solidFill>
            </a:endParaRPr>
          </a:p>
          <a:p>
            <a:pPr indent="-292100" lvl="0" marL="457200" rtl="0" algn="l">
              <a:lnSpc>
                <a:spcPct val="115000"/>
              </a:lnSpc>
              <a:spcBef>
                <a:spcPts val="1200"/>
              </a:spcBef>
              <a:spcAft>
                <a:spcPts val="0"/>
              </a:spcAft>
              <a:buClr>
                <a:schemeClr val="dk1"/>
              </a:buClr>
              <a:buSzPts val="1000"/>
              <a:buChar char="●"/>
            </a:pPr>
            <a:r>
              <a:rPr lang="en-GB" sz="1200">
                <a:solidFill>
                  <a:schemeClr val="dk1"/>
                </a:solidFill>
              </a:rPr>
              <a:t>Provides </a:t>
            </a:r>
            <a:r>
              <a:rPr b="1" lang="en-GB" sz="1200">
                <a:solidFill>
                  <a:schemeClr val="dk1"/>
                </a:solidFill>
              </a:rPr>
              <a:t>continuous regression testing</a:t>
            </a:r>
            <a:r>
              <a:rPr lang="en-GB" sz="1200">
                <a:solidFill>
                  <a:schemeClr val="dk1"/>
                </a:solidFill>
              </a:rPr>
              <a:t>  that adapt to UI changes.</a:t>
            </a:r>
            <a:br>
              <a:rPr lang="en-GB" sz="1200">
                <a:solidFill>
                  <a:schemeClr val="dk1"/>
                </a:solidFill>
              </a:rPr>
            </a:br>
            <a:endParaRPr sz="1200">
              <a:solidFill>
                <a:schemeClr val="dk1"/>
              </a:solidFill>
            </a:endParaRPr>
          </a:p>
          <a:p>
            <a:pPr indent="-292100" lvl="0" marL="457200" rtl="0" algn="l">
              <a:lnSpc>
                <a:spcPct val="115000"/>
              </a:lnSpc>
              <a:spcBef>
                <a:spcPts val="0"/>
              </a:spcBef>
              <a:spcAft>
                <a:spcPts val="0"/>
              </a:spcAft>
              <a:buClr>
                <a:schemeClr val="dk1"/>
              </a:buClr>
              <a:buSzPts val="1000"/>
              <a:buChar char="●"/>
            </a:pPr>
            <a:r>
              <a:rPr lang="en-GB" sz="1200">
                <a:solidFill>
                  <a:schemeClr val="dk1"/>
                </a:solidFill>
              </a:rPr>
              <a:t>Ensures that new updates </a:t>
            </a:r>
            <a:r>
              <a:rPr b="1" lang="en-GB" sz="1200">
                <a:solidFill>
                  <a:schemeClr val="dk1"/>
                </a:solidFill>
              </a:rPr>
              <a:t>don’t break existing features</a:t>
            </a:r>
            <a:r>
              <a:rPr lang="en-GB" sz="1200">
                <a:solidFill>
                  <a:schemeClr val="dk1"/>
                </a:solidFill>
              </a:rPr>
              <a:t>.</a:t>
            </a:r>
            <a:br>
              <a:rPr lang="en-GB" sz="1200">
                <a:solidFill>
                  <a:schemeClr val="dk1"/>
                </a:solidFill>
              </a:rPr>
            </a:br>
            <a:endParaRPr sz="1200">
              <a:solidFill>
                <a:schemeClr val="dk1"/>
              </a:solidFill>
            </a:endParaRPr>
          </a:p>
          <a:p>
            <a:pPr indent="-292100" lvl="0" marL="457200" rtl="0" algn="l">
              <a:lnSpc>
                <a:spcPct val="115000"/>
              </a:lnSpc>
              <a:spcBef>
                <a:spcPts val="0"/>
              </a:spcBef>
              <a:spcAft>
                <a:spcPts val="0"/>
              </a:spcAft>
              <a:buClr>
                <a:schemeClr val="dk1"/>
              </a:buClr>
              <a:buSzPts val="1000"/>
              <a:buChar char="●"/>
            </a:pPr>
            <a:r>
              <a:rPr lang="en-GB" sz="1200">
                <a:solidFill>
                  <a:schemeClr val="dk1"/>
                </a:solidFill>
              </a:rPr>
              <a:t>Keeps testing aligned with </a:t>
            </a:r>
            <a:r>
              <a:rPr b="1" lang="en-GB" sz="1200">
                <a:solidFill>
                  <a:schemeClr val="dk1"/>
                </a:solidFill>
              </a:rPr>
              <a:t>fast release cycles</a:t>
            </a:r>
            <a:r>
              <a:rPr lang="en-GB" sz="1200">
                <a:solidFill>
                  <a:schemeClr val="dk1"/>
                </a:solidFill>
              </a:rPr>
              <a:t> in agile development.</a:t>
            </a:r>
            <a:endParaRPr sz="1200">
              <a:solidFill>
                <a:schemeClr val="dk1"/>
              </a:solidFill>
            </a:endParaRPr>
          </a:p>
          <a:p>
            <a:pPr indent="0" lvl="0" marL="457200" rtl="0" algn="l">
              <a:lnSpc>
                <a:spcPct val="115000"/>
              </a:lnSpc>
              <a:spcBef>
                <a:spcPts val="1200"/>
              </a:spcBef>
              <a:spcAft>
                <a:spcPts val="0"/>
              </a:spcAft>
              <a:buNone/>
            </a:pPr>
            <a:r>
              <a:t/>
            </a:r>
            <a:endParaRPr b="1"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lnSpc>
                <a:spcPct val="115000"/>
              </a:lnSpc>
              <a:spcBef>
                <a:spcPts val="1400"/>
              </a:spcBef>
              <a:spcAft>
                <a:spcPts val="0"/>
              </a:spcAft>
              <a:buNone/>
            </a:pPr>
            <a:r>
              <a:rPr b="1" lang="en-GB">
                <a:solidFill>
                  <a:schemeClr val="dk1"/>
                </a:solidFill>
              </a:rPr>
              <a:t>5. UX Optimization</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GB" sz="1200">
                <a:solidFill>
                  <a:schemeClr val="dk1"/>
                </a:solidFill>
              </a:rPr>
              <a:t>Identifies </a:t>
            </a:r>
            <a:r>
              <a:rPr b="1" lang="en-GB" sz="1200">
                <a:solidFill>
                  <a:schemeClr val="dk1"/>
                </a:solidFill>
              </a:rPr>
              <a:t>interaction friction points</a:t>
            </a:r>
            <a:r>
              <a:rPr lang="en-GB" sz="1200">
                <a:solidFill>
                  <a:schemeClr val="dk1"/>
                </a:solidFill>
              </a:rPr>
              <a:t> (confusing menus, unclear buttons, long flows).</a:t>
            </a:r>
            <a:br>
              <a:rPr lang="en-GB"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Detects </a:t>
            </a:r>
            <a:r>
              <a:rPr b="1" lang="en-GB" sz="1200">
                <a:solidFill>
                  <a:schemeClr val="dk1"/>
                </a:solidFill>
              </a:rPr>
              <a:t>drop-offs in user behavior</a:t>
            </a:r>
            <a:r>
              <a:rPr lang="en-GB" sz="1200">
                <a:solidFill>
                  <a:schemeClr val="dk1"/>
                </a:solidFill>
              </a:rPr>
              <a:t> like failed logins or abandoned checkouts.</a:t>
            </a:r>
            <a:br>
              <a:rPr lang="en-GB"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Helps improve </a:t>
            </a:r>
            <a:r>
              <a:rPr b="1" lang="en-GB" sz="1200">
                <a:solidFill>
                  <a:schemeClr val="dk1"/>
                </a:solidFill>
              </a:rPr>
              <a:t>overall usability and satisfaction</a:t>
            </a:r>
            <a:r>
              <a:rPr lang="en-GB" sz="1200">
                <a:solidFill>
                  <a:schemeClr val="dk1"/>
                </a:solidFill>
              </a:rPr>
              <a:t>.</a:t>
            </a:r>
            <a:endParaRPr sz="1200">
              <a:solidFill>
                <a:schemeClr val="dk1"/>
              </a:solidFill>
            </a:endParaRPr>
          </a:p>
          <a:p>
            <a:pPr indent="0" lvl="0" marL="457200" rtl="0" algn="l">
              <a:lnSpc>
                <a:spcPct val="115000"/>
              </a:lnSpc>
              <a:spcBef>
                <a:spcPts val="1200"/>
              </a:spcBef>
              <a:spcAft>
                <a:spcPts val="1200"/>
              </a:spcAft>
              <a:buNone/>
            </a:pPr>
            <a:br>
              <a:rPr lang="en-GB" sz="1100">
                <a:solidFill>
                  <a:schemeClr val="dk1"/>
                </a:solidFill>
              </a:rPr>
            </a:br>
            <a:br>
              <a:rPr lang="en-GB" sz="900">
                <a:solidFill>
                  <a:schemeClr val="dk1"/>
                </a:solidFill>
              </a:rPr>
            </a:b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1"/>
          <p:cNvSpPr txBox="1"/>
          <p:nvPr/>
        </p:nvSpPr>
        <p:spPr>
          <a:xfrm>
            <a:off x="0" y="707925"/>
            <a:ext cx="9173100" cy="323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chemeClr val="dk1"/>
                </a:solidFill>
              </a:rPr>
              <a:t>6. Documentation &amp; Reporting</a:t>
            </a:r>
            <a:endParaRPr b="1">
              <a:solidFill>
                <a:schemeClr val="dk1"/>
              </a:solidFill>
            </a:endParaRPr>
          </a:p>
          <a:p>
            <a:pPr indent="-304800" lvl="0" marL="457200" rtl="0" algn="l">
              <a:lnSpc>
                <a:spcPct val="115000"/>
              </a:lnSpc>
              <a:spcBef>
                <a:spcPts val="400"/>
              </a:spcBef>
              <a:spcAft>
                <a:spcPts val="0"/>
              </a:spcAft>
              <a:buClr>
                <a:schemeClr val="dk1"/>
              </a:buClr>
              <a:buSzPts val="1200"/>
              <a:buChar char="●"/>
            </a:pPr>
            <a:r>
              <a:rPr lang="en-GB" sz="1200">
                <a:solidFill>
                  <a:schemeClr val="dk1"/>
                </a:solidFill>
              </a:rPr>
              <a:t>Generates </a:t>
            </a:r>
            <a:r>
              <a:rPr b="1" lang="en-GB" sz="1200">
                <a:solidFill>
                  <a:schemeClr val="dk1"/>
                </a:solidFill>
              </a:rPr>
              <a:t>step-by-step summaries</a:t>
            </a:r>
            <a:r>
              <a:rPr lang="en-GB" sz="1200">
                <a:solidFill>
                  <a:schemeClr val="dk1"/>
                </a:solidFill>
              </a:rPr>
              <a:t> of test runs in natural language.</a:t>
            </a:r>
            <a:br>
              <a:rPr lang="en-GB"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Produces </a:t>
            </a:r>
            <a:r>
              <a:rPr b="1" lang="en-GB" sz="1200">
                <a:solidFill>
                  <a:schemeClr val="dk1"/>
                </a:solidFill>
              </a:rPr>
              <a:t>visual reports</a:t>
            </a:r>
            <a:r>
              <a:rPr lang="en-GB" sz="1200">
                <a:solidFill>
                  <a:schemeClr val="dk1"/>
                </a:solidFill>
              </a:rPr>
              <a:t> (screenshots, annotated workflows).</a:t>
            </a:r>
            <a:br>
              <a:rPr lang="en-GB"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Provides </a:t>
            </a:r>
            <a:r>
              <a:rPr b="1" lang="en-GB" sz="1200">
                <a:solidFill>
                  <a:schemeClr val="dk1"/>
                </a:solidFill>
              </a:rPr>
              <a:t>clear insights</a:t>
            </a:r>
            <a:r>
              <a:rPr lang="en-GB" sz="1200">
                <a:solidFill>
                  <a:schemeClr val="dk1"/>
                </a:solidFill>
              </a:rPr>
              <a:t> for developers, designers, and managers.</a:t>
            </a:r>
            <a:endParaRPr sz="12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457200" rtl="0" algn="l">
              <a:lnSpc>
                <a:spcPct val="115000"/>
              </a:lnSpc>
              <a:spcBef>
                <a:spcPts val="1200"/>
              </a:spcBef>
              <a:spcAft>
                <a:spcPts val="0"/>
              </a:spcAft>
              <a:buNone/>
            </a:pPr>
            <a:br>
              <a:rPr lang="en-GB" sz="1200">
                <a:solidFill>
                  <a:schemeClr val="dk1"/>
                </a:solidFill>
              </a:rPr>
            </a:br>
            <a:endParaRPr sz="1200">
              <a:solidFill>
                <a:schemeClr val="dk1"/>
              </a:solidFill>
            </a:endParaRPr>
          </a:p>
          <a:p>
            <a:pPr indent="0" lvl="0" marL="457200" rtl="0" algn="l">
              <a:lnSpc>
                <a:spcPct val="115000"/>
              </a:lnSpc>
              <a:spcBef>
                <a:spcPts val="1200"/>
              </a:spcBef>
              <a:spcAft>
                <a:spcPts val="0"/>
              </a:spcAft>
              <a:buNone/>
            </a:pPr>
            <a:r>
              <a:rPr lang="en-GB" sz="1100">
                <a:solidFill>
                  <a:schemeClr val="dk1"/>
                </a:solidFill>
              </a:rPr>
              <a:t>.</a:t>
            </a:r>
            <a:endParaRPr sz="1100">
              <a:solidFill>
                <a:schemeClr val="dk1"/>
              </a:solidFill>
            </a:endParaRPr>
          </a:p>
          <a:p>
            <a:pPr indent="0" lvl="0" marL="457200" rtl="0" algn="l">
              <a:lnSpc>
                <a:spcPct val="115000"/>
              </a:lnSpc>
              <a:spcBef>
                <a:spcPts val="1200"/>
              </a:spcBef>
              <a:spcAft>
                <a:spcPts val="1200"/>
              </a:spcAft>
              <a:buNone/>
            </a:pPr>
            <a:br>
              <a:rPr lang="en-GB" sz="1100">
                <a:solidFill>
                  <a:schemeClr val="dk1"/>
                </a:solidFill>
              </a:rPr>
            </a:b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nvSpPr>
        <p:spPr>
          <a:xfrm>
            <a:off x="0" y="703325"/>
            <a:ext cx="9144000" cy="4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GB" sz="1700">
                <a:solidFill>
                  <a:schemeClr val="dk1"/>
                </a:solidFill>
              </a:rPr>
              <a:t> </a:t>
            </a:r>
            <a:r>
              <a:rPr b="1" lang="en-GB" sz="2000">
                <a:solidFill>
                  <a:srgbClr val="0033CC"/>
                </a:solidFill>
              </a:rPr>
              <a:t>Use Cases (Who Will Use It?)</a:t>
            </a:r>
            <a:endParaRPr b="1" sz="2000">
              <a:solidFill>
                <a:srgbClr val="0033CC"/>
              </a:solidFill>
            </a:endParaRPr>
          </a:p>
          <a:p>
            <a:pPr indent="0" lvl="0" marL="457200" rtl="0" algn="l">
              <a:lnSpc>
                <a:spcPct val="115000"/>
              </a:lnSpc>
              <a:spcBef>
                <a:spcPts val="1200"/>
              </a:spcBef>
              <a:spcAft>
                <a:spcPts val="0"/>
              </a:spcAft>
              <a:buNone/>
            </a:pPr>
            <a:r>
              <a:rPr b="1" lang="en-GB">
                <a:solidFill>
                  <a:schemeClr val="dk1"/>
                </a:solidFill>
              </a:rPr>
              <a:t>Developers →</a:t>
            </a:r>
            <a:r>
              <a:rPr lang="en-GB">
                <a:solidFill>
                  <a:schemeClr val="dk1"/>
                </a:solidFill>
              </a:rPr>
              <a:t> To catch functional bugs before release.</a:t>
            </a:r>
            <a:br>
              <a:rPr lang="en-GB" sz="1500">
                <a:solidFill>
                  <a:schemeClr val="dk1"/>
                </a:solidFill>
              </a:rPr>
            </a:br>
            <a:endParaRPr sz="1500">
              <a:solidFill>
                <a:schemeClr val="dk1"/>
              </a:solidFill>
            </a:endParaRPr>
          </a:p>
          <a:p>
            <a:pPr indent="0" lvl="0" marL="457200" rtl="0" algn="l">
              <a:lnSpc>
                <a:spcPct val="115000"/>
              </a:lnSpc>
              <a:spcBef>
                <a:spcPts val="1200"/>
              </a:spcBef>
              <a:spcAft>
                <a:spcPts val="0"/>
              </a:spcAft>
              <a:buNone/>
            </a:pPr>
            <a:r>
              <a:rPr b="1" lang="en-GB">
                <a:solidFill>
                  <a:schemeClr val="dk1"/>
                </a:solidFill>
              </a:rPr>
              <a:t>QA/Test Engineers →</a:t>
            </a:r>
            <a:r>
              <a:rPr lang="en-GB">
                <a:solidFill>
                  <a:schemeClr val="dk1"/>
                </a:solidFill>
              </a:rPr>
              <a:t> For autonomous, multimodal test coverage without manual scripts.</a:t>
            </a:r>
            <a:br>
              <a:rPr lang="en-GB" sz="1500">
                <a:solidFill>
                  <a:schemeClr val="dk1"/>
                </a:solidFill>
              </a:rPr>
            </a:br>
            <a:endParaRPr sz="1500">
              <a:solidFill>
                <a:schemeClr val="dk1"/>
              </a:solidFill>
            </a:endParaRPr>
          </a:p>
          <a:p>
            <a:pPr indent="0" lvl="0" marL="457200" rtl="0" algn="l">
              <a:lnSpc>
                <a:spcPct val="115000"/>
              </a:lnSpc>
              <a:spcBef>
                <a:spcPts val="1200"/>
              </a:spcBef>
              <a:spcAft>
                <a:spcPts val="0"/>
              </a:spcAft>
              <a:buNone/>
            </a:pPr>
            <a:r>
              <a:rPr b="1" lang="en-GB">
                <a:solidFill>
                  <a:schemeClr val="dk1"/>
                </a:solidFill>
              </a:rPr>
              <a:t>UI/UX Designers →</a:t>
            </a:r>
            <a:r>
              <a:rPr lang="en-GB">
                <a:solidFill>
                  <a:schemeClr val="dk1"/>
                </a:solidFill>
              </a:rPr>
              <a:t> To evaluate usability, accessibility, and identify friction points.</a:t>
            </a:r>
            <a:br>
              <a:rPr lang="en-GB">
                <a:solidFill>
                  <a:schemeClr val="dk1"/>
                </a:solidFill>
              </a:rPr>
            </a:br>
            <a:endParaRPr>
              <a:solidFill>
                <a:schemeClr val="dk1"/>
              </a:solidFill>
            </a:endParaRPr>
          </a:p>
          <a:p>
            <a:pPr indent="0" lvl="0" marL="457200" rtl="0" algn="l">
              <a:lnSpc>
                <a:spcPct val="115000"/>
              </a:lnSpc>
              <a:spcBef>
                <a:spcPts val="1200"/>
              </a:spcBef>
              <a:spcAft>
                <a:spcPts val="0"/>
              </a:spcAft>
              <a:buNone/>
            </a:pPr>
            <a:r>
              <a:rPr b="1" lang="en-GB">
                <a:solidFill>
                  <a:schemeClr val="dk1"/>
                </a:solidFill>
              </a:rPr>
              <a:t>Project Managers →</a:t>
            </a:r>
            <a:r>
              <a:rPr lang="en-GB">
                <a:solidFill>
                  <a:schemeClr val="dk1"/>
                </a:solidFill>
              </a:rPr>
              <a:t> To achieve faster release cycles with fewer failures</a:t>
            </a:r>
            <a:r>
              <a:rPr lang="en-GB" sz="1500">
                <a:solidFill>
                  <a:schemeClr val="dk1"/>
                </a:solidFill>
              </a:rPr>
              <a:t>.</a:t>
            </a:r>
            <a:endParaRPr sz="1500">
              <a:solidFill>
                <a:schemeClr val="dk1"/>
              </a:solidFill>
            </a:endParaRPr>
          </a:p>
          <a:p>
            <a:pPr indent="0" lvl="0" marL="0" rtl="0" algn="l">
              <a:lnSpc>
                <a:spcPct val="115000"/>
              </a:lnSpc>
              <a:spcBef>
                <a:spcPts val="1200"/>
              </a:spcBef>
              <a:spcAft>
                <a:spcPts val="0"/>
              </a:spcAft>
              <a:buNone/>
            </a:pPr>
            <a:r>
              <a:rPr lang="en-GB" sz="1500">
                <a:solidFill>
                  <a:schemeClr val="dk1"/>
                </a:solidFill>
              </a:rPr>
              <a:t>    </a:t>
            </a:r>
            <a:r>
              <a:rPr lang="en-GB">
                <a:solidFill>
                  <a:schemeClr val="dk1"/>
                </a:solidFill>
              </a:rPr>
              <a:t>      </a:t>
            </a:r>
            <a:r>
              <a:rPr b="1" lang="en-GB">
                <a:solidFill>
                  <a:schemeClr val="dk1"/>
                </a:solidFill>
              </a:rPr>
              <a:t>Industries →</a:t>
            </a:r>
            <a:endParaRPr b="1">
              <a:solidFill>
                <a:schemeClr val="dk1"/>
              </a:solidFill>
            </a:endParaRPr>
          </a:p>
          <a:p>
            <a:pPr indent="-317500" lvl="3" marL="1828800" rtl="0" algn="l">
              <a:lnSpc>
                <a:spcPct val="150000"/>
              </a:lnSpc>
              <a:spcBef>
                <a:spcPts val="1200"/>
              </a:spcBef>
              <a:spcAft>
                <a:spcPts val="0"/>
              </a:spcAft>
              <a:buClr>
                <a:schemeClr val="dk1"/>
              </a:buClr>
              <a:buSzPts val="1400"/>
              <a:buChar char="●"/>
            </a:pPr>
            <a:r>
              <a:rPr i="1" lang="en-GB">
                <a:solidFill>
                  <a:schemeClr val="dk1"/>
                </a:solidFill>
              </a:rPr>
              <a:t>E-commerce:</a:t>
            </a:r>
            <a:r>
              <a:rPr lang="en-GB">
                <a:solidFill>
                  <a:schemeClr val="dk1"/>
                </a:solidFill>
              </a:rPr>
              <a:t> Verify smooth purchase and checkout flows.</a:t>
            </a:r>
            <a:endParaRPr>
              <a:solidFill>
                <a:schemeClr val="dk1"/>
              </a:solidFill>
            </a:endParaRPr>
          </a:p>
          <a:p>
            <a:pPr indent="-317500" lvl="3" marL="1828800" rtl="0" algn="l">
              <a:lnSpc>
                <a:spcPct val="150000"/>
              </a:lnSpc>
              <a:spcBef>
                <a:spcPts val="0"/>
              </a:spcBef>
              <a:spcAft>
                <a:spcPts val="0"/>
              </a:spcAft>
              <a:buClr>
                <a:schemeClr val="dk1"/>
              </a:buClr>
              <a:buSzPts val="1400"/>
              <a:buChar char="●"/>
            </a:pPr>
            <a:r>
              <a:rPr i="1" lang="en-GB">
                <a:solidFill>
                  <a:schemeClr val="dk1"/>
                </a:solidFill>
              </a:rPr>
              <a:t>Healthcare/EdTech:</a:t>
            </a:r>
            <a:r>
              <a:rPr lang="en-GB">
                <a:solidFill>
                  <a:schemeClr val="dk1"/>
                </a:solidFill>
              </a:rPr>
              <a:t> Ensure reliability, security, and inclusivity</a:t>
            </a:r>
            <a:r>
              <a:rPr lang="en-GB">
                <a:solidFill>
                  <a:schemeClr val="dk1"/>
                </a:solidFill>
              </a:rPr>
              <a:t>.</a:t>
            </a:r>
            <a:endParaRPr>
              <a:solidFill>
                <a:schemeClr val="dk1"/>
              </a:solidFill>
            </a:endParaRPr>
          </a:p>
          <a:p>
            <a:pPr indent="0" lvl="0" marL="0" rtl="0" algn="l">
              <a:lnSpc>
                <a:spcPct val="115000"/>
              </a:lnSpc>
              <a:spcBef>
                <a:spcPts val="1800"/>
              </a:spcBef>
              <a:spcAft>
                <a:spcPts val="400"/>
              </a:spcAft>
              <a:buNone/>
            </a:pPr>
            <a:r>
              <a:t/>
            </a:r>
            <a:endParaRPr b="1" sz="16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p:nvPr/>
        </p:nvSpPr>
        <p:spPr>
          <a:xfrm>
            <a:off x="2286000" y="1185866"/>
            <a:ext cx="5715000" cy="27385"/>
          </a:xfrm>
          <a:prstGeom prst="rect">
            <a:avLst/>
          </a:prstGeom>
          <a:solidFill>
            <a:srgbClr val="33CCC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37" name="Google Shape;237;p43"/>
          <p:cNvSpPr txBox="1"/>
          <p:nvPr/>
        </p:nvSpPr>
        <p:spPr>
          <a:xfrm>
            <a:off x="1428750" y="857251"/>
            <a:ext cx="6572400" cy="346200"/>
          </a:xfrm>
          <a:prstGeom prst="rect">
            <a:avLst/>
          </a:prstGeom>
          <a:noFill/>
          <a:ln>
            <a:noFill/>
          </a:ln>
        </p:spPr>
        <p:txBody>
          <a:bodyPr anchorCtr="0" anchor="t" bIns="34275" lIns="68575" spcFirstLastPara="1" rIns="68575" wrap="square" tIns="34275">
            <a:spAutoFit/>
          </a:bodyPr>
          <a:lstStyle/>
          <a:p>
            <a:pPr indent="-254000" lvl="0" marL="254000" marR="0" rtl="0" algn="r">
              <a:spcBef>
                <a:spcPts val="0"/>
              </a:spcBef>
              <a:spcAft>
                <a:spcPts val="0"/>
              </a:spcAft>
              <a:buNone/>
            </a:pPr>
            <a:r>
              <a:rPr lang="en-GB" sz="1800">
                <a:solidFill>
                  <a:srgbClr val="FF0000"/>
                </a:solidFill>
                <a:latin typeface="Trebuchet MS"/>
                <a:ea typeface="Trebuchet MS"/>
                <a:cs typeface="Trebuchet MS"/>
                <a:sym typeface="Trebuchet MS"/>
              </a:rPr>
              <a:t>Expected Deliverables</a:t>
            </a:r>
            <a:endParaRPr sz="1800">
              <a:solidFill>
                <a:schemeClr val="dk1"/>
              </a:solidFill>
              <a:latin typeface="Arial"/>
              <a:ea typeface="Arial"/>
              <a:cs typeface="Arial"/>
              <a:sym typeface="Arial"/>
            </a:endParaRPr>
          </a:p>
        </p:txBody>
      </p:sp>
      <p:sp>
        <p:nvSpPr>
          <p:cNvPr id="238" name="Google Shape;238;p43"/>
          <p:cNvSpPr txBox="1"/>
          <p:nvPr/>
        </p:nvSpPr>
        <p:spPr>
          <a:xfrm>
            <a:off x="685800" y="1314450"/>
            <a:ext cx="6629400" cy="3543300"/>
          </a:xfrm>
          <a:prstGeom prst="rect">
            <a:avLst/>
          </a:prstGeom>
          <a:noFill/>
          <a:ln>
            <a:noFill/>
          </a:ln>
        </p:spPr>
        <p:txBody>
          <a:bodyPr anchorCtr="0" anchor="t" bIns="34275" lIns="68575" spcFirstLastPara="1" rIns="68575" wrap="square" tIns="34275">
            <a:noAutofit/>
          </a:bodyPr>
          <a:lstStyle/>
          <a:p>
            <a:pPr indent="0" lvl="0" marL="0" marR="0" rtl="0" algn="just">
              <a:spcBef>
                <a:spcPts val="0"/>
              </a:spcBef>
              <a:spcAft>
                <a:spcPts val="0"/>
              </a:spcAft>
              <a:buNone/>
            </a:pPr>
            <a:r>
              <a:t/>
            </a:r>
            <a:endParaRPr sz="1800">
              <a:solidFill>
                <a:srgbClr val="0033CC"/>
              </a:solidFill>
              <a:latin typeface="Trebuchet MS"/>
              <a:ea typeface="Trebuchet MS"/>
              <a:cs typeface="Trebuchet MS"/>
              <a:sym typeface="Trebuchet MS"/>
            </a:endParaRPr>
          </a:p>
          <a:p>
            <a:pPr indent="0" lvl="0" marL="0" rtl="0" algn="l">
              <a:lnSpc>
                <a:spcPct val="162500"/>
              </a:lnSpc>
              <a:spcBef>
                <a:spcPts val="600"/>
              </a:spcBef>
              <a:spcAft>
                <a:spcPts val="0"/>
              </a:spcAft>
              <a:buNone/>
            </a:pPr>
            <a:r>
              <a:rPr lang="en-GB" sz="1200">
                <a:solidFill>
                  <a:schemeClr val="dk1"/>
                </a:solidFill>
                <a:latin typeface="Roboto"/>
                <a:ea typeface="Roboto"/>
                <a:cs typeface="Roboto"/>
                <a:sym typeface="Roboto"/>
              </a:rPr>
              <a:t>Capstone I</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Literature survey on autonomous testing and multimodal UI understanding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Study of LLM capabilities for UI understanding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RICO dataset analysis and integration planning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Tool selection and environment setup</a:t>
            </a:r>
            <a:endParaRPr sz="1800">
              <a:solidFill>
                <a:srgbClr val="0033CC"/>
              </a:solidFill>
              <a:latin typeface="Trebuchet MS"/>
              <a:ea typeface="Trebuchet MS"/>
              <a:cs typeface="Trebuchet MS"/>
              <a:sym typeface="Trebuchet MS"/>
            </a:endParaRPr>
          </a:p>
          <a:p>
            <a:pPr indent="0" lvl="0" marL="0" rtl="0" algn="l">
              <a:lnSpc>
                <a:spcPct val="162500"/>
              </a:lnSpc>
              <a:spcBef>
                <a:spcPts val="600"/>
              </a:spcBef>
              <a:spcAft>
                <a:spcPts val="0"/>
              </a:spcAft>
              <a:buNone/>
            </a:pPr>
            <a:r>
              <a:rPr lang="en-GB" sz="1200">
                <a:solidFill>
                  <a:schemeClr val="dk1"/>
                </a:solidFill>
                <a:latin typeface="Roboto"/>
                <a:ea typeface="Roboto"/>
                <a:cs typeface="Roboto"/>
                <a:sym typeface="Roboto"/>
              </a:rPr>
              <a:t>Capstone II</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UI parsing pipeline implementation (screenshots + DOM analysis) - base engine: GPT-V4/Claude 3.5</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Basic multimodal and  autonomous agent architecture (perception → planning → action)</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Initial issue detection algorithms (accessibility violations, broken links)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Prototype dashboard development</a:t>
            </a:r>
            <a:endParaRPr sz="1200">
              <a:solidFill>
                <a:schemeClr val="dk1"/>
              </a:solidFill>
              <a:latin typeface="Roboto"/>
              <a:ea typeface="Roboto"/>
              <a:cs typeface="Roboto"/>
              <a:sym typeface="Roboto"/>
            </a:endParaRPr>
          </a:p>
          <a:p>
            <a:pPr indent="0" lvl="0" marL="0" marR="0" rtl="0" algn="just">
              <a:spcBef>
                <a:spcPts val="0"/>
              </a:spcBef>
              <a:spcAft>
                <a:spcPts val="0"/>
              </a:spcAft>
              <a:buNone/>
            </a:pPr>
            <a:r>
              <a:t/>
            </a:r>
            <a:endParaRPr sz="1800">
              <a:solidFill>
                <a:srgbClr val="0033CC"/>
              </a:solidFill>
              <a:latin typeface="Trebuchet MS"/>
              <a:ea typeface="Trebuchet MS"/>
              <a:cs typeface="Trebuchet MS"/>
              <a:sym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4"/>
          <p:cNvSpPr txBox="1"/>
          <p:nvPr/>
        </p:nvSpPr>
        <p:spPr>
          <a:xfrm>
            <a:off x="742950" y="967100"/>
            <a:ext cx="7147200" cy="1596300"/>
          </a:xfrm>
          <a:prstGeom prst="rect">
            <a:avLst/>
          </a:prstGeom>
          <a:noFill/>
          <a:ln>
            <a:noFill/>
          </a:ln>
        </p:spPr>
        <p:txBody>
          <a:bodyPr anchorCtr="0" anchor="t" bIns="91425" lIns="91425" spcFirstLastPara="1" rIns="91425" wrap="square" tIns="91425">
            <a:spAutoFit/>
          </a:bodyPr>
          <a:lstStyle/>
          <a:p>
            <a:pPr indent="0" lvl="0" marL="0" rtl="0" algn="l">
              <a:lnSpc>
                <a:spcPct val="162500"/>
              </a:lnSpc>
              <a:spcBef>
                <a:spcPts val="600"/>
              </a:spcBef>
              <a:spcAft>
                <a:spcPts val="0"/>
              </a:spcAft>
              <a:buNone/>
            </a:pPr>
            <a:r>
              <a:rPr lang="en-GB" sz="1200">
                <a:solidFill>
                  <a:schemeClr val="dk1"/>
                </a:solidFill>
                <a:latin typeface="Roboto"/>
                <a:ea typeface="Roboto"/>
                <a:cs typeface="Roboto"/>
                <a:sym typeface="Roboto"/>
              </a:rPr>
              <a:t>Capstone III</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Reinforcement learning integration for exploration optimization</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Advanced issue detection (UX heuristics, pattern recognition)</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Comprehensive system integration</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Real-world application testing and validation</a:t>
            </a:r>
            <a:endParaRPr sz="1200">
              <a:solidFill>
                <a:schemeClr val="dk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dk1"/>
              </a:solidFill>
              <a:latin typeface="Roboto"/>
              <a:ea typeface="Roboto"/>
              <a:cs typeface="Roboto"/>
              <a:sym typeface="Roboto"/>
            </a:endParaRPr>
          </a:p>
        </p:txBody>
      </p:sp>
      <p:sp>
        <p:nvSpPr>
          <p:cNvPr id="244" name="Google Shape;244;p44"/>
          <p:cNvSpPr txBox="1"/>
          <p:nvPr/>
        </p:nvSpPr>
        <p:spPr>
          <a:xfrm>
            <a:off x="878700" y="2650300"/>
            <a:ext cx="7386600" cy="1171200"/>
          </a:xfrm>
          <a:prstGeom prst="rect">
            <a:avLst/>
          </a:prstGeom>
          <a:noFill/>
          <a:ln>
            <a:noFill/>
          </a:ln>
        </p:spPr>
        <p:txBody>
          <a:bodyPr anchorCtr="0" anchor="t" bIns="91425" lIns="91425" spcFirstLastPara="1" rIns="91425" wrap="square" tIns="91425">
            <a:spAutoFit/>
          </a:bodyPr>
          <a:lstStyle/>
          <a:p>
            <a:pPr indent="0" lvl="0" marL="0" rtl="0" algn="l">
              <a:lnSpc>
                <a:spcPct val="162500"/>
              </a:lnSpc>
              <a:spcBef>
                <a:spcPts val="600"/>
              </a:spcBef>
              <a:spcAft>
                <a:spcPts val="0"/>
              </a:spcAft>
              <a:buNone/>
            </a:pPr>
            <a:r>
              <a:rPr lang="en-GB" sz="1200">
                <a:solidFill>
                  <a:schemeClr val="dk1"/>
                </a:solidFill>
                <a:latin typeface="Roboto"/>
                <a:ea typeface="Roboto"/>
                <a:cs typeface="Roboto"/>
                <a:sym typeface="Roboto"/>
              </a:rPr>
              <a:t>Capstone IV</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Performance benchmarking and optimization</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False positive rate analysis and reduction</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Research paper preparation and submission to Scopus-indexed journals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45"/>
          <p:cNvPicPr preferRelativeResize="0"/>
          <p:nvPr/>
        </p:nvPicPr>
        <p:blipFill>
          <a:blip r:embed="rId3">
            <a:alphaModFix/>
          </a:blip>
          <a:stretch>
            <a:fillRect/>
          </a:stretch>
        </p:blipFill>
        <p:spPr>
          <a:xfrm>
            <a:off x="1086550" y="1123275"/>
            <a:ext cx="6841251" cy="3641301"/>
          </a:xfrm>
          <a:prstGeom prst="rect">
            <a:avLst/>
          </a:prstGeom>
          <a:noFill/>
          <a:ln>
            <a:noFill/>
          </a:ln>
        </p:spPr>
      </p:pic>
      <p:sp>
        <p:nvSpPr>
          <p:cNvPr id="250" name="Google Shape;250;p45"/>
          <p:cNvSpPr txBox="1"/>
          <p:nvPr/>
        </p:nvSpPr>
        <p:spPr>
          <a:xfrm>
            <a:off x="714725" y="210725"/>
            <a:ext cx="5814900" cy="74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GB" sz="2100">
                <a:solidFill>
                  <a:schemeClr val="dk1"/>
                </a:solidFill>
                <a:latin typeface="Calibri"/>
                <a:ea typeface="Calibri"/>
                <a:cs typeface="Calibri"/>
                <a:sym typeface="Calibri"/>
              </a:rPr>
              <a:t>Timeline</a:t>
            </a:r>
            <a:endParaRPr sz="21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graphicFrame>
        <p:nvGraphicFramePr>
          <p:cNvPr id="255" name="Google Shape;255;p46"/>
          <p:cNvGraphicFramePr/>
          <p:nvPr/>
        </p:nvGraphicFramePr>
        <p:xfrm>
          <a:off x="307225" y="605300"/>
          <a:ext cx="3000000" cy="3000000"/>
        </p:xfrm>
        <a:graphic>
          <a:graphicData uri="http://schemas.openxmlformats.org/drawingml/2006/table">
            <a:tbl>
              <a:tblPr>
                <a:noFill/>
                <a:tableStyleId>{D6E3B60E-16DC-4F97-A95D-470E5E277794}</a:tableStyleId>
              </a:tblPr>
              <a:tblGrid>
                <a:gridCol w="918125"/>
                <a:gridCol w="1181325"/>
                <a:gridCol w="1905125"/>
                <a:gridCol w="1576125"/>
                <a:gridCol w="1395175"/>
                <a:gridCol w="1395175"/>
              </a:tblGrid>
              <a:tr h="381000">
                <a:tc>
                  <a:txBody>
                    <a:bodyPr/>
                    <a:lstStyle/>
                    <a:p>
                      <a:pPr indent="0" lvl="0" marL="0" rtl="0" algn="l">
                        <a:spcBef>
                          <a:spcPts val="0"/>
                        </a:spcBef>
                        <a:spcAft>
                          <a:spcPts val="0"/>
                        </a:spcAft>
                        <a:buNone/>
                      </a:pPr>
                      <a:r>
                        <a:rPr lang="en-GB"/>
                        <a:t>Phase</a:t>
                      </a:r>
                      <a:endParaRPr/>
                    </a:p>
                  </a:txBody>
                  <a:tcPr marT="91425" marB="91425" marR="91425" marL="91425"/>
                </a:tc>
                <a:tc>
                  <a:txBody>
                    <a:bodyPr/>
                    <a:lstStyle/>
                    <a:p>
                      <a:pPr indent="0" lvl="0" marL="0" rtl="0" algn="l">
                        <a:spcBef>
                          <a:spcPts val="0"/>
                        </a:spcBef>
                        <a:spcAft>
                          <a:spcPts val="0"/>
                        </a:spcAft>
                        <a:buNone/>
                      </a:pPr>
                      <a:r>
                        <a:rPr lang="en-GB"/>
                        <a:t>Duration</a:t>
                      </a:r>
                      <a:endParaRPr/>
                    </a:p>
                  </a:txBody>
                  <a:tcPr marT="91425" marB="91425" marR="91425" marL="91425"/>
                </a:tc>
                <a:tc>
                  <a:txBody>
                    <a:bodyPr/>
                    <a:lstStyle/>
                    <a:p>
                      <a:pPr indent="0" lvl="0" marL="0" rtl="0" algn="l">
                        <a:spcBef>
                          <a:spcPts val="0"/>
                        </a:spcBef>
                        <a:spcAft>
                          <a:spcPts val="0"/>
                        </a:spcAft>
                        <a:buNone/>
                      </a:pPr>
                      <a:r>
                        <a:rPr lang="en-GB"/>
                        <a:t>Team Member 1/Nidhi K</a:t>
                      </a:r>
                      <a:endParaRPr/>
                    </a:p>
                  </a:txBody>
                  <a:tcPr marT="91425" marB="91425" marR="91425" marL="91425"/>
                </a:tc>
                <a:tc>
                  <a:txBody>
                    <a:bodyPr/>
                    <a:lstStyle/>
                    <a:p>
                      <a:pPr indent="0" lvl="0" marL="0" rtl="0" algn="l">
                        <a:spcBef>
                          <a:spcPts val="0"/>
                        </a:spcBef>
                        <a:spcAft>
                          <a:spcPts val="0"/>
                        </a:spcAft>
                        <a:buNone/>
                      </a:pPr>
                      <a:r>
                        <a:rPr lang="en-GB"/>
                        <a:t>Team Member 2/ Navya G N</a:t>
                      </a:r>
                      <a:endParaRPr/>
                    </a:p>
                  </a:txBody>
                  <a:tcPr marT="91425" marB="91425" marR="91425" marL="91425"/>
                </a:tc>
                <a:tc>
                  <a:txBody>
                    <a:bodyPr/>
                    <a:lstStyle/>
                    <a:p>
                      <a:pPr indent="0" lvl="0" marL="0" rtl="0" algn="l">
                        <a:spcBef>
                          <a:spcPts val="0"/>
                        </a:spcBef>
                        <a:spcAft>
                          <a:spcPts val="0"/>
                        </a:spcAft>
                        <a:buNone/>
                      </a:pPr>
                      <a:r>
                        <a:rPr lang="en-GB"/>
                        <a:t>Team Member 3/Nikita K</a:t>
                      </a:r>
                      <a:endParaRPr/>
                    </a:p>
                  </a:txBody>
                  <a:tcPr marT="91425" marB="91425" marR="91425" marL="91425"/>
                </a:tc>
                <a:tc>
                  <a:txBody>
                    <a:bodyPr/>
                    <a:lstStyle/>
                    <a:p>
                      <a:pPr indent="0" lvl="0" marL="0" rtl="0" algn="l">
                        <a:spcBef>
                          <a:spcPts val="0"/>
                        </a:spcBef>
                        <a:spcAft>
                          <a:spcPts val="0"/>
                        </a:spcAft>
                        <a:buNone/>
                      </a:pPr>
                      <a:r>
                        <a:rPr lang="en-GB"/>
                        <a:t>Team Member 4/Sandeep M </a:t>
                      </a:r>
                      <a:endParaRPr/>
                    </a:p>
                  </a:txBody>
                  <a:tcPr marT="91425" marB="91425" marR="91425" marL="91425"/>
                </a:tc>
              </a:tr>
              <a:tr h="381000">
                <a:tc>
                  <a:txBody>
                    <a:bodyPr/>
                    <a:lstStyle/>
                    <a:p>
                      <a:pPr indent="0" lvl="0" marL="0" rtl="0" algn="l">
                        <a:spcBef>
                          <a:spcPts val="0"/>
                        </a:spcBef>
                        <a:spcAft>
                          <a:spcPts val="0"/>
                        </a:spcAft>
                        <a:buNone/>
                      </a:pPr>
                      <a:r>
                        <a:rPr lang="en-GB" sz="1050">
                          <a:solidFill>
                            <a:schemeClr val="dk1"/>
                          </a:solidFill>
                          <a:latin typeface="Roboto"/>
                          <a:ea typeface="Roboto"/>
                          <a:cs typeface="Roboto"/>
                          <a:sym typeface="Roboto"/>
                        </a:rPr>
                        <a:t>Capstone I</a:t>
                      </a:r>
                      <a:endParaRPr/>
                    </a:p>
                  </a:txBody>
                  <a:tcPr marT="91425" marB="91425" marR="91425" marL="91425"/>
                </a:tc>
                <a:tc>
                  <a:txBody>
                    <a:bodyPr/>
                    <a:lstStyle/>
                    <a:p>
                      <a:pPr indent="0" lvl="0" marL="0" rtl="0" algn="l">
                        <a:spcBef>
                          <a:spcPts val="0"/>
                        </a:spcBef>
                        <a:spcAft>
                          <a:spcPts val="0"/>
                        </a:spcAft>
                        <a:buNone/>
                      </a:pPr>
                      <a:r>
                        <a:rPr lang="en-GB"/>
                        <a:t>3 months</a:t>
                      </a:r>
                      <a:endParaRPr/>
                    </a:p>
                  </a:txBody>
                  <a:tcPr marT="91425" marB="91425" marR="91425" marL="91425"/>
                </a:tc>
                <a:tc>
                  <a:txBody>
                    <a:bodyPr/>
                    <a:lstStyle/>
                    <a:p>
                      <a:pPr indent="0" lvl="0" marL="0" rtl="0" algn="l">
                        <a:spcBef>
                          <a:spcPts val="0"/>
                        </a:spcBef>
                        <a:spcAft>
                          <a:spcPts val="0"/>
                        </a:spcAft>
                        <a:buNone/>
                      </a:pPr>
                      <a:r>
                        <a:rPr lang="en-GB"/>
                        <a:t>Literature survey, LLM study</a:t>
                      </a:r>
                      <a:endParaRPr/>
                    </a:p>
                  </a:txBody>
                  <a:tcPr marT="91425" marB="91425" marR="91425" marL="91425"/>
                </a:tc>
                <a:tc>
                  <a:txBody>
                    <a:bodyPr/>
                    <a:lstStyle/>
                    <a:p>
                      <a:pPr indent="0" lvl="0" marL="0" rtl="0" algn="l">
                        <a:spcBef>
                          <a:spcPts val="0"/>
                        </a:spcBef>
                        <a:spcAft>
                          <a:spcPts val="0"/>
                        </a:spcAft>
                        <a:buNone/>
                      </a:pPr>
                      <a:r>
                        <a:rPr lang="en-GB"/>
                        <a:t>RICO dataset analysis</a:t>
                      </a:r>
                      <a:endParaRPr/>
                    </a:p>
                  </a:txBody>
                  <a:tcPr marT="91425" marB="91425" marR="91425" marL="91425"/>
                </a:tc>
                <a:tc>
                  <a:txBody>
                    <a:bodyPr/>
                    <a:lstStyle/>
                    <a:p>
                      <a:pPr indent="0" lvl="0" marL="0" rtl="0" algn="l">
                        <a:spcBef>
                          <a:spcPts val="0"/>
                        </a:spcBef>
                        <a:spcAft>
                          <a:spcPts val="0"/>
                        </a:spcAft>
                        <a:buNone/>
                      </a:pPr>
                      <a:r>
                        <a:rPr lang="en-GB"/>
                        <a:t>Assist survey and dataset</a:t>
                      </a:r>
                      <a:endParaRPr/>
                    </a:p>
                  </a:txBody>
                  <a:tcPr marT="91425" marB="91425" marR="91425" marL="91425"/>
                </a:tc>
                <a:tc>
                  <a:txBody>
                    <a:bodyPr/>
                    <a:lstStyle/>
                    <a:p>
                      <a:pPr indent="0" lvl="0" marL="0" rtl="0" algn="l">
                        <a:spcBef>
                          <a:spcPts val="0"/>
                        </a:spcBef>
                        <a:spcAft>
                          <a:spcPts val="0"/>
                        </a:spcAft>
                        <a:buNone/>
                      </a:pPr>
                      <a:r>
                        <a:rPr lang="en-GB"/>
                        <a:t>Tool selection, environment setup</a:t>
                      </a:r>
                      <a:endParaRPr/>
                    </a:p>
                  </a:txBody>
                  <a:tcPr marT="91425" marB="91425" marR="91425" marL="91425"/>
                </a:tc>
              </a:tr>
              <a:tr h="381000">
                <a:tc>
                  <a:txBody>
                    <a:bodyPr/>
                    <a:lstStyle/>
                    <a:p>
                      <a:pPr indent="0" lvl="0" marL="0" rtl="0" algn="l">
                        <a:spcBef>
                          <a:spcPts val="0"/>
                        </a:spcBef>
                        <a:spcAft>
                          <a:spcPts val="0"/>
                        </a:spcAft>
                        <a:buNone/>
                      </a:pPr>
                      <a:r>
                        <a:rPr lang="en-GB" sz="1050">
                          <a:solidFill>
                            <a:schemeClr val="dk1"/>
                          </a:solidFill>
                          <a:latin typeface="Roboto"/>
                          <a:ea typeface="Roboto"/>
                          <a:cs typeface="Roboto"/>
                          <a:sym typeface="Roboto"/>
                        </a:rPr>
                        <a:t>Capstone II</a:t>
                      </a:r>
                      <a:endParaRPr/>
                    </a:p>
                  </a:txBody>
                  <a:tcPr marT="91425" marB="91425" marR="91425" marL="91425"/>
                </a:tc>
                <a:tc>
                  <a:txBody>
                    <a:bodyPr/>
                    <a:lstStyle/>
                    <a:p>
                      <a:pPr indent="0" lvl="0" marL="0" rtl="0" algn="l">
                        <a:spcBef>
                          <a:spcPts val="0"/>
                        </a:spcBef>
                        <a:spcAft>
                          <a:spcPts val="0"/>
                        </a:spcAft>
                        <a:buNone/>
                      </a:pPr>
                      <a:r>
                        <a:rPr lang="en-GB"/>
                        <a:t>3 months</a:t>
                      </a:r>
                      <a:endParaRPr/>
                    </a:p>
                  </a:txBody>
                  <a:tcPr marT="91425" marB="91425" marR="91425" marL="91425"/>
                </a:tc>
                <a:tc>
                  <a:txBody>
                    <a:bodyPr/>
                    <a:lstStyle/>
                    <a:p>
                      <a:pPr indent="0" lvl="0" marL="0" rtl="0" algn="l">
                        <a:spcBef>
                          <a:spcPts val="0"/>
                        </a:spcBef>
                        <a:spcAft>
                          <a:spcPts val="0"/>
                        </a:spcAft>
                        <a:buNone/>
                      </a:pPr>
                      <a:r>
                        <a:rPr lang="en-GB"/>
                        <a:t>UI parsing pipeline (screenshots + DOM)</a:t>
                      </a:r>
                      <a:endParaRPr/>
                    </a:p>
                  </a:txBody>
                  <a:tcPr marT="91425" marB="91425" marR="91425" marL="91425"/>
                </a:tc>
                <a:tc>
                  <a:txBody>
                    <a:bodyPr/>
                    <a:lstStyle/>
                    <a:p>
                      <a:pPr indent="0" lvl="0" marL="0" rtl="0" algn="l">
                        <a:spcBef>
                          <a:spcPts val="0"/>
                        </a:spcBef>
                        <a:spcAft>
                          <a:spcPts val="0"/>
                        </a:spcAft>
                        <a:buNone/>
                      </a:pPr>
                      <a:r>
                        <a:rPr lang="en-GB"/>
                        <a:t>Basic multimodal agent architecture</a:t>
                      </a:r>
                      <a:endParaRPr/>
                    </a:p>
                  </a:txBody>
                  <a:tcPr marT="91425" marB="91425" marR="91425" marL="91425"/>
                </a:tc>
                <a:tc>
                  <a:txBody>
                    <a:bodyPr/>
                    <a:lstStyle/>
                    <a:p>
                      <a:pPr indent="0" lvl="0" marL="0" rtl="0" algn="l">
                        <a:spcBef>
                          <a:spcPts val="0"/>
                        </a:spcBef>
                        <a:spcAft>
                          <a:spcPts val="0"/>
                        </a:spcAft>
                        <a:buNone/>
                      </a:pPr>
                      <a:r>
                        <a:rPr lang="en-GB"/>
                        <a:t>Issue detection algorithms</a:t>
                      </a:r>
                      <a:endParaRPr/>
                    </a:p>
                  </a:txBody>
                  <a:tcPr marT="91425" marB="91425" marR="91425" marL="91425"/>
                </a:tc>
                <a:tc>
                  <a:txBody>
                    <a:bodyPr/>
                    <a:lstStyle/>
                    <a:p>
                      <a:pPr indent="0" lvl="0" marL="0" rtl="0" algn="l">
                        <a:spcBef>
                          <a:spcPts val="0"/>
                        </a:spcBef>
                        <a:spcAft>
                          <a:spcPts val="0"/>
                        </a:spcAft>
                        <a:buNone/>
                      </a:pPr>
                      <a:r>
                        <a:rPr lang="en-GB"/>
                        <a:t>Prototype dashboard development</a:t>
                      </a:r>
                      <a:endParaRPr/>
                    </a:p>
                  </a:txBody>
                  <a:tcPr marT="91425" marB="91425" marR="91425" marL="91425"/>
                </a:tc>
              </a:tr>
              <a:tr h="381000">
                <a:tc>
                  <a:txBody>
                    <a:bodyPr/>
                    <a:lstStyle/>
                    <a:p>
                      <a:pPr indent="0" lvl="0" marL="0" rtl="0" algn="l">
                        <a:spcBef>
                          <a:spcPts val="0"/>
                        </a:spcBef>
                        <a:spcAft>
                          <a:spcPts val="0"/>
                        </a:spcAft>
                        <a:buNone/>
                      </a:pPr>
                      <a:r>
                        <a:rPr lang="en-GB" sz="1050">
                          <a:solidFill>
                            <a:schemeClr val="dk1"/>
                          </a:solidFill>
                          <a:latin typeface="Roboto"/>
                          <a:ea typeface="Roboto"/>
                          <a:cs typeface="Roboto"/>
                          <a:sym typeface="Roboto"/>
                        </a:rPr>
                        <a:t>Capstone III</a:t>
                      </a:r>
                      <a:endParaRPr/>
                    </a:p>
                  </a:txBody>
                  <a:tcPr marT="91425" marB="91425" marR="91425" marL="91425"/>
                </a:tc>
                <a:tc>
                  <a:txBody>
                    <a:bodyPr/>
                    <a:lstStyle/>
                    <a:p>
                      <a:pPr indent="0" lvl="0" marL="0" rtl="0" algn="l">
                        <a:spcBef>
                          <a:spcPts val="0"/>
                        </a:spcBef>
                        <a:spcAft>
                          <a:spcPts val="0"/>
                        </a:spcAft>
                        <a:buNone/>
                      </a:pPr>
                      <a:r>
                        <a:rPr lang="en-GB"/>
                        <a:t>3 months</a:t>
                      </a:r>
                      <a:endParaRPr/>
                    </a:p>
                  </a:txBody>
                  <a:tcPr marT="91425" marB="91425" marR="91425" marL="91425"/>
                </a:tc>
                <a:tc>
                  <a:txBody>
                    <a:bodyPr/>
                    <a:lstStyle/>
                    <a:p>
                      <a:pPr indent="0" lvl="0" marL="0" rtl="0" algn="l">
                        <a:spcBef>
                          <a:spcPts val="0"/>
                        </a:spcBef>
                        <a:spcAft>
                          <a:spcPts val="0"/>
                        </a:spcAft>
                        <a:buNone/>
                      </a:pPr>
                      <a:r>
                        <a:rPr lang="en-GB"/>
                        <a:t>RL </a:t>
                      </a:r>
                      <a:r>
                        <a:rPr lang="en-GB"/>
                        <a:t>integration</a:t>
                      </a:r>
                      <a:endParaRPr/>
                    </a:p>
                  </a:txBody>
                  <a:tcPr marT="91425" marB="91425" marR="91425" marL="91425"/>
                </a:tc>
                <a:tc>
                  <a:txBody>
                    <a:bodyPr/>
                    <a:lstStyle/>
                    <a:p>
                      <a:pPr indent="0" lvl="0" marL="0" rtl="0" algn="l">
                        <a:spcBef>
                          <a:spcPts val="0"/>
                        </a:spcBef>
                        <a:spcAft>
                          <a:spcPts val="0"/>
                        </a:spcAft>
                        <a:buNone/>
                      </a:pPr>
                      <a:r>
                        <a:rPr lang="en-GB"/>
                        <a:t>Advanced issue detection(heuristics, pattern recognition)</a:t>
                      </a:r>
                      <a:endParaRPr/>
                    </a:p>
                  </a:txBody>
                  <a:tcPr marT="91425" marB="91425" marR="91425" marL="91425"/>
                </a:tc>
                <a:tc>
                  <a:txBody>
                    <a:bodyPr/>
                    <a:lstStyle/>
                    <a:p>
                      <a:pPr indent="0" lvl="0" marL="0" rtl="0" algn="l">
                        <a:spcBef>
                          <a:spcPts val="0"/>
                        </a:spcBef>
                        <a:spcAft>
                          <a:spcPts val="0"/>
                        </a:spcAft>
                        <a:buNone/>
                      </a:pPr>
                      <a:r>
                        <a:rPr lang="en-GB"/>
                        <a:t>System integration</a:t>
                      </a:r>
                      <a:endParaRPr/>
                    </a:p>
                  </a:txBody>
                  <a:tcPr marT="91425" marB="91425" marR="91425" marL="91425"/>
                </a:tc>
                <a:tc>
                  <a:txBody>
                    <a:bodyPr/>
                    <a:lstStyle/>
                    <a:p>
                      <a:pPr indent="0" lvl="0" marL="0" rtl="0" algn="l">
                        <a:spcBef>
                          <a:spcPts val="0"/>
                        </a:spcBef>
                        <a:spcAft>
                          <a:spcPts val="0"/>
                        </a:spcAft>
                        <a:buNone/>
                      </a:pPr>
                      <a:r>
                        <a:rPr lang="en-GB"/>
                        <a:t>Testing support and debugging</a:t>
                      </a:r>
                      <a:endParaRPr/>
                    </a:p>
                  </a:txBody>
                  <a:tcPr marT="91425" marB="91425" marR="91425" marL="91425"/>
                </a:tc>
              </a:tr>
              <a:tr h="381000">
                <a:tc>
                  <a:txBody>
                    <a:bodyPr/>
                    <a:lstStyle/>
                    <a:p>
                      <a:pPr indent="0" lvl="0" marL="0" rtl="0" algn="l">
                        <a:spcBef>
                          <a:spcPts val="0"/>
                        </a:spcBef>
                        <a:spcAft>
                          <a:spcPts val="0"/>
                        </a:spcAft>
                        <a:buNone/>
                      </a:pPr>
                      <a:r>
                        <a:rPr lang="en-GB" sz="1050">
                          <a:solidFill>
                            <a:schemeClr val="dk1"/>
                          </a:solidFill>
                          <a:latin typeface="Roboto"/>
                          <a:ea typeface="Roboto"/>
                          <a:cs typeface="Roboto"/>
                          <a:sym typeface="Roboto"/>
                        </a:rPr>
                        <a:t>Capstone IV</a:t>
                      </a:r>
                      <a:endParaRPr/>
                    </a:p>
                  </a:txBody>
                  <a:tcPr marT="91425" marB="91425" marR="91425" marL="91425"/>
                </a:tc>
                <a:tc>
                  <a:txBody>
                    <a:bodyPr/>
                    <a:lstStyle/>
                    <a:p>
                      <a:pPr indent="0" lvl="0" marL="0" rtl="0" algn="l">
                        <a:spcBef>
                          <a:spcPts val="0"/>
                        </a:spcBef>
                        <a:spcAft>
                          <a:spcPts val="0"/>
                        </a:spcAft>
                        <a:buNone/>
                      </a:pPr>
                      <a:r>
                        <a:rPr lang="en-GB"/>
                        <a:t>3 months</a:t>
                      </a:r>
                      <a:endParaRPr/>
                    </a:p>
                  </a:txBody>
                  <a:tcPr marT="91425" marB="91425" marR="91425" marL="91425"/>
                </a:tc>
                <a:tc>
                  <a:txBody>
                    <a:bodyPr/>
                    <a:lstStyle/>
                    <a:p>
                      <a:pPr indent="0" lvl="0" marL="0" rtl="0" algn="l">
                        <a:spcBef>
                          <a:spcPts val="0"/>
                        </a:spcBef>
                        <a:spcAft>
                          <a:spcPts val="0"/>
                        </a:spcAft>
                        <a:buNone/>
                      </a:pPr>
                      <a:r>
                        <a:rPr lang="en-GB"/>
                        <a:t>Real-world testing &amp; validation, paper writing</a:t>
                      </a:r>
                      <a:endParaRPr/>
                    </a:p>
                  </a:txBody>
                  <a:tcPr marT="91425" marB="91425" marR="91425" marL="91425"/>
                </a:tc>
                <a:tc>
                  <a:txBody>
                    <a:bodyPr/>
                    <a:lstStyle/>
                    <a:p>
                      <a:pPr indent="0" lvl="0" marL="0" rtl="0" algn="l">
                        <a:spcBef>
                          <a:spcPts val="0"/>
                        </a:spcBef>
                        <a:spcAft>
                          <a:spcPts val="0"/>
                        </a:spcAft>
                        <a:buNone/>
                      </a:pPr>
                      <a:r>
                        <a:rPr lang="en-GB"/>
                        <a:t>Performance benchmarking, paper writing</a:t>
                      </a:r>
                      <a:endParaRPr/>
                    </a:p>
                  </a:txBody>
                  <a:tcPr marT="91425" marB="91425" marR="91425" marL="91425"/>
                </a:tc>
                <a:tc>
                  <a:txBody>
                    <a:bodyPr/>
                    <a:lstStyle/>
                    <a:p>
                      <a:pPr indent="0" lvl="0" marL="0" rtl="0" algn="l">
                        <a:spcBef>
                          <a:spcPts val="0"/>
                        </a:spcBef>
                        <a:spcAft>
                          <a:spcPts val="0"/>
                        </a:spcAft>
                        <a:buNone/>
                      </a:pPr>
                      <a:r>
                        <a:rPr lang="en-GB"/>
                        <a:t>False positive analysis, paper writing</a:t>
                      </a:r>
                      <a:endParaRPr/>
                    </a:p>
                  </a:txBody>
                  <a:tcPr marT="91425" marB="91425" marR="91425" marL="91425"/>
                </a:tc>
                <a:tc>
                  <a:txBody>
                    <a:bodyPr/>
                    <a:lstStyle/>
                    <a:p>
                      <a:pPr indent="0" lvl="0" marL="0" rtl="0" algn="l">
                        <a:spcBef>
                          <a:spcPts val="0"/>
                        </a:spcBef>
                        <a:spcAft>
                          <a:spcPts val="0"/>
                        </a:spcAft>
                        <a:buNone/>
                      </a:pPr>
                      <a:r>
                        <a:rPr lang="en-GB"/>
                        <a:t>Optimize and document system, paper writing</a:t>
                      </a:r>
                      <a:endParaRPr/>
                    </a:p>
                  </a:txBody>
                  <a:tcPr marT="91425" marB="91425" marR="91425" marL="91425"/>
                </a:tc>
              </a:tr>
            </a:tbl>
          </a:graphicData>
        </a:graphic>
      </p:graphicFrame>
      <p:sp>
        <p:nvSpPr>
          <p:cNvPr id="256" name="Google Shape;256;p46"/>
          <p:cNvSpPr txBox="1"/>
          <p:nvPr/>
        </p:nvSpPr>
        <p:spPr>
          <a:xfrm>
            <a:off x="899575" y="142902"/>
            <a:ext cx="6572400" cy="346200"/>
          </a:xfrm>
          <a:prstGeom prst="rect">
            <a:avLst/>
          </a:prstGeom>
          <a:noFill/>
          <a:ln>
            <a:noFill/>
          </a:ln>
        </p:spPr>
        <p:txBody>
          <a:bodyPr anchorCtr="0" anchor="t" bIns="34275" lIns="68575" spcFirstLastPara="1" rIns="68575" wrap="square" tIns="34275">
            <a:spAutoFit/>
          </a:bodyPr>
          <a:lstStyle/>
          <a:p>
            <a:pPr indent="-254000" lvl="0" marL="254000" marR="0" rtl="0" algn="r">
              <a:spcBef>
                <a:spcPts val="0"/>
              </a:spcBef>
              <a:spcAft>
                <a:spcPts val="0"/>
              </a:spcAft>
              <a:buNone/>
            </a:pPr>
            <a:r>
              <a:rPr lang="en-GB" sz="1800">
                <a:solidFill>
                  <a:srgbClr val="FF0000"/>
                </a:solidFill>
                <a:latin typeface="Trebuchet MS"/>
                <a:ea typeface="Trebuchet MS"/>
                <a:cs typeface="Trebuchet MS"/>
                <a:sym typeface="Trebuchet MS"/>
              </a:rPr>
              <a:t>Project Timeline</a:t>
            </a:r>
            <a:endParaRPr sz="18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7"/>
          <p:cNvSpPr txBox="1"/>
          <p:nvPr/>
        </p:nvSpPr>
        <p:spPr>
          <a:xfrm>
            <a:off x="204650" y="308875"/>
            <a:ext cx="6440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chemeClr val="dk1"/>
                </a:solidFill>
                <a:latin typeface="Calibri"/>
                <a:ea typeface="Calibri"/>
                <a:cs typeface="Calibri"/>
                <a:sym typeface="Calibri"/>
              </a:rPr>
              <a:t>REFERENCE DATASETS</a:t>
            </a:r>
            <a:r>
              <a:rPr lang="en-GB" sz="2100">
                <a:solidFill>
                  <a:schemeClr val="dk1"/>
                </a:solidFill>
                <a:latin typeface="Calibri"/>
                <a:ea typeface="Calibri"/>
                <a:cs typeface="Calibri"/>
                <a:sym typeface="Calibri"/>
              </a:rPr>
              <a:t>:</a:t>
            </a:r>
            <a:endParaRPr sz="2100">
              <a:solidFill>
                <a:schemeClr val="dk1"/>
              </a:solidFill>
              <a:latin typeface="Calibri"/>
              <a:ea typeface="Calibri"/>
              <a:cs typeface="Calibri"/>
              <a:sym typeface="Calibri"/>
            </a:endParaRPr>
          </a:p>
        </p:txBody>
      </p:sp>
      <p:sp>
        <p:nvSpPr>
          <p:cNvPr id="262" name="Google Shape;262;p47"/>
          <p:cNvSpPr txBox="1"/>
          <p:nvPr/>
        </p:nvSpPr>
        <p:spPr>
          <a:xfrm>
            <a:off x="1925000" y="1113150"/>
            <a:ext cx="5503500" cy="278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hlinkClick r:id="rId3"/>
              </a:rPr>
              <a:t>https://github.com/Khang-9966/Computer-Browser-Phone-Use-Agent-Datasets?tab=readme-ov-file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GB" sz="1100">
                <a:solidFill>
                  <a:schemeClr val="dk1"/>
                </a:solidFill>
              </a:rPr>
              <a:t>MMG (Multimodal Gesture Dataset)</a:t>
            </a:r>
            <a:r>
              <a:rPr lang="en-GB" sz="1100">
                <a:solidFill>
                  <a:schemeClr val="dk1"/>
                </a:solidFill>
              </a:rPr>
              <a:t> – contains touch gestures (swipe, zoom, rotate) with success/error cases.</a:t>
            </a:r>
            <a:br>
              <a:rPr lang="en-GB"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GB" sz="1100">
                <a:solidFill>
                  <a:schemeClr val="dk1"/>
                </a:solidFill>
              </a:rPr>
              <a:t>MITiG Touch Gesture Dataset</a:t>
            </a:r>
            <a:r>
              <a:rPr lang="en-GB" sz="1100">
                <a:solidFill>
                  <a:schemeClr val="dk1"/>
                </a:solidFill>
              </a:rPr>
              <a:t> – multi-touch interaction dataset with labeled gestures.</a:t>
            </a:r>
            <a:endParaRPr sz="11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b="1" lang="en-GB" sz="1100">
                <a:solidFill>
                  <a:schemeClr val="dk1"/>
                </a:solidFill>
              </a:rPr>
              <a:t>Google Speech Commands Dataset (V2)</a:t>
            </a:r>
            <a:endParaRPr b="1" sz="1100">
              <a:solidFill>
                <a:schemeClr val="dk1"/>
              </a:solidFill>
            </a:endParaRPr>
          </a:p>
          <a:p>
            <a:pPr indent="0" lvl="0" marL="0" rtl="0" algn="l">
              <a:spcBef>
                <a:spcPts val="0"/>
              </a:spcBef>
              <a:spcAft>
                <a:spcPts val="0"/>
              </a:spcAft>
              <a:buNone/>
            </a:pPr>
            <a:r>
              <a:t/>
            </a:r>
            <a:endParaRPr b="1" sz="1100">
              <a:solidFill>
                <a:schemeClr val="dk1"/>
              </a:solidFill>
            </a:endParaRPr>
          </a:p>
          <a:p>
            <a:pPr indent="0" lvl="0" marL="0" rtl="0" algn="l">
              <a:spcBef>
                <a:spcPts val="0"/>
              </a:spcBef>
              <a:spcAft>
                <a:spcPts val="0"/>
              </a:spcAft>
              <a:buNone/>
            </a:pPr>
            <a:r>
              <a:rPr b="1" lang="en-GB" sz="1100">
                <a:solidFill>
                  <a:schemeClr val="dk1"/>
                </a:solidFill>
              </a:rPr>
              <a:t>MELD (Multimodal EmotionLines Dataset)</a:t>
            </a:r>
            <a:r>
              <a:rPr lang="en-GB" sz="1100">
                <a:solidFill>
                  <a:schemeClr val="dk1"/>
                </a:solidFill>
              </a:rPr>
              <a:t> – dialogue dataset (text + audio + visual) → can be adapted for multimodal flows.</a:t>
            </a:r>
            <a:endParaRPr b="1" sz="1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8"/>
          <p:cNvSpPr txBox="1"/>
          <p:nvPr/>
        </p:nvSpPr>
        <p:spPr>
          <a:xfrm>
            <a:off x="777475" y="2274800"/>
            <a:ext cx="7869000" cy="219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4000">
                <a:solidFill>
                  <a:schemeClr val="dk1"/>
                </a:solidFill>
                <a:latin typeface="Oswald"/>
                <a:ea typeface="Oswald"/>
                <a:cs typeface="Oswald"/>
                <a:sym typeface="Oswald"/>
              </a:rPr>
              <a:t>Background Study</a:t>
            </a:r>
            <a:endParaRPr b="1" sz="4000">
              <a:solidFill>
                <a:schemeClr val="dk1"/>
              </a:solidFill>
              <a:latin typeface="Oswald"/>
              <a:ea typeface="Oswald"/>
              <a:cs typeface="Oswald"/>
              <a:sym typeface="Oswald"/>
            </a:endParaRPr>
          </a:p>
        </p:txBody>
      </p:sp>
      <p:cxnSp>
        <p:nvCxnSpPr>
          <p:cNvPr id="268" name="Google Shape;268;p48"/>
          <p:cNvCxnSpPr/>
          <p:nvPr/>
        </p:nvCxnSpPr>
        <p:spPr>
          <a:xfrm>
            <a:off x="1641300" y="2061300"/>
            <a:ext cx="7502700" cy="29400"/>
          </a:xfrm>
          <a:prstGeom prst="straightConnector1">
            <a:avLst/>
          </a:prstGeom>
          <a:noFill/>
          <a:ln cap="flat" cmpd="sng" w="9525">
            <a:solidFill>
              <a:schemeClr val="dk2"/>
            </a:solidFill>
            <a:prstDash val="solid"/>
            <a:round/>
            <a:headEnd len="med" w="med" type="none"/>
            <a:tailEnd len="med" w="med" type="none"/>
          </a:ln>
        </p:spPr>
      </p:cxnSp>
      <p:cxnSp>
        <p:nvCxnSpPr>
          <p:cNvPr id="269" name="Google Shape;269;p48"/>
          <p:cNvCxnSpPr/>
          <p:nvPr/>
        </p:nvCxnSpPr>
        <p:spPr>
          <a:xfrm flipH="1" rot="10800000">
            <a:off x="1641300" y="3233575"/>
            <a:ext cx="7502700" cy="14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graphicFrame>
        <p:nvGraphicFramePr>
          <p:cNvPr id="274" name="Google Shape;274;p49"/>
          <p:cNvGraphicFramePr/>
          <p:nvPr/>
        </p:nvGraphicFramePr>
        <p:xfrm>
          <a:off x="201250" y="186825"/>
          <a:ext cx="3000000" cy="3000000"/>
        </p:xfrm>
        <a:graphic>
          <a:graphicData uri="http://schemas.openxmlformats.org/drawingml/2006/table">
            <a:tbl>
              <a:tblPr>
                <a:noFill/>
                <a:tableStyleId>{D6E3B60E-16DC-4F97-A95D-470E5E277794}</a:tableStyleId>
              </a:tblPr>
              <a:tblGrid>
                <a:gridCol w="1899725"/>
                <a:gridCol w="6432875"/>
              </a:tblGrid>
              <a:tr h="381000">
                <a:tc>
                  <a:txBody>
                    <a:bodyPr/>
                    <a:lstStyle/>
                    <a:p>
                      <a:pPr indent="0" lvl="0" marL="0" rtl="0" algn="l">
                        <a:spcBef>
                          <a:spcPts val="0"/>
                        </a:spcBef>
                        <a:spcAft>
                          <a:spcPts val="0"/>
                        </a:spcAft>
                        <a:buNone/>
                      </a:pPr>
                      <a:r>
                        <a:rPr lang="en-GB"/>
                        <a:t>Title :</a:t>
                      </a:r>
                      <a:endParaRPr/>
                    </a:p>
                  </a:txBody>
                  <a:tcPr marT="91425" marB="91425" marR="91425" marL="91425"/>
                </a:tc>
                <a:tc>
                  <a:txBody>
                    <a:bodyPr/>
                    <a:lstStyle/>
                    <a:p>
                      <a:pPr indent="0" lvl="0" marL="0" rtl="0" algn="l">
                        <a:spcBef>
                          <a:spcPts val="0"/>
                        </a:spcBef>
                        <a:spcAft>
                          <a:spcPts val="0"/>
                        </a:spcAft>
                        <a:buNone/>
                      </a:pPr>
                      <a:r>
                        <a:rPr lang="en-GB" sz="1300"/>
                        <a:t>"LLM-powered Multimodal Insight Summarization for UX Testing”</a:t>
                      </a:r>
                      <a:r>
                        <a:rPr lang="en-GB" sz="1200">
                          <a:solidFill>
                            <a:schemeClr val="dk1"/>
                          </a:solidFill>
                          <a:latin typeface="Roboto"/>
                          <a:ea typeface="Roboto"/>
                          <a:cs typeface="Roboto"/>
                          <a:sym typeface="Roboto"/>
                        </a:rPr>
                        <a:t>Kelsey</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GB" sz="1200">
                          <a:solidFill>
                            <a:schemeClr val="dk1"/>
                          </a:solidFill>
                          <a:latin typeface="Roboto"/>
                          <a:ea typeface="Roboto"/>
                          <a:cs typeface="Roboto"/>
                          <a:sym typeface="Roboto"/>
                        </a:rPr>
                        <a:t> Turbeville, Ranjitha Kumar, Jennarong Muengtaweepongsa, et al. (2024)</a:t>
                      </a:r>
                      <a:endParaRPr sz="1300"/>
                    </a:p>
                  </a:txBody>
                  <a:tcPr marT="91425" marB="91425" marR="91425" marL="91425"/>
                </a:tc>
              </a:tr>
              <a:tr h="381000">
                <a:tc>
                  <a:txBody>
                    <a:bodyPr/>
                    <a:lstStyle/>
                    <a:p>
                      <a:pPr indent="0" lvl="0" marL="0" rtl="0" algn="l">
                        <a:spcBef>
                          <a:spcPts val="0"/>
                        </a:spcBef>
                        <a:spcAft>
                          <a:spcPts val="0"/>
                        </a:spcAft>
                        <a:buNone/>
                      </a:pPr>
                      <a:r>
                        <a:rPr lang="en-GB"/>
                        <a:t>Methodology</a:t>
                      </a:r>
                      <a:endParaRPr/>
                    </a:p>
                  </a:txBody>
                  <a:tcPr marT="91425" marB="91425" marR="91425" marL="91425"/>
                </a:tc>
                <a:tc>
                  <a:txBody>
                    <a:bodyPr/>
                    <a:lstStyle/>
                    <a:p>
                      <a:pPr indent="0" lvl="0" marL="0" rtl="0" algn="l">
                        <a:spcBef>
                          <a:spcPts val="0"/>
                        </a:spcBef>
                        <a:spcAft>
                          <a:spcPts val="0"/>
                        </a:spcAft>
                        <a:buNone/>
                      </a:pPr>
                      <a:r>
                        <a:rPr b="1" lang="en-GB" sz="1200">
                          <a:solidFill>
                            <a:schemeClr val="dk1"/>
                          </a:solidFill>
                          <a:latin typeface="Roboto"/>
                          <a:ea typeface="Roboto"/>
                          <a:cs typeface="Roboto"/>
                          <a:sym typeface="Roboto"/>
                        </a:rPr>
                        <a:t>Two-stage LLM prompting: </a:t>
                      </a:r>
                      <a:r>
                        <a:rPr lang="en-GB" sz="1200">
                          <a:solidFill>
                            <a:schemeClr val="dk1"/>
                          </a:solidFill>
                          <a:latin typeface="Roboto"/>
                          <a:ea typeface="Roboto"/>
                          <a:cs typeface="Roboto"/>
                          <a:sym typeface="Roboto"/>
                        </a:rPr>
                        <a:t>(1) generate multimodal transcripts per session (2) aggregate insights across sessions. Combines verbal, behavioral, and design data (clickstream, DOM, audio). Chrome extension used for data capture; GPT-3.5 and GPT-4 models leveraged. Insights traceable to source evidence.</a:t>
                      </a:r>
                      <a:endParaRPr sz="1200"/>
                    </a:p>
                  </a:txBody>
                  <a:tcPr marT="91425" marB="91425" marR="91425" marL="91425"/>
                </a:tc>
              </a:tr>
              <a:tr h="381000">
                <a:tc>
                  <a:txBody>
                    <a:bodyPr/>
                    <a:lstStyle/>
                    <a:p>
                      <a:pPr indent="0" lvl="0" marL="0" rtl="0" algn="l">
                        <a:spcBef>
                          <a:spcPts val="0"/>
                        </a:spcBef>
                        <a:spcAft>
                          <a:spcPts val="0"/>
                        </a:spcAft>
                        <a:buNone/>
                      </a:pPr>
                      <a:r>
                        <a:rPr lang="en-GB"/>
                        <a:t>Findings/Research</a:t>
                      </a:r>
                      <a:endParaRPr/>
                    </a:p>
                  </a:txBody>
                  <a:tcPr marT="91425" marB="91425" marR="91425" marL="91425"/>
                </a:tc>
                <a:tc>
                  <a:txBody>
                    <a:bodyPr/>
                    <a:lstStyle/>
                    <a:p>
                      <a:pPr indent="0" lvl="0" marL="0" rtl="0" algn="l">
                        <a:spcBef>
                          <a:spcPts val="0"/>
                        </a:spcBef>
                        <a:spcAft>
                          <a:spcPts val="0"/>
                        </a:spcAft>
                        <a:buNone/>
                      </a:pPr>
                      <a:r>
                        <a:rPr lang="en-GB" sz="1200">
                          <a:solidFill>
                            <a:schemeClr val="dk1"/>
                          </a:solidFill>
                          <a:latin typeface="Roboto"/>
                          <a:ea typeface="Roboto"/>
                          <a:cs typeface="Roboto"/>
                          <a:sym typeface="Roboto"/>
                        </a:rPr>
                        <a:t>Processed 75,464 UX studies; 3,821 researchers created 56,830 insight summaries. Improved efficiency and analysis speed with linked evidence verification. </a:t>
                      </a:r>
                      <a:r>
                        <a:rPr b="1" lang="en-GB" sz="1200">
                          <a:solidFill>
                            <a:schemeClr val="dk1"/>
                          </a:solidFill>
                          <a:latin typeface="Roboto"/>
                          <a:ea typeface="Roboto"/>
                          <a:cs typeface="Roboto"/>
                          <a:sym typeface="Roboto"/>
                        </a:rPr>
                        <a:t>Challenges include LLM arithmetic limits and transcription errors</a:t>
                      </a:r>
                      <a:r>
                        <a:rPr lang="en-GB" sz="1200">
                          <a:solidFill>
                            <a:schemeClr val="dk1"/>
                          </a:solidFill>
                          <a:latin typeface="Roboto"/>
                          <a:ea typeface="Roboto"/>
                          <a:cs typeface="Roboto"/>
                          <a:sym typeface="Roboto"/>
                        </a:rPr>
                        <a:t>. Customization needs identified based on user feedback.</a:t>
                      </a:r>
                      <a:endParaRPr sz="1200"/>
                    </a:p>
                  </a:txBody>
                  <a:tcPr marT="91425" marB="91425" marR="91425" marL="91425"/>
                </a:tc>
              </a:tr>
              <a:tr h="481475">
                <a:tc>
                  <a:txBody>
                    <a:bodyPr/>
                    <a:lstStyle/>
                    <a:p>
                      <a:pPr indent="0" lvl="0" marL="0" rtl="0" algn="l">
                        <a:spcBef>
                          <a:spcPts val="0"/>
                        </a:spcBef>
                        <a:spcAft>
                          <a:spcPts val="0"/>
                        </a:spcAft>
                        <a:buNone/>
                      </a:pPr>
                      <a:r>
                        <a:rPr lang="en-GB"/>
                        <a:t>Future work</a:t>
                      </a:r>
                      <a:endParaRPr/>
                    </a:p>
                  </a:txBody>
                  <a:tcPr marT="91425" marB="91425" marR="91425" marL="91425"/>
                </a:tc>
                <a:tc>
                  <a:txBody>
                    <a:bodyPr/>
                    <a:lstStyle/>
                    <a:p>
                      <a:pPr indent="0" lvl="0" marL="0" rtl="0" algn="l">
                        <a:spcBef>
                          <a:spcPts val="0"/>
                        </a:spcBef>
                        <a:spcAft>
                          <a:spcPts val="0"/>
                        </a:spcAft>
                        <a:buNone/>
                      </a:pPr>
                      <a:r>
                        <a:rPr lang="en-GB" sz="1200">
                          <a:solidFill>
                            <a:schemeClr val="dk1"/>
                          </a:solidFill>
                          <a:latin typeface="Roboto"/>
                          <a:ea typeface="Roboto"/>
                          <a:cs typeface="Roboto"/>
                          <a:sym typeface="Roboto"/>
                        </a:rPr>
                        <a:t>Improve counting accuracy; allow hiding/pinning insights; add user-customizable prompts; explore multimodal LLMs for direct video/audio processing; enable insight editing; improve export features; address transcription quality; customize for varied research domains.</a:t>
                      </a:r>
                      <a:endParaRPr sz="1200"/>
                    </a:p>
                  </a:txBody>
                  <a:tcPr marT="91425" marB="91425" marR="91425" marL="91425"/>
                </a:tc>
              </a:tr>
              <a:tr h="381000">
                <a:tc>
                  <a:txBody>
                    <a:bodyPr/>
                    <a:lstStyle/>
                    <a:p>
                      <a:pPr indent="0" lvl="0" marL="0" rtl="0" algn="l">
                        <a:spcBef>
                          <a:spcPts val="0"/>
                        </a:spcBef>
                        <a:spcAft>
                          <a:spcPts val="0"/>
                        </a:spcAft>
                        <a:buNone/>
                      </a:pPr>
                      <a:r>
                        <a:rPr lang="en-GB"/>
                        <a:t>Datasets used</a:t>
                      </a:r>
                      <a:endParaRPr/>
                    </a:p>
                  </a:txBody>
                  <a:tcPr marT="91425" marB="91425" marR="91425" marL="91425"/>
                </a:tc>
                <a:tc>
                  <a:txBody>
                    <a:bodyPr/>
                    <a:lstStyle/>
                    <a:p>
                      <a:pPr indent="0" lvl="0" marL="0" rtl="0" algn="l">
                        <a:spcBef>
                          <a:spcPts val="0"/>
                        </a:spcBef>
                        <a:spcAft>
                          <a:spcPts val="0"/>
                        </a:spcAft>
                        <a:buNone/>
                      </a:pPr>
                      <a:r>
                        <a:rPr lang="en-GB" sz="1200">
                          <a:solidFill>
                            <a:schemeClr val="dk1"/>
                          </a:solidFill>
                          <a:latin typeface="Roboto"/>
                          <a:ea typeface="Roboto"/>
                          <a:cs typeface="Roboto"/>
                          <a:sym typeface="Roboto"/>
                        </a:rPr>
                        <a:t>Real UserTesting platform data: 75,464 UX studies over 8 months capturing multimodal streams (clickstream, surveys, screen recordings, audio transcription), DOM tree data, event logs, and researcher feedback.</a:t>
                      </a:r>
                      <a:endParaRPr sz="1200"/>
                    </a:p>
                  </a:txBody>
                  <a:tcPr marT="91425" marB="91425" marR="91425" marL="91425"/>
                </a:tc>
              </a:tr>
              <a:tr h="100000">
                <a:tc>
                  <a:txBody>
                    <a:bodyPr/>
                    <a:lstStyle/>
                    <a:p>
                      <a:pPr indent="0" lvl="0" marL="0" rtl="0" algn="l">
                        <a:spcBef>
                          <a:spcPts val="0"/>
                        </a:spcBef>
                        <a:spcAft>
                          <a:spcPts val="0"/>
                        </a:spcAft>
                        <a:buNone/>
                      </a:pPr>
                      <a:r>
                        <a:rPr lang="en-GB"/>
                        <a:t>Gaps</a:t>
                      </a:r>
                      <a:endParaRPr/>
                    </a:p>
                  </a:txBody>
                  <a:tcPr marT="91425" marB="91425" marR="91425" marL="91425"/>
                </a:tc>
                <a:tc>
                  <a:txBody>
                    <a:bodyPr/>
                    <a:lstStyle/>
                    <a:p>
                      <a:pPr indent="0" lvl="0" marL="0" rtl="0" algn="l">
                        <a:spcBef>
                          <a:spcPts val="0"/>
                        </a:spcBef>
                        <a:spcAft>
                          <a:spcPts val="0"/>
                        </a:spcAft>
                        <a:buNone/>
                      </a:pPr>
                      <a:r>
                        <a:rPr lang="en-GB" sz="1200">
                          <a:solidFill>
                            <a:schemeClr val="dk1"/>
                          </a:solidFill>
                          <a:latin typeface="Roboto"/>
                          <a:ea typeface="Roboto"/>
                          <a:cs typeface="Roboto"/>
                          <a:sym typeface="Roboto"/>
                        </a:rPr>
                        <a:t>Limited LLM counting/arithmetic precision; transcription inaccuracies; lack of customization; no editing or advanced export; dependency on text representation may miss some visuals; limited evaluation beyond feedback; potential hallucinations; no comparison with manual methods; scalability concerns.</a:t>
                      </a:r>
                      <a:endParaRPr sz="1200"/>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graphicFrame>
        <p:nvGraphicFramePr>
          <p:cNvPr id="279" name="Google Shape;279;p50"/>
          <p:cNvGraphicFramePr/>
          <p:nvPr/>
        </p:nvGraphicFramePr>
        <p:xfrm>
          <a:off x="367400" y="132275"/>
          <a:ext cx="3000000" cy="3000000"/>
        </p:xfrm>
        <a:graphic>
          <a:graphicData uri="http://schemas.openxmlformats.org/drawingml/2006/table">
            <a:tbl>
              <a:tblPr>
                <a:noFill/>
                <a:tableStyleId>{D6E3B60E-16DC-4F97-A95D-470E5E277794}</a:tableStyleId>
              </a:tblPr>
              <a:tblGrid>
                <a:gridCol w="2318125"/>
                <a:gridCol w="5807225"/>
              </a:tblGrid>
              <a:tr h="593400">
                <a:tc>
                  <a:txBody>
                    <a:bodyPr/>
                    <a:lstStyle/>
                    <a:p>
                      <a:pPr indent="0" lvl="0" marL="0" rtl="0" algn="l">
                        <a:spcBef>
                          <a:spcPts val="0"/>
                        </a:spcBef>
                        <a:spcAft>
                          <a:spcPts val="0"/>
                        </a:spcAft>
                        <a:buNone/>
                      </a:pPr>
                      <a:r>
                        <a:rPr lang="en-GB" sz="1300"/>
                        <a:t>Title :</a:t>
                      </a:r>
                      <a:endParaRPr sz="1300"/>
                    </a:p>
                  </a:txBody>
                  <a:tcPr marT="91425" marB="91425" marR="91425" marL="91425"/>
                </a:tc>
                <a:tc>
                  <a:txBody>
                    <a:bodyPr/>
                    <a:lstStyle/>
                    <a:p>
                      <a:pPr indent="0" lvl="0" marL="0" rtl="0" algn="l">
                        <a:spcBef>
                          <a:spcPts val="0"/>
                        </a:spcBef>
                        <a:spcAft>
                          <a:spcPts val="0"/>
                        </a:spcAft>
                        <a:buNone/>
                      </a:pPr>
                      <a:r>
                        <a:rPr lang="en-GB" sz="1300"/>
                        <a:t> End-to-end RPA-like testing using reinforcement learning</a:t>
                      </a:r>
                      <a:endParaRPr sz="1300"/>
                    </a:p>
                    <a:p>
                      <a:pPr indent="0" lvl="0" marL="0" rtl="0" algn="l">
                        <a:spcBef>
                          <a:spcPts val="0"/>
                        </a:spcBef>
                        <a:spcAft>
                          <a:spcPts val="0"/>
                        </a:spcAft>
                        <a:buNone/>
                      </a:pPr>
                      <a:r>
                        <a:rPr lang="en-GB" sz="1300"/>
                        <a:t>By C Păduraru · 2024</a:t>
                      </a:r>
                      <a:endParaRPr sz="1300"/>
                    </a:p>
                  </a:txBody>
                  <a:tcPr marT="91425" marB="91425" marR="91425" marL="91425"/>
                </a:tc>
              </a:tr>
              <a:tr h="965200">
                <a:tc>
                  <a:txBody>
                    <a:bodyPr/>
                    <a:lstStyle/>
                    <a:p>
                      <a:pPr indent="0" lvl="0" marL="0" rtl="0" algn="l">
                        <a:spcBef>
                          <a:spcPts val="0"/>
                        </a:spcBef>
                        <a:spcAft>
                          <a:spcPts val="0"/>
                        </a:spcAft>
                        <a:buNone/>
                      </a:pPr>
                      <a:r>
                        <a:rPr lang="en-GB" sz="1300"/>
                        <a:t>Methodology</a:t>
                      </a:r>
                      <a:endParaRPr sz="1300"/>
                    </a:p>
                  </a:txBody>
                  <a:tcPr marT="91425" marB="91425" marR="91425" marL="91425"/>
                </a:tc>
                <a:tc>
                  <a:txBody>
                    <a:bodyPr/>
                    <a:lstStyle/>
                    <a:p>
                      <a:pPr indent="0" lvl="0" marL="0" rtl="0" algn="l">
                        <a:spcBef>
                          <a:spcPts val="0"/>
                        </a:spcBef>
                        <a:spcAft>
                          <a:spcPts val="0"/>
                        </a:spcAft>
                        <a:buNone/>
                      </a:pPr>
                      <a:r>
                        <a:rPr lang="en-GB" sz="1300"/>
                        <a:t>The paper uses three deep reinforcement learning approaches: </a:t>
                      </a:r>
                      <a:endParaRPr sz="1300"/>
                    </a:p>
                    <a:p>
                      <a:pPr indent="0" lvl="0" marL="0" rtl="0" algn="l">
                        <a:spcBef>
                          <a:spcPts val="0"/>
                        </a:spcBef>
                        <a:spcAft>
                          <a:spcPts val="0"/>
                        </a:spcAft>
                        <a:buNone/>
                      </a:pPr>
                      <a:r>
                        <a:rPr lang="en-GB" sz="1300"/>
                        <a:t>They create application graphs (manually or via crawling) that abstract UI states and flows, then train agents to navigate these graphs while testing functionality</a:t>
                      </a:r>
                      <a:endParaRPr sz="1300"/>
                    </a:p>
                  </a:txBody>
                  <a:tcPr marT="91425" marB="91425" marR="91425" marL="91425"/>
                </a:tc>
              </a:tr>
              <a:tr h="766050">
                <a:tc>
                  <a:txBody>
                    <a:bodyPr/>
                    <a:lstStyle/>
                    <a:p>
                      <a:pPr indent="0" lvl="0" marL="0" rtl="0" algn="l">
                        <a:spcBef>
                          <a:spcPts val="0"/>
                        </a:spcBef>
                        <a:spcAft>
                          <a:spcPts val="0"/>
                        </a:spcAft>
                        <a:buNone/>
                      </a:pPr>
                      <a:r>
                        <a:rPr lang="en-GB" sz="1300"/>
                        <a:t>Findings/Research</a:t>
                      </a:r>
                      <a:endParaRPr sz="1300"/>
                    </a:p>
                  </a:txBody>
                  <a:tcPr marT="91425" marB="91425" marR="91425" marL="91425"/>
                </a:tc>
                <a:tc>
                  <a:txBody>
                    <a:bodyPr/>
                    <a:lstStyle/>
                    <a:p>
                      <a:pPr indent="0" lvl="0" marL="0" rtl="0" algn="l">
                        <a:spcBef>
                          <a:spcPts val="0"/>
                        </a:spcBef>
                        <a:spcAft>
                          <a:spcPts val="0"/>
                        </a:spcAft>
                        <a:buNone/>
                      </a:pPr>
                      <a:r>
                        <a:rPr lang="en-GB" sz="1300"/>
                        <a:t>Agents can generate tests 6x faster than humans (430 tests/hour vs 72 tests/hour) and discovered 2 real bugs plus 8 artificially injected ones that human testers missed.</a:t>
                      </a:r>
                      <a:endParaRPr sz="1300"/>
                    </a:p>
                  </a:txBody>
                  <a:tcPr marT="91425" marB="91425" marR="91425" marL="91425"/>
                </a:tc>
              </a:tr>
              <a:tr h="737625">
                <a:tc>
                  <a:txBody>
                    <a:bodyPr/>
                    <a:lstStyle/>
                    <a:p>
                      <a:pPr indent="0" lvl="0" marL="0" rtl="0" algn="l">
                        <a:spcBef>
                          <a:spcPts val="0"/>
                        </a:spcBef>
                        <a:spcAft>
                          <a:spcPts val="0"/>
                        </a:spcAft>
                        <a:buNone/>
                      </a:pPr>
                      <a:r>
                        <a:rPr lang="en-GB" sz="1300"/>
                        <a:t>Future work</a:t>
                      </a:r>
                      <a:endParaRPr sz="1300"/>
                    </a:p>
                  </a:txBody>
                  <a:tcPr marT="91425" marB="91425" marR="91425" marL="91425"/>
                </a:tc>
                <a:tc>
                  <a:txBody>
                    <a:bodyPr/>
                    <a:lstStyle/>
                    <a:p>
                      <a:pPr indent="0" lvl="0" marL="0" rtl="0" algn="l">
                        <a:spcBef>
                          <a:spcPts val="0"/>
                        </a:spcBef>
                        <a:spcAft>
                          <a:spcPts val="0"/>
                        </a:spcAft>
                        <a:buNone/>
                      </a:pPr>
                      <a:r>
                        <a:rPr lang="en-GB" sz="1300"/>
                        <a:t> Future work includes better integration with industrial RPA workflows and expanding beyond the single banking application they tested.</a:t>
                      </a:r>
                      <a:endParaRPr sz="1300"/>
                    </a:p>
                  </a:txBody>
                  <a:tcPr marT="91425" marB="91425" marR="91425" marL="91425"/>
                </a:tc>
              </a:tr>
              <a:tr h="385700">
                <a:tc>
                  <a:txBody>
                    <a:bodyPr/>
                    <a:lstStyle/>
                    <a:p>
                      <a:pPr indent="0" lvl="0" marL="0" rtl="0" algn="l">
                        <a:spcBef>
                          <a:spcPts val="0"/>
                        </a:spcBef>
                        <a:spcAft>
                          <a:spcPts val="0"/>
                        </a:spcAft>
                        <a:buNone/>
                      </a:pPr>
                      <a:r>
                        <a:rPr lang="en-GB" sz="1300"/>
                        <a:t>Datasets used</a:t>
                      </a:r>
                      <a:endParaRPr sz="1300"/>
                    </a:p>
                  </a:txBody>
                  <a:tcPr marT="91425" marB="91425" marR="91425" marL="91425"/>
                </a:tc>
                <a:tc>
                  <a:txBody>
                    <a:bodyPr/>
                    <a:lstStyle/>
                    <a:p>
                      <a:pPr indent="0" lvl="0" marL="0" rtl="0" algn="l">
                        <a:spcBef>
                          <a:spcPts val="0"/>
                        </a:spcBef>
                        <a:spcAft>
                          <a:spcPts val="0"/>
                        </a:spcAft>
                        <a:buNone/>
                      </a:pPr>
                      <a:r>
                        <a:rPr lang="en-GB" sz="1300"/>
                        <a:t>UiPath's UiBank application (a mock banking app)</a:t>
                      </a:r>
                      <a:endParaRPr sz="1300"/>
                    </a:p>
                  </a:txBody>
                  <a:tcPr marT="91425" marB="91425" marR="91425" marL="91425"/>
                </a:tc>
              </a:tr>
              <a:tr h="1591050">
                <a:tc>
                  <a:txBody>
                    <a:bodyPr/>
                    <a:lstStyle/>
                    <a:p>
                      <a:pPr indent="0" lvl="0" marL="0" rtl="0" algn="l">
                        <a:spcBef>
                          <a:spcPts val="0"/>
                        </a:spcBef>
                        <a:spcAft>
                          <a:spcPts val="0"/>
                        </a:spcAft>
                        <a:buNone/>
                      </a:pPr>
                      <a:r>
                        <a:rPr lang="en-GB" sz="1300"/>
                        <a:t>Gaps</a:t>
                      </a:r>
                      <a:endParaRPr sz="1300"/>
                    </a:p>
                  </a:txBody>
                  <a:tcPr marT="91425" marB="91425" marR="91425" marL="91425"/>
                </a:tc>
                <a:tc>
                  <a:txBody>
                    <a:bodyPr/>
                    <a:lstStyle/>
                    <a:p>
                      <a:pPr indent="0" lvl="0" marL="0" rtl="0" algn="l">
                        <a:spcBef>
                          <a:spcPts val="0"/>
                        </a:spcBef>
                        <a:spcAft>
                          <a:spcPts val="0"/>
                        </a:spcAft>
                        <a:buNone/>
                      </a:pPr>
                      <a:r>
                        <a:rPr lang="en-GB" sz="1300"/>
                        <a:t>Tested  only one simple application.</a:t>
                      </a:r>
                      <a:endParaRPr sz="1300"/>
                    </a:p>
                    <a:p>
                      <a:pPr indent="0" lvl="0" marL="0" rtl="0" algn="l">
                        <a:spcBef>
                          <a:spcPts val="0"/>
                        </a:spcBef>
                        <a:spcAft>
                          <a:spcPts val="0"/>
                        </a:spcAft>
                        <a:buNone/>
                      </a:pPr>
                      <a:r>
                        <a:rPr lang="en-GB" sz="1300"/>
                        <a:t>Relies heavily on manual application graph creation and developer-provided hints.</a:t>
                      </a:r>
                      <a:endParaRPr sz="1300"/>
                    </a:p>
                    <a:p>
                      <a:pPr indent="0" lvl="0" marL="0" rtl="0" algn="l">
                        <a:spcBef>
                          <a:spcPts val="0"/>
                        </a:spcBef>
                        <a:spcAft>
                          <a:spcPts val="0"/>
                        </a:spcAft>
                        <a:buNone/>
                      </a:pPr>
                      <a:r>
                        <a:rPr lang="en-GB" sz="1300"/>
                        <a:t>No visual UI understanding - only uses DOM structure, missing layout and UX issues. </a:t>
                      </a:r>
                      <a:endParaRPr sz="1300"/>
                    </a:p>
                    <a:p>
                      <a:pPr indent="0" lvl="0" marL="0" rtl="0" algn="l">
                        <a:spcBef>
                          <a:spcPts val="0"/>
                        </a:spcBef>
                        <a:spcAft>
                          <a:spcPts val="0"/>
                        </a:spcAft>
                        <a:buNone/>
                      </a:pPr>
                      <a:r>
                        <a:rPr lang="en-GB" sz="1300"/>
                        <a:t>Artificially injected bugs rather than discovering real usability problems</a:t>
                      </a:r>
                      <a:endParaRPr sz="1300"/>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1"/>
          <p:cNvSpPr txBox="1"/>
          <p:nvPr/>
        </p:nvSpPr>
        <p:spPr>
          <a:xfrm>
            <a:off x="-202025" y="-304200"/>
            <a:ext cx="6440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graphicFrame>
        <p:nvGraphicFramePr>
          <p:cNvPr id="285" name="Google Shape;285;p51"/>
          <p:cNvGraphicFramePr/>
          <p:nvPr/>
        </p:nvGraphicFramePr>
        <p:xfrm>
          <a:off x="62900" y="143725"/>
          <a:ext cx="3000000" cy="3000000"/>
        </p:xfrm>
        <a:graphic>
          <a:graphicData uri="http://schemas.openxmlformats.org/drawingml/2006/table">
            <a:tbl>
              <a:tblPr>
                <a:noFill/>
                <a:tableStyleId>{D6E3B60E-16DC-4F97-A95D-470E5E277794}</a:tableStyleId>
              </a:tblPr>
              <a:tblGrid>
                <a:gridCol w="1872775"/>
                <a:gridCol w="7208325"/>
              </a:tblGrid>
              <a:tr h="381000">
                <a:tc>
                  <a:txBody>
                    <a:bodyPr/>
                    <a:lstStyle/>
                    <a:p>
                      <a:pPr indent="0" lvl="0" marL="0" rtl="0" algn="l">
                        <a:spcBef>
                          <a:spcPts val="0"/>
                        </a:spcBef>
                        <a:spcAft>
                          <a:spcPts val="0"/>
                        </a:spcAft>
                        <a:buNone/>
                      </a:pPr>
                      <a:r>
                        <a:rPr lang="en-GB" sz="1500"/>
                        <a:t>Title :</a:t>
                      </a:r>
                      <a:endParaRPr sz="1500"/>
                    </a:p>
                  </a:txBody>
                  <a:tcPr marT="91425" marB="91425" marR="91425" marL="91425"/>
                </a:tc>
                <a:tc>
                  <a:txBody>
                    <a:bodyPr/>
                    <a:lstStyle/>
                    <a:p>
                      <a:pPr indent="0" lvl="0" marL="0" rtl="0" algn="l">
                        <a:spcBef>
                          <a:spcPts val="0"/>
                        </a:spcBef>
                        <a:spcAft>
                          <a:spcPts val="0"/>
                        </a:spcAft>
                        <a:buNone/>
                      </a:pPr>
                      <a:r>
                        <a:rPr lang="en-GB" sz="1100"/>
                        <a:t>AN AUTONOMOUS RL AGENT METHODOLOGY FOR DYNAMIC  WEB UI TESTING IN </a:t>
                      </a:r>
                      <a:endParaRPr sz="1100"/>
                    </a:p>
                    <a:p>
                      <a:pPr indent="0" lvl="0" marL="0" rtl="0" algn="l">
                        <a:spcBef>
                          <a:spcPts val="0"/>
                        </a:spcBef>
                        <a:spcAft>
                          <a:spcPts val="0"/>
                        </a:spcAft>
                        <a:buNone/>
                      </a:pPr>
                      <a:r>
                        <a:rPr lang="en-GB" sz="1100"/>
                        <a:t>A BDD FRAMEWORK by Ali Hassan Mughal- Mar 2025 (https://arxiv.org/pdf/2503.08464)</a:t>
                      </a:r>
                      <a:endParaRPr sz="1100"/>
                    </a:p>
                  </a:txBody>
                  <a:tcPr marT="91425" marB="91425" marR="91425" marL="91425"/>
                </a:tc>
              </a:tr>
              <a:tr h="381000">
                <a:tc>
                  <a:txBody>
                    <a:bodyPr/>
                    <a:lstStyle/>
                    <a:p>
                      <a:pPr indent="0" lvl="0" marL="0" rtl="0" algn="l">
                        <a:spcBef>
                          <a:spcPts val="0"/>
                        </a:spcBef>
                        <a:spcAft>
                          <a:spcPts val="0"/>
                        </a:spcAft>
                        <a:buNone/>
                      </a:pPr>
                      <a:r>
                        <a:rPr lang="en-GB" sz="1500"/>
                        <a:t>Methodology</a:t>
                      </a:r>
                      <a:endParaRPr sz="15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1100">
                          <a:solidFill>
                            <a:schemeClr val="dk1"/>
                          </a:solidFill>
                        </a:rPr>
                        <a:t>- Models the website as a </a:t>
                      </a:r>
                      <a:r>
                        <a:rPr b="1" lang="en-GB" sz="1100">
                          <a:solidFill>
                            <a:schemeClr val="dk1"/>
                          </a:solidFill>
                        </a:rPr>
                        <a:t>maze</a:t>
                      </a:r>
                      <a:r>
                        <a:rPr lang="en-GB" sz="1100">
                          <a:solidFill>
                            <a:schemeClr val="dk1"/>
                          </a:solidFill>
                        </a:rPr>
                        <a:t> (pages = nodes, interactions = transitions).</a:t>
                      </a:r>
                      <a:endParaRPr sz="1100">
                        <a:solidFill>
                          <a:schemeClr val="dk1"/>
                        </a:solidFill>
                      </a:endParaRPr>
                    </a:p>
                    <a:p>
                      <a:pPr indent="0" lvl="0" marL="0" rtl="0" algn="l">
                        <a:spcBef>
                          <a:spcPts val="0"/>
                        </a:spcBef>
                        <a:spcAft>
                          <a:spcPts val="0"/>
                        </a:spcAft>
                        <a:buClr>
                          <a:schemeClr val="dk1"/>
                        </a:buClr>
                        <a:buSzPts val="1100"/>
                        <a:buFont typeface="Arial"/>
                        <a:buNone/>
                      </a:pPr>
                      <a:r>
                        <a:rPr lang="en-GB" sz="1100">
                          <a:solidFill>
                            <a:schemeClr val="dk1"/>
                          </a:solidFill>
                        </a:rPr>
                        <a:t>- Uses </a:t>
                      </a:r>
                      <a:r>
                        <a:rPr b="1" lang="en-GB" sz="1100">
                          <a:solidFill>
                            <a:schemeClr val="dk1"/>
                          </a:solidFill>
                        </a:rPr>
                        <a:t>Reinforcement Learning (RL)</a:t>
                      </a:r>
                      <a:r>
                        <a:rPr lang="en-GB" sz="1100">
                          <a:solidFill>
                            <a:schemeClr val="dk1"/>
                          </a:solidFill>
                        </a:rPr>
                        <a:t> </a:t>
                      </a:r>
                      <a:endParaRPr sz="1100">
                        <a:solidFill>
                          <a:schemeClr val="dk1"/>
                        </a:solidFill>
                      </a:endParaRPr>
                    </a:p>
                    <a:p>
                      <a:pPr indent="0" lvl="0" marL="0" rtl="0" algn="l">
                        <a:spcBef>
                          <a:spcPts val="0"/>
                        </a:spcBef>
                        <a:spcAft>
                          <a:spcPts val="0"/>
                        </a:spcAft>
                        <a:buClr>
                          <a:schemeClr val="dk1"/>
                        </a:buClr>
                        <a:buSzPts val="1100"/>
                        <a:buFont typeface="Arial"/>
                        <a:buNone/>
                      </a:pPr>
                      <a:r>
                        <a:rPr lang="en-GB" sz="1100">
                          <a:solidFill>
                            <a:schemeClr val="dk1"/>
                          </a:solidFill>
                        </a:rPr>
                        <a:t>- Defines </a:t>
                      </a:r>
                      <a:r>
                        <a:rPr b="1" lang="en-GB" sz="1100">
                          <a:solidFill>
                            <a:schemeClr val="dk1"/>
                          </a:solidFill>
                        </a:rPr>
                        <a:t>start points</a:t>
                      </a:r>
                      <a:r>
                        <a:rPr lang="en-GB" sz="1100">
                          <a:solidFill>
                            <a:schemeClr val="dk1"/>
                          </a:solidFill>
                        </a:rPr>
                        <a:t> (homepage/login) and </a:t>
                      </a:r>
                      <a:r>
                        <a:rPr b="1" lang="en-GB" sz="1100">
                          <a:solidFill>
                            <a:schemeClr val="dk1"/>
                          </a:solidFill>
                        </a:rPr>
                        <a:t>endpoints</a:t>
                      </a:r>
                      <a:r>
                        <a:rPr lang="en-GB" sz="1100">
                          <a:solidFill>
                            <a:schemeClr val="dk1"/>
                          </a:solidFill>
                        </a:rPr>
                        <a:t> (confirmation/error).</a:t>
                      </a:r>
                      <a:endParaRPr sz="1100">
                        <a:solidFill>
                          <a:schemeClr val="dk1"/>
                        </a:solidFill>
                      </a:endParaRPr>
                    </a:p>
                    <a:p>
                      <a:pPr indent="0" lvl="0" marL="0" rtl="0" algn="l">
                        <a:spcBef>
                          <a:spcPts val="0"/>
                        </a:spcBef>
                        <a:spcAft>
                          <a:spcPts val="0"/>
                        </a:spcAft>
                        <a:buClr>
                          <a:schemeClr val="dk1"/>
                        </a:buClr>
                        <a:buSzPts val="1100"/>
                        <a:buFont typeface="Arial"/>
                        <a:buNone/>
                      </a:pPr>
                      <a:r>
                        <a:rPr lang="en-GB" sz="1100">
                          <a:solidFill>
                            <a:schemeClr val="dk1"/>
                          </a:solidFill>
                        </a:rPr>
                        <a:t>- Auto-generates </a:t>
                      </a:r>
                      <a:r>
                        <a:rPr b="1" lang="en-GB" sz="1100">
                          <a:solidFill>
                            <a:schemeClr val="dk1"/>
                          </a:solidFill>
                        </a:rPr>
                        <a:t>BDD test cases</a:t>
                      </a:r>
                      <a:r>
                        <a:rPr lang="en-GB" sz="1100">
                          <a:solidFill>
                            <a:schemeClr val="dk1"/>
                          </a:solidFill>
                        </a:rPr>
                        <a:t> (Gherkin) from successful runs.</a:t>
                      </a:r>
                      <a:endParaRPr sz="1100">
                        <a:solidFill>
                          <a:schemeClr val="dk1"/>
                        </a:solidFill>
                      </a:endParaRPr>
                    </a:p>
                    <a:p>
                      <a:pPr indent="0" lvl="0" marL="0" rtl="0" algn="l">
                        <a:spcBef>
                          <a:spcPts val="0"/>
                        </a:spcBef>
                        <a:spcAft>
                          <a:spcPts val="0"/>
                        </a:spcAft>
                        <a:buNone/>
                      </a:pPr>
                      <a:r>
                        <a:rPr lang="en-GB" sz="1100">
                          <a:solidFill>
                            <a:schemeClr val="dk1"/>
                          </a:solidFill>
                        </a:rPr>
                        <a:t>- Includes state representation (DOM, vision encoders, text), action space, reward mechanisms, and integration with CI/CD.</a:t>
                      </a:r>
                      <a:endParaRPr/>
                    </a:p>
                  </a:txBody>
                  <a:tcPr marT="91425" marB="91425" marR="91425" marL="91425"/>
                </a:tc>
              </a:tr>
              <a:tr h="381000">
                <a:tc>
                  <a:txBody>
                    <a:bodyPr/>
                    <a:lstStyle/>
                    <a:p>
                      <a:pPr indent="0" lvl="0" marL="0" rtl="0" algn="l">
                        <a:spcBef>
                          <a:spcPts val="0"/>
                        </a:spcBef>
                        <a:spcAft>
                          <a:spcPts val="0"/>
                        </a:spcAft>
                        <a:buNone/>
                      </a:pPr>
                      <a:r>
                        <a:rPr lang="en-GB" sz="1500"/>
                        <a:t>Findings/Research</a:t>
                      </a:r>
                      <a:endParaRPr sz="15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1100">
                          <a:solidFill>
                            <a:schemeClr val="dk1"/>
                          </a:solidFill>
                        </a:rPr>
                        <a:t>- RL agents achieve </a:t>
                      </a:r>
                      <a:r>
                        <a:rPr b="1" lang="en-GB" sz="1100">
                          <a:solidFill>
                            <a:schemeClr val="dk1"/>
                          </a:solidFill>
                        </a:rPr>
                        <a:t>higher defect detection</a:t>
                      </a:r>
                      <a:r>
                        <a:rPr lang="en-GB" sz="1100">
                          <a:solidFill>
                            <a:schemeClr val="dk1"/>
                          </a:solidFill>
                        </a:rPr>
                        <a:t> and </a:t>
                      </a:r>
                      <a:r>
                        <a:rPr b="1" lang="en-GB" sz="1100">
                          <a:solidFill>
                            <a:schemeClr val="dk1"/>
                          </a:solidFill>
                        </a:rPr>
                        <a:t>broader test coverage</a:t>
                      </a:r>
                      <a:r>
                        <a:rPr lang="en-GB" sz="1100">
                          <a:solidFill>
                            <a:schemeClr val="dk1"/>
                          </a:solidFill>
                        </a:rPr>
                        <a:t> compared to scripted tests.</a:t>
                      </a:r>
                      <a:endParaRPr sz="1100">
                        <a:solidFill>
                          <a:schemeClr val="dk1"/>
                        </a:solidFill>
                      </a:endParaRPr>
                    </a:p>
                    <a:p>
                      <a:pPr indent="0" lvl="0" marL="0" rtl="0" algn="l">
                        <a:spcBef>
                          <a:spcPts val="0"/>
                        </a:spcBef>
                        <a:spcAft>
                          <a:spcPts val="0"/>
                        </a:spcAft>
                        <a:buClr>
                          <a:schemeClr val="dk1"/>
                        </a:buClr>
                        <a:buSzPts val="1100"/>
                        <a:buFont typeface="Arial"/>
                        <a:buNone/>
                      </a:pPr>
                      <a:r>
                        <a:rPr lang="en-GB" sz="1100">
                          <a:solidFill>
                            <a:schemeClr val="dk1"/>
                          </a:solidFill>
                        </a:rPr>
                        <a:t>- Reduction in </a:t>
                      </a:r>
                      <a:r>
                        <a:rPr b="1" lang="en-GB" sz="1100">
                          <a:solidFill>
                            <a:schemeClr val="dk1"/>
                          </a:solidFill>
                        </a:rPr>
                        <a:t>manual effort</a:t>
                      </a:r>
                      <a:r>
                        <a:rPr lang="en-GB" sz="1100">
                          <a:solidFill>
                            <a:schemeClr val="dk1"/>
                          </a:solidFill>
                        </a:rPr>
                        <a:t> due to automatic BDD test generation.</a:t>
                      </a:r>
                      <a:endParaRPr sz="1100">
                        <a:solidFill>
                          <a:schemeClr val="dk1"/>
                        </a:solidFill>
                      </a:endParaRPr>
                    </a:p>
                    <a:p>
                      <a:pPr indent="0" lvl="0" marL="0" rtl="0" algn="l">
                        <a:spcBef>
                          <a:spcPts val="0"/>
                        </a:spcBef>
                        <a:spcAft>
                          <a:spcPts val="0"/>
                        </a:spcAft>
                        <a:buNone/>
                      </a:pPr>
                      <a:r>
                        <a:rPr lang="en-GB" sz="1100">
                          <a:solidFill>
                            <a:schemeClr val="dk1"/>
                          </a:solidFill>
                        </a:rPr>
                        <a:t>- Demonstrated feasibility on open-source web applications.</a:t>
                      </a:r>
                      <a:endParaRPr/>
                    </a:p>
                  </a:txBody>
                  <a:tcPr marT="91425" marB="91425" marR="91425" marL="91425"/>
                </a:tc>
              </a:tr>
              <a:tr h="381000">
                <a:tc>
                  <a:txBody>
                    <a:bodyPr/>
                    <a:lstStyle/>
                    <a:p>
                      <a:pPr indent="0" lvl="0" marL="0" rtl="0" algn="l">
                        <a:spcBef>
                          <a:spcPts val="0"/>
                        </a:spcBef>
                        <a:spcAft>
                          <a:spcPts val="0"/>
                        </a:spcAft>
                        <a:buNone/>
                      </a:pPr>
                      <a:r>
                        <a:rPr lang="en-GB" sz="1500"/>
                        <a:t>Future work</a:t>
                      </a:r>
                      <a:endParaRPr sz="1500"/>
                    </a:p>
                  </a:txBody>
                  <a:tcPr marT="91425" marB="91425" marR="91425" marL="91425"/>
                </a:tc>
                <a:tc>
                  <a:txBody>
                    <a:bodyPr/>
                    <a:lstStyle/>
                    <a:p>
                      <a:pPr indent="0" lvl="0" marL="0" rtl="0" algn="l">
                        <a:spcBef>
                          <a:spcPts val="0"/>
                        </a:spcBef>
                        <a:spcAft>
                          <a:spcPts val="0"/>
                        </a:spcAft>
                        <a:buNone/>
                      </a:pPr>
                      <a:r>
                        <a:rPr lang="en-GB" sz="1100">
                          <a:solidFill>
                            <a:schemeClr val="dk1"/>
                          </a:solidFill>
                        </a:rPr>
                        <a:t>- Extend to </a:t>
                      </a:r>
                      <a:r>
                        <a:rPr b="1" lang="en-GB" sz="1100">
                          <a:solidFill>
                            <a:schemeClr val="dk1"/>
                          </a:solidFill>
                        </a:rPr>
                        <a:t>more complex web environments</a:t>
                      </a:r>
                      <a:r>
                        <a:rPr lang="en-GB" sz="1100">
                          <a:solidFill>
                            <a:schemeClr val="dk1"/>
                          </a:solidFill>
                        </a:rPr>
                        <a:t>.</a:t>
                      </a:r>
                      <a:endParaRPr sz="1100">
                        <a:solidFill>
                          <a:schemeClr val="dk1"/>
                        </a:solidFill>
                      </a:endParaRPr>
                    </a:p>
                    <a:p>
                      <a:pPr indent="0" lvl="0" marL="0" rtl="0" algn="l">
                        <a:spcBef>
                          <a:spcPts val="0"/>
                        </a:spcBef>
                        <a:spcAft>
                          <a:spcPts val="0"/>
                        </a:spcAft>
                        <a:buClr>
                          <a:schemeClr val="dk1"/>
                        </a:buClr>
                        <a:buSzPts val="1100"/>
                        <a:buFont typeface="Arial"/>
                        <a:buNone/>
                      </a:pPr>
                      <a:r>
                        <a:rPr lang="en-GB" sz="1100">
                          <a:solidFill>
                            <a:schemeClr val="dk1"/>
                          </a:solidFill>
                        </a:rPr>
                        <a:t>- Improve </a:t>
                      </a:r>
                      <a:r>
                        <a:rPr b="1" lang="en-GB" sz="1100">
                          <a:solidFill>
                            <a:schemeClr val="dk1"/>
                          </a:solidFill>
                        </a:rPr>
                        <a:t>state representation</a:t>
                      </a:r>
                      <a:r>
                        <a:rPr lang="en-GB" sz="1100">
                          <a:solidFill>
                            <a:schemeClr val="dk1"/>
                          </a:solidFill>
                        </a:rPr>
                        <a:t> and </a:t>
                      </a:r>
                      <a:r>
                        <a:rPr b="1" lang="en-GB" sz="1100">
                          <a:solidFill>
                            <a:schemeClr val="dk1"/>
                          </a:solidFill>
                        </a:rPr>
                        <a:t>reward mechanisms</a:t>
                      </a:r>
                      <a:r>
                        <a:rPr lang="en-GB" sz="1100">
                          <a:solidFill>
                            <a:schemeClr val="dk1"/>
                          </a:solidFill>
                        </a:rPr>
                        <a:t>.</a:t>
                      </a:r>
                      <a:endParaRPr sz="1100">
                        <a:solidFill>
                          <a:schemeClr val="dk1"/>
                        </a:solidFill>
                      </a:endParaRPr>
                    </a:p>
                    <a:p>
                      <a:pPr indent="0" lvl="0" marL="0" rtl="0" algn="l">
                        <a:spcBef>
                          <a:spcPts val="0"/>
                        </a:spcBef>
                        <a:spcAft>
                          <a:spcPts val="0"/>
                        </a:spcAft>
                        <a:buClr>
                          <a:schemeClr val="dk1"/>
                        </a:buClr>
                        <a:buSzPts val="1100"/>
                        <a:buFont typeface="Arial"/>
                        <a:buNone/>
                      </a:pPr>
                      <a:r>
                        <a:rPr lang="en-GB" sz="1100">
                          <a:solidFill>
                            <a:schemeClr val="dk1"/>
                          </a:solidFill>
                        </a:rPr>
                        <a:t>- Explore </a:t>
                      </a:r>
                      <a:r>
                        <a:rPr b="1" lang="en-GB" sz="1100">
                          <a:solidFill>
                            <a:schemeClr val="dk1"/>
                          </a:solidFill>
                        </a:rPr>
                        <a:t>transfer learning</a:t>
                      </a:r>
                      <a:r>
                        <a:rPr lang="en-GB" sz="1100">
                          <a:solidFill>
                            <a:schemeClr val="dk1"/>
                          </a:solidFill>
                        </a:rPr>
                        <a:t> and </a:t>
                      </a:r>
                      <a:r>
                        <a:rPr b="1" lang="en-GB" sz="1100">
                          <a:solidFill>
                            <a:schemeClr val="dk1"/>
                          </a:solidFill>
                        </a:rPr>
                        <a:t>multi-task learning</a:t>
                      </a:r>
                      <a:r>
                        <a:rPr lang="en-GB" sz="1100">
                          <a:solidFill>
                            <a:schemeClr val="dk1"/>
                          </a:solidFill>
                        </a:rPr>
                        <a:t> for better generalization.</a:t>
                      </a:r>
                      <a:endParaRPr sz="1100">
                        <a:solidFill>
                          <a:schemeClr val="dk1"/>
                        </a:solidFill>
                      </a:endParaRPr>
                    </a:p>
                    <a:p>
                      <a:pPr indent="0" lvl="0" marL="0" rtl="0" algn="l">
                        <a:spcBef>
                          <a:spcPts val="0"/>
                        </a:spcBef>
                        <a:spcAft>
                          <a:spcPts val="0"/>
                        </a:spcAft>
                        <a:buNone/>
                      </a:pPr>
                      <a:r>
                        <a:rPr lang="en-GB" sz="1100">
                          <a:solidFill>
                            <a:schemeClr val="dk1"/>
                          </a:solidFill>
                        </a:rPr>
                        <a:t>- Deeper integration with </a:t>
                      </a:r>
                      <a:r>
                        <a:rPr b="1" lang="en-GB" sz="1100">
                          <a:solidFill>
                            <a:schemeClr val="dk1"/>
                          </a:solidFill>
                        </a:rPr>
                        <a:t>multimodal LLMs</a:t>
                      </a:r>
                      <a:r>
                        <a:rPr lang="en-GB" sz="1100">
                          <a:solidFill>
                            <a:schemeClr val="dk1"/>
                          </a:solidFill>
                        </a:rPr>
                        <a:t> for richer perception of UIs.</a:t>
                      </a:r>
                      <a:endParaRPr/>
                    </a:p>
                  </a:txBody>
                  <a:tcPr marT="91425" marB="91425" marR="91425" marL="91425"/>
                </a:tc>
              </a:tr>
              <a:tr h="381000">
                <a:tc>
                  <a:txBody>
                    <a:bodyPr/>
                    <a:lstStyle/>
                    <a:p>
                      <a:pPr indent="0" lvl="0" marL="0" rtl="0" algn="l">
                        <a:spcBef>
                          <a:spcPts val="0"/>
                        </a:spcBef>
                        <a:spcAft>
                          <a:spcPts val="0"/>
                        </a:spcAft>
                        <a:buNone/>
                      </a:pPr>
                      <a:r>
                        <a:rPr lang="en-GB" sz="1500"/>
                        <a:t>Datasets used</a:t>
                      </a:r>
                      <a:endParaRPr sz="15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1100">
                          <a:solidFill>
                            <a:schemeClr val="dk1"/>
                          </a:solidFill>
                        </a:rPr>
                        <a:t> Evaluated on </a:t>
                      </a:r>
                      <a:r>
                        <a:rPr b="1" lang="en-GB" sz="1100">
                          <a:solidFill>
                            <a:schemeClr val="dk1"/>
                          </a:solidFill>
                        </a:rPr>
                        <a:t>open-source web applications</a:t>
                      </a:r>
                      <a:r>
                        <a:rPr lang="en-GB" sz="1100">
                          <a:solidFill>
                            <a:schemeClr val="dk1"/>
                          </a:solidFill>
                        </a:rPr>
                        <a:t>.</a:t>
                      </a:r>
                      <a:endParaRPr sz="1100">
                        <a:solidFill>
                          <a:schemeClr val="dk1"/>
                        </a:solidFill>
                      </a:endParaRPr>
                    </a:p>
                    <a:p>
                      <a:pPr indent="0" lvl="0" marL="0" rtl="0" algn="l">
                        <a:spcBef>
                          <a:spcPts val="0"/>
                        </a:spcBef>
                        <a:spcAft>
                          <a:spcPts val="0"/>
                        </a:spcAft>
                        <a:buNone/>
                      </a:pPr>
                      <a:r>
                        <a:rPr lang="en-GB" sz="1100">
                          <a:solidFill>
                            <a:schemeClr val="dk1"/>
                          </a:solidFill>
                        </a:rPr>
                        <a:t>- Literature references mention </a:t>
                      </a:r>
                      <a:r>
                        <a:rPr b="1" lang="en-GB" sz="1100">
                          <a:solidFill>
                            <a:schemeClr val="dk1"/>
                          </a:solidFill>
                        </a:rPr>
                        <a:t>WebArena</a:t>
                      </a:r>
                      <a:r>
                        <a:rPr lang="en-GB" sz="1100">
                          <a:solidFill>
                            <a:schemeClr val="dk1"/>
                          </a:solidFill>
                        </a:rPr>
                        <a:t>, </a:t>
                      </a:r>
                      <a:r>
                        <a:rPr b="1" lang="en-GB" sz="1100">
                          <a:solidFill>
                            <a:schemeClr val="dk1"/>
                          </a:solidFill>
                        </a:rPr>
                        <a:t>Mind2Web</a:t>
                      </a:r>
                      <a:r>
                        <a:rPr lang="en-GB" sz="1100">
                          <a:solidFill>
                            <a:schemeClr val="dk1"/>
                          </a:solidFill>
                        </a:rPr>
                        <a:t>, </a:t>
                      </a:r>
                      <a:r>
                        <a:rPr b="1" lang="en-GB" sz="1100">
                          <a:solidFill>
                            <a:schemeClr val="dk1"/>
                          </a:solidFill>
                        </a:rPr>
                        <a:t>World of Bits</a:t>
                      </a:r>
                      <a:r>
                        <a:rPr lang="en-GB" sz="1100">
                          <a:solidFill>
                            <a:schemeClr val="dk1"/>
                          </a:solidFill>
                        </a:rPr>
                        <a:t>, and </a:t>
                      </a:r>
                      <a:r>
                        <a:rPr b="1" lang="en-GB" sz="1100">
                          <a:solidFill>
                            <a:schemeClr val="dk1"/>
                          </a:solidFill>
                        </a:rPr>
                        <a:t>VisualWebArena</a:t>
                      </a:r>
                      <a:r>
                        <a:rPr lang="en-GB" sz="1100">
                          <a:solidFill>
                            <a:schemeClr val="dk1"/>
                          </a:solidFill>
                        </a:rPr>
                        <a:t> as realistic environments for training/evaluation.</a:t>
                      </a:r>
                      <a:endParaRPr/>
                    </a:p>
                  </a:txBody>
                  <a:tcPr marT="91425" marB="91425" marR="91425" marL="91425"/>
                </a:tc>
              </a:tr>
              <a:tr h="381000">
                <a:tc>
                  <a:txBody>
                    <a:bodyPr/>
                    <a:lstStyle/>
                    <a:p>
                      <a:pPr indent="0" lvl="0" marL="0" rtl="0" algn="l">
                        <a:spcBef>
                          <a:spcPts val="0"/>
                        </a:spcBef>
                        <a:spcAft>
                          <a:spcPts val="0"/>
                        </a:spcAft>
                        <a:buNone/>
                      </a:pPr>
                      <a:r>
                        <a:rPr lang="en-GB" sz="1500"/>
                        <a:t>Gaps</a:t>
                      </a:r>
                      <a:endParaRPr sz="15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1100">
                          <a:solidFill>
                            <a:schemeClr val="dk1"/>
                          </a:solidFill>
                        </a:rPr>
                        <a:t> No </a:t>
                      </a:r>
                      <a:r>
                        <a:rPr b="1" lang="en-GB" sz="1100">
                          <a:solidFill>
                            <a:schemeClr val="dk1"/>
                          </a:solidFill>
                        </a:rPr>
                        <a:t>fully unified framework</a:t>
                      </a:r>
                      <a:r>
                        <a:rPr lang="en-GB" sz="1100">
                          <a:solidFill>
                            <a:schemeClr val="dk1"/>
                          </a:solidFill>
                        </a:rPr>
                        <a:t> yet combining RL, multimodal perception (vision + text), and BDD.</a:t>
                      </a:r>
                      <a:endParaRPr sz="1100">
                        <a:solidFill>
                          <a:schemeClr val="dk1"/>
                        </a:solidFill>
                      </a:endParaRPr>
                    </a:p>
                    <a:p>
                      <a:pPr indent="0" lvl="0" marL="0" rtl="0" algn="l">
                        <a:spcBef>
                          <a:spcPts val="0"/>
                        </a:spcBef>
                        <a:spcAft>
                          <a:spcPts val="0"/>
                        </a:spcAft>
                        <a:buClr>
                          <a:schemeClr val="dk1"/>
                        </a:buClr>
                        <a:buSzPts val="1100"/>
                        <a:buFont typeface="Arial"/>
                        <a:buNone/>
                      </a:pPr>
                      <a:r>
                        <a:rPr lang="en-GB" sz="1100">
                          <a:solidFill>
                            <a:schemeClr val="dk1"/>
                          </a:solidFill>
                        </a:rPr>
                        <a:t>- Scalability and </a:t>
                      </a:r>
                      <a:r>
                        <a:rPr b="1" lang="en-GB" sz="1100">
                          <a:solidFill>
                            <a:schemeClr val="dk1"/>
                          </a:solidFill>
                        </a:rPr>
                        <a:t>real-world deployment</a:t>
                      </a:r>
                      <a:r>
                        <a:rPr lang="en-GB" sz="1100">
                          <a:solidFill>
                            <a:schemeClr val="dk1"/>
                          </a:solidFill>
                        </a:rPr>
                        <a:t> still limited.</a:t>
                      </a:r>
                      <a:endParaRPr sz="1100">
                        <a:solidFill>
                          <a:schemeClr val="dk1"/>
                        </a:solidFill>
                      </a:endParaRPr>
                    </a:p>
                    <a:p>
                      <a:pPr indent="0" lvl="0" marL="0" rtl="0" algn="l">
                        <a:spcBef>
                          <a:spcPts val="0"/>
                        </a:spcBef>
                        <a:spcAft>
                          <a:spcPts val="0"/>
                        </a:spcAft>
                        <a:buClr>
                          <a:schemeClr val="dk1"/>
                        </a:buClr>
                        <a:buSzPts val="1100"/>
                        <a:buFont typeface="Arial"/>
                        <a:buNone/>
                      </a:pPr>
                      <a:r>
                        <a:rPr lang="en-GB" sz="1100">
                          <a:solidFill>
                            <a:schemeClr val="dk1"/>
                          </a:solidFill>
                        </a:rPr>
                        <a:t>- Current RL-based systems lag behind </a:t>
                      </a:r>
                      <a:r>
                        <a:rPr b="1" lang="en-GB" sz="1100">
                          <a:solidFill>
                            <a:schemeClr val="dk1"/>
                          </a:solidFill>
                        </a:rPr>
                        <a:t>human-level performance</a:t>
                      </a:r>
                      <a:r>
                        <a:rPr lang="en-GB" sz="1100">
                          <a:solidFill>
                            <a:schemeClr val="dk1"/>
                          </a:solidFill>
                        </a:rPr>
                        <a:t> in UI testing.</a:t>
                      </a:r>
                      <a:endParaRPr sz="1100">
                        <a:solidFill>
                          <a:schemeClr val="dk1"/>
                        </a:solidFill>
                      </a:endParaRPr>
                    </a:p>
                    <a:p>
                      <a:pPr indent="0" lvl="0" marL="0" rtl="0" algn="l">
                        <a:spcBef>
                          <a:spcPts val="0"/>
                        </a:spcBef>
                        <a:spcAft>
                          <a:spcPts val="0"/>
                        </a:spcAft>
                        <a:buNone/>
                      </a:pPr>
                      <a:r>
                        <a:rPr lang="en-GB" sz="1100">
                          <a:solidFill>
                            <a:schemeClr val="dk1"/>
                          </a:solidFill>
                        </a:rPr>
                        <a:t>- Need for more </a:t>
                      </a:r>
                      <a:r>
                        <a:rPr b="1" lang="en-GB" sz="1100">
                          <a:solidFill>
                            <a:schemeClr val="dk1"/>
                          </a:solidFill>
                        </a:rPr>
                        <a:t>robust datasets</a:t>
                      </a:r>
                      <a:r>
                        <a:rPr lang="en-GB" sz="1100">
                          <a:solidFill>
                            <a:schemeClr val="dk1"/>
                          </a:solidFill>
                        </a:rPr>
                        <a:t> and evaluation benchmarks.</a:t>
                      </a:r>
                      <a:endParaRPr/>
                    </a:p>
                  </a:txBody>
                  <a:tcPr marT="91425" marB="91425" marR="91425" marL="914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aphicFrame>
        <p:nvGraphicFramePr>
          <p:cNvPr id="290" name="Google Shape;290;p52"/>
          <p:cNvGraphicFramePr/>
          <p:nvPr/>
        </p:nvGraphicFramePr>
        <p:xfrm>
          <a:off x="324725" y="228850"/>
          <a:ext cx="3000000" cy="3000000"/>
        </p:xfrm>
        <a:graphic>
          <a:graphicData uri="http://schemas.openxmlformats.org/drawingml/2006/table">
            <a:tbl>
              <a:tblPr>
                <a:noFill/>
                <a:tableStyleId>{D6E3B60E-16DC-4F97-A95D-470E5E277794}</a:tableStyleId>
              </a:tblPr>
              <a:tblGrid>
                <a:gridCol w="1685800"/>
                <a:gridCol w="7133475"/>
              </a:tblGrid>
              <a:tr h="441800">
                <a:tc>
                  <a:txBody>
                    <a:bodyPr/>
                    <a:lstStyle/>
                    <a:p>
                      <a:pPr indent="0" lvl="0" marL="0" rtl="0" algn="l">
                        <a:spcBef>
                          <a:spcPts val="0"/>
                        </a:spcBef>
                        <a:spcAft>
                          <a:spcPts val="0"/>
                        </a:spcAft>
                        <a:buNone/>
                      </a:pPr>
                      <a:r>
                        <a:rPr lang="en-GB" sz="1200"/>
                        <a:t>Title :</a:t>
                      </a:r>
                      <a:endParaRPr sz="1200"/>
                    </a:p>
                  </a:txBody>
                  <a:tcPr marT="91425" marB="91425" marR="91425" marL="91425"/>
                </a:tc>
                <a:tc>
                  <a:txBody>
                    <a:bodyPr/>
                    <a:lstStyle/>
                    <a:p>
                      <a:pPr indent="0" lvl="0" marL="0" rtl="0" algn="l">
                        <a:lnSpc>
                          <a:spcPct val="115000"/>
                        </a:lnSpc>
                        <a:spcBef>
                          <a:spcPts val="1800"/>
                        </a:spcBef>
                        <a:spcAft>
                          <a:spcPts val="400"/>
                        </a:spcAft>
                        <a:buNone/>
                      </a:pPr>
                      <a:r>
                        <a:rPr lang="en-GB" sz="1200">
                          <a:solidFill>
                            <a:schemeClr val="dk1"/>
                          </a:solidFill>
                        </a:rPr>
                        <a:t>Self-Healing in Web Automation: Systematic Insights</a:t>
                      </a:r>
                      <a:endParaRPr sz="1200">
                        <a:solidFill>
                          <a:schemeClr val="dk1"/>
                        </a:solidFill>
                      </a:endParaRPr>
                    </a:p>
                  </a:txBody>
                  <a:tcPr marT="91425" marB="91425" marR="91425" marL="91425"/>
                </a:tc>
              </a:tr>
              <a:tr h="632875">
                <a:tc>
                  <a:txBody>
                    <a:bodyPr/>
                    <a:lstStyle/>
                    <a:p>
                      <a:pPr indent="0" lvl="0" marL="0" rtl="0" algn="l">
                        <a:spcBef>
                          <a:spcPts val="0"/>
                        </a:spcBef>
                        <a:spcAft>
                          <a:spcPts val="0"/>
                        </a:spcAft>
                        <a:buNone/>
                      </a:pPr>
                      <a:r>
                        <a:rPr lang="en-GB" sz="1200"/>
                        <a:t>Methodology</a:t>
                      </a:r>
                      <a:endParaRPr sz="1200"/>
                    </a:p>
                  </a:txBody>
                  <a:tcPr marT="91425" marB="91425" marR="91425" marL="91425"/>
                </a:tc>
                <a:tc>
                  <a:txBody>
                    <a:bodyPr/>
                    <a:lstStyle/>
                    <a:p>
                      <a:pPr indent="0" lvl="0" marL="0" rtl="0" algn="l">
                        <a:lnSpc>
                          <a:spcPct val="115000"/>
                        </a:lnSpc>
                        <a:spcBef>
                          <a:spcPts val="0"/>
                        </a:spcBef>
                        <a:spcAft>
                          <a:spcPts val="1200"/>
                        </a:spcAft>
                        <a:buNone/>
                      </a:pPr>
                      <a:r>
                        <a:rPr lang="en-GB" sz="1100">
                          <a:solidFill>
                            <a:srgbClr val="1B1C1D"/>
                          </a:solidFill>
                        </a:rPr>
                        <a:t>Self-healing in web automation is when test scripts use AI to automatically fix themselves when an application's UI changes. When a test fails to find an element, the system intelligently locates the correct one and updates the script on its own. This makes automated tests more resilient and significantly cuts down on manual maintenance.</a:t>
                      </a:r>
                      <a:endParaRPr sz="1200"/>
                    </a:p>
                  </a:txBody>
                  <a:tcPr marT="91425" marB="91425" marR="91425" marL="91425"/>
                </a:tc>
              </a:tr>
              <a:tr h="559875">
                <a:tc>
                  <a:txBody>
                    <a:bodyPr/>
                    <a:lstStyle/>
                    <a:p>
                      <a:pPr indent="0" lvl="0" marL="0" rtl="0" algn="l">
                        <a:spcBef>
                          <a:spcPts val="0"/>
                        </a:spcBef>
                        <a:spcAft>
                          <a:spcPts val="0"/>
                        </a:spcAft>
                        <a:buNone/>
                      </a:pPr>
                      <a:r>
                        <a:rPr lang="en-GB" sz="1200"/>
                        <a:t>Findings/Research</a:t>
                      </a:r>
                      <a:endParaRPr sz="1200"/>
                    </a:p>
                  </a:txBody>
                  <a:tcPr marT="91425" marB="91425" marR="91425" marL="91425"/>
                </a:tc>
                <a:tc>
                  <a:txBody>
                    <a:bodyPr/>
                    <a:lstStyle/>
                    <a:p>
                      <a:pPr indent="0" lvl="0" marL="0" rtl="0" algn="l">
                        <a:spcBef>
                          <a:spcPts val="0"/>
                        </a:spcBef>
                        <a:spcAft>
                          <a:spcPts val="0"/>
                        </a:spcAft>
                        <a:buNone/>
                      </a:pPr>
                      <a:r>
                        <a:rPr lang="en-GB" sz="1200">
                          <a:solidFill>
                            <a:schemeClr val="dk1"/>
                          </a:solidFill>
                        </a:rPr>
                        <a:t>-Significant reduction in maintenance effort and false positives; improved test resilience</a:t>
                      </a:r>
                      <a:r>
                        <a:rPr lang="en-GB" sz="1200">
                          <a:solidFill>
                            <a:schemeClr val="dk1"/>
                          </a:solidFill>
                          <a:uFill>
                            <a:noFill/>
                          </a:uFill>
                          <a:hlinkClick r:id="rId3">
                            <a:extLst>
                              <a:ext uri="{A12FA001-AC4F-418D-AE19-62706E023703}">
                                <ahyp:hlinkClr val="tx"/>
                              </a:ext>
                            </a:extLst>
                          </a:hlinkClick>
                        </a:rPr>
                        <a:t> </a:t>
                      </a:r>
                      <a:endParaRPr sz="1200" u="sng">
                        <a:solidFill>
                          <a:schemeClr val="hlink"/>
                        </a:solidFill>
                      </a:endParaRPr>
                    </a:p>
                    <a:p>
                      <a:pPr indent="0" lvl="0" marL="0" rtl="0" algn="l">
                        <a:spcBef>
                          <a:spcPts val="0"/>
                        </a:spcBef>
                        <a:spcAft>
                          <a:spcPts val="0"/>
                        </a:spcAft>
                        <a:buNone/>
                      </a:pPr>
                      <a:r>
                        <a:rPr lang="en-GB" sz="1200">
                          <a:solidFill>
                            <a:schemeClr val="dk1"/>
                          </a:solidFill>
                        </a:rPr>
                        <a:t>-Real-time fault prediction and recovery demonstrated in production contexts</a:t>
                      </a:r>
                      <a:endParaRPr sz="1500"/>
                    </a:p>
                  </a:txBody>
                  <a:tcPr marT="91425" marB="91425" marR="91425" marL="91425"/>
                </a:tc>
              </a:tr>
              <a:tr h="634700">
                <a:tc>
                  <a:txBody>
                    <a:bodyPr/>
                    <a:lstStyle/>
                    <a:p>
                      <a:pPr indent="0" lvl="0" marL="0" rtl="0" algn="l">
                        <a:spcBef>
                          <a:spcPts val="0"/>
                        </a:spcBef>
                        <a:spcAft>
                          <a:spcPts val="0"/>
                        </a:spcAft>
                        <a:buNone/>
                      </a:pPr>
                      <a:r>
                        <a:rPr lang="en-GB" sz="1200"/>
                        <a:t>Core Techniques</a:t>
                      </a:r>
                      <a:endParaRPr sz="1200"/>
                    </a:p>
                  </a:txBody>
                  <a:tcPr marT="91425" marB="91425" marR="91425" marL="91425"/>
                </a:tc>
                <a:tc>
                  <a:txBody>
                    <a:bodyPr/>
                    <a:lstStyle/>
                    <a:p>
                      <a:pPr indent="0" lvl="0" marL="0" rtl="0" algn="l">
                        <a:spcBef>
                          <a:spcPts val="0"/>
                        </a:spcBef>
                        <a:spcAft>
                          <a:spcPts val="0"/>
                        </a:spcAft>
                        <a:buNone/>
                      </a:pPr>
                      <a:r>
                        <a:rPr lang="en-GB" sz="1200">
                          <a:solidFill>
                            <a:schemeClr val="dk1"/>
                          </a:solidFill>
                        </a:rPr>
                        <a:t>- </a:t>
                      </a:r>
                      <a:r>
                        <a:rPr b="1" lang="en-GB" sz="1200">
                          <a:solidFill>
                            <a:schemeClr val="dk1"/>
                          </a:solidFill>
                        </a:rPr>
                        <a:t>Deep Learning Models</a:t>
                      </a:r>
                      <a:r>
                        <a:rPr lang="en-GB" sz="1200">
                          <a:solidFill>
                            <a:schemeClr val="dk1"/>
                          </a:solidFill>
                        </a:rPr>
                        <a:t>: CNNs for UI element recognition; RNNs for sequence prediction</a:t>
                      </a:r>
                      <a:endParaRPr sz="1200" u="sng">
                        <a:solidFill>
                          <a:schemeClr val="hlink"/>
                        </a:solidFill>
                      </a:endParaRPr>
                    </a:p>
                    <a:p>
                      <a:pPr indent="0" lvl="0" marL="0" rtl="0" algn="l">
                        <a:spcBef>
                          <a:spcPts val="0"/>
                        </a:spcBef>
                        <a:spcAft>
                          <a:spcPts val="0"/>
                        </a:spcAft>
                        <a:buNone/>
                      </a:pPr>
                      <a:r>
                        <a:rPr lang="en-GB" sz="1200">
                          <a:solidFill>
                            <a:schemeClr val="dk1"/>
                          </a:solidFill>
                        </a:rPr>
                        <a:t>- </a:t>
                      </a:r>
                      <a:r>
                        <a:rPr b="1" lang="en-GB" sz="1200">
                          <a:solidFill>
                            <a:schemeClr val="dk1"/>
                          </a:solidFill>
                        </a:rPr>
                        <a:t>AI/Rule Hybrids</a:t>
                      </a:r>
                      <a:r>
                        <a:rPr lang="en-GB" sz="1200">
                          <a:solidFill>
                            <a:schemeClr val="dk1"/>
                          </a:solidFill>
                        </a:rPr>
                        <a:t>: Fuzzy matching, visual recognition, repository of element variants</a:t>
                      </a:r>
                      <a:endParaRPr sz="1200"/>
                    </a:p>
                  </a:txBody>
                  <a:tcPr marT="91425" marB="91425" marR="91425" marL="91425"/>
                </a:tc>
              </a:tr>
              <a:tr h="604025">
                <a:tc>
                  <a:txBody>
                    <a:bodyPr/>
                    <a:lstStyle/>
                    <a:p>
                      <a:pPr indent="0" lvl="0" marL="0" rtl="0" algn="l">
                        <a:spcBef>
                          <a:spcPts val="0"/>
                        </a:spcBef>
                        <a:spcAft>
                          <a:spcPts val="0"/>
                        </a:spcAft>
                        <a:buNone/>
                      </a:pPr>
                      <a:r>
                        <a:rPr lang="en-GB" sz="1200"/>
                        <a:t>Applications</a:t>
                      </a:r>
                      <a:endParaRPr sz="1200"/>
                    </a:p>
                  </a:txBody>
                  <a:tcPr marT="91425" marB="91425" marR="91425" marL="91425"/>
                </a:tc>
                <a:tc>
                  <a:txBody>
                    <a:bodyPr/>
                    <a:lstStyle/>
                    <a:p>
                      <a:pPr indent="0" lvl="0" marL="0" rtl="0" algn="l">
                        <a:spcBef>
                          <a:spcPts val="0"/>
                        </a:spcBef>
                        <a:spcAft>
                          <a:spcPts val="0"/>
                        </a:spcAft>
                        <a:buNone/>
                      </a:pPr>
                      <a:r>
                        <a:rPr lang="en-GB" sz="1200"/>
                        <a:t>Web and mobile app testing, cross-browser &amp; dynamic UI environments; frameworks adapt to locator changes in real-world use.</a:t>
                      </a:r>
                      <a:endParaRPr sz="1200"/>
                    </a:p>
                  </a:txBody>
                  <a:tcPr marT="91425" marB="91425" marR="91425" marL="91425"/>
                </a:tc>
              </a:tr>
              <a:tr h="588725">
                <a:tc>
                  <a:txBody>
                    <a:bodyPr/>
                    <a:lstStyle/>
                    <a:p>
                      <a:pPr indent="0" lvl="0" marL="0" rtl="0" algn="l">
                        <a:spcBef>
                          <a:spcPts val="0"/>
                        </a:spcBef>
                        <a:spcAft>
                          <a:spcPts val="0"/>
                        </a:spcAft>
                        <a:buClr>
                          <a:schemeClr val="dk1"/>
                        </a:buClr>
                        <a:buSzPts val="1100"/>
                        <a:buFont typeface="Arial"/>
                        <a:buNone/>
                      </a:pPr>
                      <a:r>
                        <a:rPr lang="en-GB" sz="1200">
                          <a:solidFill>
                            <a:schemeClr val="dk1"/>
                          </a:solidFill>
                        </a:rPr>
                        <a:t>Future work</a:t>
                      </a:r>
                      <a:endParaRPr sz="1200"/>
                    </a:p>
                  </a:txBody>
                  <a:tcPr marT="91425" marB="91425" marR="91425" marL="91425"/>
                </a:tc>
                <a:tc>
                  <a:txBody>
                    <a:bodyPr/>
                    <a:lstStyle/>
                    <a:p>
                      <a:pPr indent="0" lvl="0" marL="0" rtl="0" algn="l">
                        <a:spcBef>
                          <a:spcPts val="0"/>
                        </a:spcBef>
                        <a:spcAft>
                          <a:spcPts val="0"/>
                        </a:spcAft>
                        <a:buNone/>
                      </a:pPr>
                      <a:r>
                        <a:rPr lang="en-GB" sz="800">
                          <a:solidFill>
                            <a:schemeClr val="dk1"/>
                          </a:solidFill>
                        </a:rPr>
                        <a:t> </a:t>
                      </a:r>
                      <a:r>
                        <a:rPr lang="en-GB" sz="1200">
                          <a:solidFill>
                            <a:schemeClr val="dk1"/>
                          </a:solidFill>
                        </a:rPr>
                        <a:t>- Improve ML transparency and explainability in locator adaptation</a:t>
                      </a:r>
                      <a:endParaRPr sz="1200" u="sng">
                        <a:solidFill>
                          <a:schemeClr val="hlink"/>
                        </a:solidFill>
                      </a:endParaRPr>
                    </a:p>
                    <a:p>
                      <a:pPr indent="0" lvl="0" marL="0" rtl="0" algn="l">
                        <a:spcBef>
                          <a:spcPts val="0"/>
                        </a:spcBef>
                        <a:spcAft>
                          <a:spcPts val="0"/>
                        </a:spcAft>
                        <a:buNone/>
                      </a:pPr>
                      <a:r>
                        <a:rPr lang="en-GB" sz="1200">
                          <a:solidFill>
                            <a:schemeClr val="dk1"/>
                          </a:solidFill>
                        </a:rPr>
                        <a:t>- Combine AI with structured development practices (e.g., data-automation IDs) for robustness</a:t>
                      </a:r>
                      <a:endParaRPr sz="1200">
                        <a:solidFill>
                          <a:schemeClr val="dk1"/>
                        </a:solidFill>
                      </a:endParaRPr>
                    </a:p>
                  </a:txBody>
                  <a:tcPr marT="91425" marB="91425" marR="91425" marL="91425"/>
                </a:tc>
              </a:tr>
              <a:tr h="689750">
                <a:tc>
                  <a:txBody>
                    <a:bodyPr/>
                    <a:lstStyle/>
                    <a:p>
                      <a:pPr indent="0" lvl="0" marL="0" rtl="0" algn="l">
                        <a:spcBef>
                          <a:spcPts val="0"/>
                        </a:spcBef>
                        <a:spcAft>
                          <a:spcPts val="0"/>
                        </a:spcAft>
                        <a:buClr>
                          <a:schemeClr val="dk1"/>
                        </a:buClr>
                        <a:buSzPts val="1100"/>
                        <a:buFont typeface="Arial"/>
                        <a:buNone/>
                      </a:pPr>
                      <a:r>
                        <a:rPr lang="en-GB" sz="1200">
                          <a:solidFill>
                            <a:schemeClr val="dk1"/>
                          </a:solidFill>
                        </a:rPr>
                        <a:t>Gaps</a:t>
                      </a:r>
                      <a:endParaRPr sz="1200"/>
                    </a:p>
                  </a:txBody>
                  <a:tcPr marT="91425" marB="91425" marR="91425" marL="91425"/>
                </a:tc>
                <a:tc>
                  <a:txBody>
                    <a:bodyPr/>
                    <a:lstStyle/>
                    <a:p>
                      <a:pPr indent="0" lvl="0" marL="0" rtl="0" algn="l">
                        <a:spcBef>
                          <a:spcPts val="0"/>
                        </a:spcBef>
                        <a:spcAft>
                          <a:spcPts val="0"/>
                        </a:spcAft>
                        <a:buNone/>
                      </a:pPr>
                      <a:r>
                        <a:rPr lang="en-GB" sz="1200">
                          <a:solidFill>
                            <a:schemeClr val="dk1"/>
                          </a:solidFill>
                        </a:rPr>
                        <a:t>- ML applicability often limited or unclear; risk of “black-box” fixes</a:t>
                      </a:r>
                      <a:r>
                        <a:rPr lang="en-GB" sz="1200">
                          <a:solidFill>
                            <a:schemeClr val="dk1"/>
                          </a:solidFill>
                          <a:uFill>
                            <a:noFill/>
                          </a:uFill>
                          <a:hlinkClick r:id="rId4">
                            <a:extLst>
                              <a:ext uri="{A12FA001-AC4F-418D-AE19-62706E023703}">
                                <ahyp:hlinkClr val="tx"/>
                              </a:ext>
                            </a:extLst>
                          </a:hlinkClick>
                        </a:rPr>
                        <a:t> </a:t>
                      </a:r>
                      <a:endParaRPr sz="1200" u="sng">
                        <a:solidFill>
                          <a:schemeClr val="hlink"/>
                        </a:solidFill>
                      </a:endParaRPr>
                    </a:p>
                    <a:p>
                      <a:pPr indent="0" lvl="0" marL="0" rtl="0" algn="l">
                        <a:spcBef>
                          <a:spcPts val="0"/>
                        </a:spcBef>
                        <a:spcAft>
                          <a:spcPts val="0"/>
                        </a:spcAft>
                        <a:buClr>
                          <a:schemeClr val="dk1"/>
                        </a:buClr>
                        <a:buSzPts val="1100"/>
                        <a:buFont typeface="Arial"/>
                        <a:buNone/>
                      </a:pPr>
                      <a:r>
                        <a:rPr lang="en-GB" sz="1200">
                          <a:solidFill>
                            <a:schemeClr val="dk1"/>
                          </a:solidFill>
                        </a:rPr>
                        <a:t>- Self-healing may mask deeper QA weaknesses if not combined with solid test design</a:t>
                      </a:r>
                      <a:endParaRPr sz="1200">
                        <a:solidFill>
                          <a:schemeClr val="dk1"/>
                        </a:solidFill>
                      </a:endParaRPr>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graphicFrame>
        <p:nvGraphicFramePr>
          <p:cNvPr id="295" name="Google Shape;295;p53"/>
          <p:cNvGraphicFramePr/>
          <p:nvPr/>
        </p:nvGraphicFramePr>
        <p:xfrm>
          <a:off x="109050" y="240200"/>
          <a:ext cx="3000000" cy="3000000"/>
        </p:xfrm>
        <a:graphic>
          <a:graphicData uri="http://schemas.openxmlformats.org/drawingml/2006/table">
            <a:tbl>
              <a:tblPr>
                <a:noFill/>
                <a:tableStyleId>{D6E3B60E-16DC-4F97-A95D-470E5E277794}</a:tableStyleId>
              </a:tblPr>
              <a:tblGrid>
                <a:gridCol w="1872775"/>
                <a:gridCol w="7208325"/>
              </a:tblGrid>
              <a:tr h="492425">
                <a:tc>
                  <a:txBody>
                    <a:bodyPr/>
                    <a:lstStyle/>
                    <a:p>
                      <a:pPr indent="0" lvl="0" marL="0" rtl="0" algn="l">
                        <a:spcBef>
                          <a:spcPts val="0"/>
                        </a:spcBef>
                        <a:spcAft>
                          <a:spcPts val="0"/>
                        </a:spcAft>
                        <a:buNone/>
                      </a:pPr>
                      <a:r>
                        <a:rPr lang="en-GB" sz="1500"/>
                        <a:t>Title :</a:t>
                      </a:r>
                      <a:endParaRPr sz="1500"/>
                    </a:p>
                  </a:txBody>
                  <a:tcPr marT="91425" marB="91425" marR="91425" marL="91425"/>
                </a:tc>
                <a:tc>
                  <a:txBody>
                    <a:bodyPr/>
                    <a:lstStyle/>
                    <a:p>
                      <a:pPr indent="0" lvl="0" marL="0" rtl="0" algn="l">
                        <a:spcBef>
                          <a:spcPts val="0"/>
                        </a:spcBef>
                        <a:spcAft>
                          <a:spcPts val="0"/>
                        </a:spcAft>
                        <a:buNone/>
                      </a:pPr>
                      <a:r>
                        <a:rPr i="1" lang="en-GB">
                          <a:solidFill>
                            <a:schemeClr val="dk1"/>
                          </a:solidFill>
                        </a:rPr>
                        <a:t>Are Autonomous Web Agents Good Testers?</a:t>
                      </a:r>
                      <a:r>
                        <a:rPr lang="en-GB">
                          <a:solidFill>
                            <a:schemeClr val="dk1"/>
                          </a:solidFill>
                        </a:rPr>
                        <a:t> (Chevrot et al., 2025)</a:t>
                      </a:r>
                      <a:endParaRPr/>
                    </a:p>
                  </a:txBody>
                  <a:tcPr marT="91425" marB="91425" marR="91425" marL="91425"/>
                </a:tc>
              </a:tr>
              <a:tr h="984900">
                <a:tc>
                  <a:txBody>
                    <a:bodyPr/>
                    <a:lstStyle/>
                    <a:p>
                      <a:pPr indent="0" lvl="0" marL="0" rtl="0" algn="l">
                        <a:spcBef>
                          <a:spcPts val="0"/>
                        </a:spcBef>
                        <a:spcAft>
                          <a:spcPts val="0"/>
                        </a:spcAft>
                        <a:buNone/>
                      </a:pPr>
                      <a:r>
                        <a:rPr lang="en-GB" sz="1500"/>
                        <a:t>Methodology</a:t>
                      </a:r>
                      <a:endParaRPr sz="1500"/>
                    </a:p>
                  </a:txBody>
                  <a:tcPr marT="91425" marB="91425" marR="91425" marL="91425"/>
                </a:tc>
                <a:tc>
                  <a:txBody>
                    <a:bodyPr/>
                    <a:lstStyle/>
                    <a:p>
                      <a:pPr indent="0" lvl="0" marL="0" rtl="0" algn="l">
                        <a:spcBef>
                          <a:spcPts val="0"/>
                        </a:spcBef>
                        <a:spcAft>
                          <a:spcPts val="0"/>
                        </a:spcAft>
                        <a:buNone/>
                      </a:pPr>
                      <a:r>
                        <a:rPr lang="en-GB"/>
                        <a:t> Explores if large language model agents can replace manual testers.Developed two agents (SeeAct-ATA and PinATA) and tested them on 113 real-world style test cases across 3 web apps. Used models like GPT-4o, Sonnet, Gemini to compare performance.</a:t>
                      </a:r>
                      <a:endParaRPr/>
                    </a:p>
                  </a:txBody>
                  <a:tcPr marT="91425" marB="91425" marR="91425" marL="91425"/>
                </a:tc>
              </a:tr>
              <a:tr h="984900">
                <a:tc>
                  <a:txBody>
                    <a:bodyPr/>
                    <a:lstStyle/>
                    <a:p>
                      <a:pPr indent="0" lvl="0" marL="0" rtl="0" algn="l">
                        <a:spcBef>
                          <a:spcPts val="0"/>
                        </a:spcBef>
                        <a:spcAft>
                          <a:spcPts val="0"/>
                        </a:spcAft>
                        <a:buNone/>
                      </a:pPr>
                      <a:r>
                        <a:rPr lang="en-GB" sz="1500"/>
                        <a:t>Findings/Research</a:t>
                      </a:r>
                      <a:endParaRPr sz="1500"/>
                    </a:p>
                  </a:txBody>
                  <a:tcPr marT="91425" marB="91425" marR="91425" marL="91425"/>
                </a:tc>
                <a:tc>
                  <a:txBody>
                    <a:bodyPr/>
                    <a:lstStyle/>
                    <a:p>
                      <a:pPr indent="0" lvl="0" marL="0" rtl="0" algn="l">
                        <a:spcBef>
                          <a:spcPts val="0"/>
                        </a:spcBef>
                        <a:spcAft>
                          <a:spcPts val="0"/>
                        </a:spcAft>
                        <a:buNone/>
                      </a:pPr>
                      <a:r>
                        <a:rPr lang="en-GB"/>
                        <a:t>PinATA worked better than SeeAct-ATA, with around 50% higher accuracy. Agents managed to complete over half of the tests, but often failed by misunderstanding actions or results.</a:t>
                      </a:r>
                      <a:endParaRPr/>
                    </a:p>
                  </a:txBody>
                  <a:tcPr marT="91425" marB="91425" marR="91425" marL="91425"/>
                </a:tc>
              </a:tr>
              <a:tr h="729525">
                <a:tc>
                  <a:txBody>
                    <a:bodyPr/>
                    <a:lstStyle/>
                    <a:p>
                      <a:pPr indent="0" lvl="0" marL="0" rtl="0" algn="l">
                        <a:spcBef>
                          <a:spcPts val="0"/>
                        </a:spcBef>
                        <a:spcAft>
                          <a:spcPts val="0"/>
                        </a:spcAft>
                        <a:buNone/>
                      </a:pPr>
                      <a:r>
                        <a:rPr lang="en-GB" sz="1500"/>
                        <a:t>Future work</a:t>
                      </a:r>
                      <a:endParaRPr sz="1500"/>
                    </a:p>
                  </a:txBody>
                  <a:tcPr marT="91425" marB="91425" marR="91425" marL="91425"/>
                </a:tc>
                <a:tc>
                  <a:txBody>
                    <a:bodyPr/>
                    <a:lstStyle/>
                    <a:p>
                      <a:pPr indent="0" lvl="0" marL="0" rtl="0" algn="l">
                        <a:spcBef>
                          <a:spcPts val="0"/>
                        </a:spcBef>
                        <a:spcAft>
                          <a:spcPts val="0"/>
                        </a:spcAft>
                        <a:buNone/>
                      </a:pPr>
                      <a:r>
                        <a:rPr lang="en-GB"/>
                        <a:t>Improve how agents “see” and match UI elements, add stronger checks for results, and expand benchmarks to more applications. Focus on making testing more reliable.</a:t>
                      </a:r>
                      <a:endParaRPr/>
                    </a:p>
                  </a:txBody>
                  <a:tcPr marT="91425" marB="91425" marR="91425" marL="91425"/>
                </a:tc>
              </a:tr>
              <a:tr h="729525">
                <a:tc>
                  <a:txBody>
                    <a:bodyPr/>
                    <a:lstStyle/>
                    <a:p>
                      <a:pPr indent="0" lvl="0" marL="0" rtl="0" algn="l">
                        <a:spcBef>
                          <a:spcPts val="0"/>
                        </a:spcBef>
                        <a:spcAft>
                          <a:spcPts val="0"/>
                        </a:spcAft>
                        <a:buNone/>
                      </a:pPr>
                      <a:r>
                        <a:rPr lang="en-GB" sz="1500"/>
                        <a:t>Datasets used</a:t>
                      </a:r>
                      <a:endParaRPr sz="1500"/>
                    </a:p>
                  </a:txBody>
                  <a:tcPr marT="91425" marB="91425" marR="91425" marL="91425"/>
                </a:tc>
                <a:tc>
                  <a:txBody>
                    <a:bodyPr/>
                    <a:lstStyle/>
                    <a:p>
                      <a:pPr indent="0" lvl="0" marL="0" rtl="0" algn="l">
                        <a:spcBef>
                          <a:spcPts val="0"/>
                        </a:spcBef>
                        <a:spcAft>
                          <a:spcPts val="0"/>
                        </a:spcAft>
                        <a:buNone/>
                      </a:pPr>
                      <a:r>
                        <a:rPr lang="en-GB"/>
                        <a:t>A custom benchmark of 113 test cases (62 pass, 51 fail). Covered three types of apps: marketplace (Classifieds), social network (Postmill), and shopping site (OneStopShop).</a:t>
                      </a:r>
                      <a:endParaRPr/>
                    </a:p>
                  </a:txBody>
                  <a:tcPr marT="91425" marB="91425" marR="91425" marL="91425"/>
                </a:tc>
              </a:tr>
              <a:tr h="729525">
                <a:tc>
                  <a:txBody>
                    <a:bodyPr/>
                    <a:lstStyle/>
                    <a:p>
                      <a:pPr indent="0" lvl="0" marL="0" rtl="0" algn="l">
                        <a:spcBef>
                          <a:spcPts val="0"/>
                        </a:spcBef>
                        <a:spcAft>
                          <a:spcPts val="0"/>
                        </a:spcAft>
                        <a:buNone/>
                      </a:pPr>
                      <a:r>
                        <a:rPr lang="en-GB" sz="1500"/>
                        <a:t>Gaps</a:t>
                      </a:r>
                      <a:endParaRPr sz="1500"/>
                    </a:p>
                  </a:txBody>
                  <a:tcPr marT="91425" marB="91425" marR="91425" marL="91425"/>
                </a:tc>
                <a:tc>
                  <a:txBody>
                    <a:bodyPr/>
                    <a:lstStyle/>
                    <a:p>
                      <a:pPr indent="0" lvl="0" marL="0" rtl="0" algn="l">
                        <a:spcBef>
                          <a:spcPts val="0"/>
                        </a:spcBef>
                        <a:spcAft>
                          <a:spcPts val="0"/>
                        </a:spcAft>
                        <a:buNone/>
                      </a:pPr>
                      <a:r>
                        <a:rPr lang="en-GB"/>
                        <a:t>Still fragile like traditional test automation. Limited to only three demo apps, lacks deep multimodal input (like DOM + visual). Often misreads test steps and results.</a:t>
                      </a:r>
                      <a:endParaRPr/>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4"/>
          <p:cNvSpPr/>
          <p:nvPr/>
        </p:nvSpPr>
        <p:spPr>
          <a:xfrm>
            <a:off x="2286000" y="1185866"/>
            <a:ext cx="5715000" cy="27385"/>
          </a:xfrm>
          <a:prstGeom prst="rect">
            <a:avLst/>
          </a:prstGeom>
          <a:solidFill>
            <a:srgbClr val="33CCC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01" name="Google Shape;301;p54"/>
          <p:cNvSpPr txBox="1"/>
          <p:nvPr/>
        </p:nvSpPr>
        <p:spPr>
          <a:xfrm>
            <a:off x="2171700" y="857251"/>
            <a:ext cx="5829300" cy="346249"/>
          </a:xfrm>
          <a:prstGeom prst="rect">
            <a:avLst/>
          </a:prstGeom>
          <a:noFill/>
          <a:ln>
            <a:noFill/>
          </a:ln>
        </p:spPr>
        <p:txBody>
          <a:bodyPr anchorCtr="0" anchor="t" bIns="34275" lIns="68575" spcFirstLastPara="1" rIns="68575" wrap="square" tIns="34275">
            <a:spAutoFit/>
          </a:bodyPr>
          <a:lstStyle/>
          <a:p>
            <a:pPr indent="-254000" lvl="0" marL="254000" marR="0" rtl="0" algn="r">
              <a:spcBef>
                <a:spcPts val="0"/>
              </a:spcBef>
              <a:spcAft>
                <a:spcPts val="0"/>
              </a:spcAft>
              <a:buNone/>
            </a:pPr>
            <a:r>
              <a:rPr lang="en-GB" sz="1800">
                <a:solidFill>
                  <a:srgbClr val="FF0000"/>
                </a:solidFill>
                <a:latin typeface="Trebuchet MS"/>
                <a:ea typeface="Trebuchet MS"/>
                <a:cs typeface="Trebuchet MS"/>
                <a:sym typeface="Trebuchet MS"/>
              </a:rPr>
              <a:t>Any other information</a:t>
            </a:r>
            <a:endParaRPr sz="1100"/>
          </a:p>
        </p:txBody>
      </p:sp>
      <p:sp>
        <p:nvSpPr>
          <p:cNvPr id="302" name="Google Shape;302;p54"/>
          <p:cNvSpPr txBox="1"/>
          <p:nvPr/>
        </p:nvSpPr>
        <p:spPr>
          <a:xfrm>
            <a:off x="971550" y="1428750"/>
            <a:ext cx="6629400" cy="1943400"/>
          </a:xfrm>
          <a:prstGeom prst="rect">
            <a:avLst/>
          </a:prstGeom>
          <a:noFill/>
          <a:ln>
            <a:noFill/>
          </a:ln>
        </p:spPr>
        <p:txBody>
          <a:bodyPr anchorCtr="0" anchor="t" bIns="34275" lIns="68575" spcFirstLastPara="1" rIns="68575" wrap="square" tIns="34275">
            <a:spAutoFit/>
          </a:bodyPr>
          <a:lstStyle/>
          <a:p>
            <a:pPr indent="0" lvl="0" marL="457200" marR="0" rtl="0" algn="just">
              <a:spcBef>
                <a:spcPts val="0"/>
              </a:spcBef>
              <a:spcAft>
                <a:spcPts val="0"/>
              </a:spcAft>
              <a:buNone/>
            </a:pPr>
            <a:r>
              <a:t/>
            </a:r>
            <a:endParaRPr sz="1100"/>
          </a:p>
          <a:p>
            <a:pPr indent="0" lvl="0" marL="0" rtl="0" algn="l">
              <a:lnSpc>
                <a:spcPct val="115000"/>
              </a:lnSpc>
              <a:spcBef>
                <a:spcPts val="1200"/>
              </a:spcBef>
              <a:spcAft>
                <a:spcPts val="0"/>
              </a:spcAft>
              <a:buNone/>
            </a:pPr>
            <a:r>
              <a:rPr b="1" lang="en-GB" sz="1500">
                <a:solidFill>
                  <a:schemeClr val="dk1"/>
                </a:solidFill>
              </a:rPr>
              <a:t>OUR FOCUS:</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The </a:t>
            </a:r>
            <a:r>
              <a:rPr b="1" lang="en-GB" sz="1500">
                <a:solidFill>
                  <a:schemeClr val="dk1"/>
                </a:solidFill>
              </a:rPr>
              <a:t>multi-modal integration</a:t>
            </a:r>
            <a:r>
              <a:rPr lang="en-GB" sz="1500">
                <a:solidFill>
                  <a:schemeClr val="dk1"/>
                </a:solidFill>
              </a:rPr>
              <a:t> that handles different interaction types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The </a:t>
            </a:r>
            <a:r>
              <a:rPr b="1" lang="en-GB" sz="1500">
                <a:solidFill>
                  <a:schemeClr val="dk1"/>
                </a:solidFill>
              </a:rPr>
              <a:t>agent orchestration layer</a:t>
            </a:r>
            <a:r>
              <a:rPr lang="en-GB" sz="1500">
                <a:solidFill>
                  <a:schemeClr val="dk1"/>
                </a:solidFill>
              </a:rPr>
              <a:t> that decides what to test</a:t>
            </a:r>
            <a:endParaRPr sz="1500">
              <a:solidFill>
                <a:schemeClr val="dk1"/>
              </a:solidFill>
            </a:endParaRPr>
          </a:p>
          <a:p>
            <a:pPr indent="-139700" lvl="0" marL="508000" marR="0" rtl="0" algn="just">
              <a:spcBef>
                <a:spcPts val="1200"/>
              </a:spcBef>
              <a:spcAft>
                <a:spcPts val="0"/>
              </a:spcAft>
              <a:buClr>
                <a:schemeClr val="dk1"/>
              </a:buClr>
              <a:buSzPts val="1800"/>
              <a:buFont typeface="Arial"/>
              <a:buNone/>
            </a:pPr>
            <a:r>
              <a:t/>
            </a:r>
            <a:endParaRPr sz="1800">
              <a:solidFill>
                <a:srgbClr val="0033CC"/>
              </a:solidFill>
              <a:latin typeface="Trebuchet MS"/>
              <a:ea typeface="Trebuchet MS"/>
              <a:cs typeface="Trebuchet MS"/>
              <a:sym typeface="Trebuchet MS"/>
            </a:endParaRPr>
          </a:p>
          <a:p>
            <a:pPr indent="0" lvl="0" marL="0" marR="0" rtl="0" algn="just">
              <a:spcBef>
                <a:spcPts val="0"/>
              </a:spcBef>
              <a:spcAft>
                <a:spcPts val="0"/>
              </a:spcAft>
              <a:buNone/>
            </a:pPr>
            <a:r>
              <a:t/>
            </a:r>
            <a:endParaRPr sz="11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5"/>
          <p:cNvSpPr/>
          <p:nvPr/>
        </p:nvSpPr>
        <p:spPr>
          <a:xfrm>
            <a:off x="1349217" y="2197125"/>
            <a:ext cx="4797600" cy="53100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r>
              <a:rPr lang="en-GB" sz="4500">
                <a:solidFill>
                  <a:srgbClr val="FF0000"/>
                </a:solidFill>
                <a:latin typeface="Trebuchet MS"/>
                <a:ea typeface="Trebuchet MS"/>
                <a:cs typeface="Trebuchet MS"/>
                <a:sym typeface="Trebuchet MS"/>
              </a:rPr>
              <a:t>Thank You!</a:t>
            </a:r>
            <a:endParaRPr sz="4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